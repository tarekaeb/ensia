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7" r:id="rId2"/>
    <p:sldId id="258" r:id="rId3"/>
    <p:sldId id="259" r:id="rId4"/>
    <p:sldId id="411" r:id="rId5"/>
    <p:sldId id="412" r:id="rId6"/>
    <p:sldId id="415" r:id="rId7"/>
    <p:sldId id="418" r:id="rId8"/>
    <p:sldId id="419" r:id="rId9"/>
    <p:sldId id="420" r:id="rId10"/>
    <p:sldId id="426" r:id="rId11"/>
    <p:sldId id="427" r:id="rId12"/>
    <p:sldId id="428" r:id="rId13"/>
    <p:sldId id="429" r:id="rId14"/>
    <p:sldId id="430" r:id="rId15"/>
    <p:sldId id="431" r:id="rId16"/>
    <p:sldId id="424" r:id="rId17"/>
    <p:sldId id="425" r:id="rId18"/>
    <p:sldId id="417" r:id="rId19"/>
    <p:sldId id="300" r:id="rId20"/>
    <p:sldId id="261" r:id="rId21"/>
    <p:sldId id="262" r:id="rId22"/>
    <p:sldId id="263" r:id="rId23"/>
    <p:sldId id="421" r:id="rId24"/>
    <p:sldId id="414" r:id="rId25"/>
    <p:sldId id="432" r:id="rId26"/>
    <p:sldId id="433" r:id="rId27"/>
    <p:sldId id="423" r:id="rId28"/>
    <p:sldId id="422" r:id="rId29"/>
    <p:sldId id="434" r:id="rId30"/>
    <p:sldId id="435" r:id="rId31"/>
    <p:sldId id="436" r:id="rId32"/>
    <p:sldId id="437" r:id="rId33"/>
    <p:sldId id="438" r:id="rId34"/>
    <p:sldId id="439" r:id="rId35"/>
    <p:sldId id="440" r:id="rId36"/>
    <p:sldId id="442" r:id="rId37"/>
    <p:sldId id="441" r:id="rId38"/>
    <p:sldId id="443" r:id="rId39"/>
    <p:sldId id="264" r:id="rId40"/>
    <p:sldId id="265" r:id="rId41"/>
    <p:sldId id="266" r:id="rId42"/>
    <p:sldId id="267" r:id="rId43"/>
    <p:sldId id="268" r:id="rId44"/>
    <p:sldId id="269" r:id="rId45"/>
    <p:sldId id="270" r:id="rId46"/>
    <p:sldId id="271" r:id="rId47"/>
    <p:sldId id="272" r:id="rId48"/>
    <p:sldId id="273" r:id="rId49"/>
    <p:sldId id="274" r:id="rId50"/>
    <p:sldId id="275" r:id="rId51"/>
    <p:sldId id="276" r:id="rId52"/>
    <p:sldId id="277" r:id="rId53"/>
    <p:sldId id="289" r:id="rId54"/>
    <p:sldId id="290" r:id="rId55"/>
    <p:sldId id="291" r:id="rId56"/>
    <p:sldId id="292" r:id="rId57"/>
    <p:sldId id="303" r:id="rId58"/>
    <p:sldId id="304" r:id="rId59"/>
    <p:sldId id="305" r:id="rId60"/>
    <p:sldId id="306" r:id="rId61"/>
    <p:sldId id="307" r:id="rId62"/>
    <p:sldId id="308" r:id="rId6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740"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75A1AF-A6BE-470E-A3CC-2B944A29239D}" type="datetimeFigureOut">
              <a:rPr lang="fr-FR" smtClean="0"/>
              <a:t>19/11/2025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125312-0DED-47C7-8811-754ED3E180F4}" type="slidenum">
              <a:rPr lang="fr-FR" smtClean="0"/>
              <a:t>‹N°›</a:t>
            </a:fld>
            <a:endParaRPr lang="fr-FR"/>
          </a:p>
        </p:txBody>
      </p:sp>
    </p:spTree>
    <p:extLst>
      <p:ext uri="{BB962C8B-B14F-4D97-AF65-F5344CB8AC3E}">
        <p14:creationId xmlns:p14="http://schemas.microsoft.com/office/powerpoint/2010/main" val="864175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solidFill>
                  <a:prstClr val="black"/>
                </a:solidFill>
              </a:rPr>
              <a:pPr/>
              <a:t>49</a:t>
            </a:fld>
            <a:endParaRPr lang="fr-FR">
              <a:solidFill>
                <a:prstClr val="black"/>
              </a:solidFill>
            </a:endParaRPr>
          </a:p>
        </p:txBody>
      </p:sp>
    </p:spTree>
    <p:extLst>
      <p:ext uri="{BB962C8B-B14F-4D97-AF65-F5344CB8AC3E}">
        <p14:creationId xmlns:p14="http://schemas.microsoft.com/office/powerpoint/2010/main" val="1238454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solidFill>
                  <a:prstClr val="black"/>
                </a:solidFill>
              </a:rPr>
              <a:pPr/>
              <a:t>51</a:t>
            </a:fld>
            <a:endParaRPr lang="fr-FR">
              <a:solidFill>
                <a:prstClr val="black"/>
              </a:solidFill>
            </a:endParaRPr>
          </a:p>
        </p:txBody>
      </p:sp>
    </p:spTree>
    <p:extLst>
      <p:ext uri="{BB962C8B-B14F-4D97-AF65-F5344CB8AC3E}">
        <p14:creationId xmlns:p14="http://schemas.microsoft.com/office/powerpoint/2010/main" val="1238454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solidFill>
                  <a:prstClr val="black"/>
                </a:solidFill>
              </a:rPr>
              <a:pPr/>
              <a:t>52</a:t>
            </a:fld>
            <a:endParaRPr lang="fr-FR">
              <a:solidFill>
                <a:prstClr val="black"/>
              </a:solidFill>
            </a:endParaRPr>
          </a:p>
        </p:txBody>
      </p:sp>
    </p:spTree>
    <p:extLst>
      <p:ext uri="{BB962C8B-B14F-4D97-AF65-F5344CB8AC3E}">
        <p14:creationId xmlns:p14="http://schemas.microsoft.com/office/powerpoint/2010/main" val="1238454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Système </a:t>
            </a:r>
            <a:r>
              <a:rPr lang="fr-FR" dirty="0" err="1" smtClean="0"/>
              <a:t>android</a:t>
            </a:r>
            <a:r>
              <a:rPr lang="fr-FR" baseline="0" dirty="0" smtClean="0"/>
              <a:t> / AMAZON détection d’un besoin</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59</a:t>
            </a:fld>
            <a:endParaRPr lang="fr-FR"/>
          </a:p>
        </p:txBody>
      </p:sp>
    </p:spTree>
    <p:extLst>
      <p:ext uri="{BB962C8B-B14F-4D97-AF65-F5344CB8AC3E}">
        <p14:creationId xmlns:p14="http://schemas.microsoft.com/office/powerpoint/2010/main" val="437859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l'innovation technologique a été, et continuera probablement d'être, la forme d'innovation la plus évidente,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62</a:t>
            </a:fld>
            <a:endParaRPr lang="fr-FR"/>
          </a:p>
        </p:txBody>
      </p:sp>
    </p:spTree>
    <p:extLst>
      <p:ext uri="{BB962C8B-B14F-4D97-AF65-F5344CB8AC3E}">
        <p14:creationId xmlns:p14="http://schemas.microsoft.com/office/powerpoint/2010/main" val="2377589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fr-FR" smtClean="0"/>
              <a:t>Modifiez le style du titre</a:t>
            </a:r>
            <a:endParaRPr lang="en-US" dirty="0"/>
          </a:p>
        </p:txBody>
      </p:sp>
    </p:spTree>
    <p:extLst>
      <p:ext uri="{BB962C8B-B14F-4D97-AF65-F5344CB8AC3E}">
        <p14:creationId xmlns:p14="http://schemas.microsoft.com/office/powerpoint/2010/main" val="2409221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
        <p:nvSpPr>
          <p:cNvPr id="8" name="Content Placeholder 7"/>
          <p:cNvSpPr>
            <a:spLocks noGrp="1"/>
          </p:cNvSpPr>
          <p:nvPr>
            <p:ph sz="quarter" idx="13"/>
          </p:nvPr>
        </p:nvSpPr>
        <p:spPr>
          <a:xfrm>
            <a:off x="609600" y="1600200"/>
            <a:ext cx="7924800" cy="41148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Tree>
    <p:extLst>
      <p:ext uri="{BB962C8B-B14F-4D97-AF65-F5344CB8AC3E}">
        <p14:creationId xmlns:p14="http://schemas.microsoft.com/office/powerpoint/2010/main" val="57342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fr-FR" smtClean="0"/>
              <a:t>Modifiez le style du titre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401053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49374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7" name="Date Placeholder 6"/>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8" name="Footer Placeholder 7"/>
          <p:cNvSpPr>
            <a:spLocks noGrp="1"/>
          </p:cNvSpPr>
          <p:nvPr>
            <p:ph type="ftr" sz="quarter" idx="11"/>
          </p:nvPr>
        </p:nvSpPr>
        <p:spPr/>
        <p:txBody>
          <a:bodyPr/>
          <a:lstStyle/>
          <a:p>
            <a:endParaRPr lang="fr-FR">
              <a:solidFill>
                <a:srgbClr val="FFFFFF"/>
              </a:solidFill>
            </a:endParaRPr>
          </a:p>
        </p:txBody>
      </p:sp>
      <p:sp>
        <p:nvSpPr>
          <p:cNvPr id="9" name="Slide Number Placeholder 8"/>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84247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4" name="Footer Placeholder 3"/>
          <p:cNvSpPr>
            <a:spLocks noGrp="1"/>
          </p:cNvSpPr>
          <p:nvPr>
            <p:ph type="ftr" sz="quarter" idx="11"/>
          </p:nvPr>
        </p:nvSpPr>
        <p:spPr/>
        <p:txBody>
          <a:bodyPr/>
          <a:lstStyle/>
          <a:p>
            <a:endParaRPr lang="fr-FR">
              <a:solidFill>
                <a:srgbClr val="FFFFFF"/>
              </a:solidFill>
            </a:endParaRPr>
          </a:p>
        </p:txBody>
      </p:sp>
      <p:sp>
        <p:nvSpPr>
          <p:cNvPr id="5" name="Slide Number Placeholder 4"/>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80997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3" name="Footer Placeholder 2"/>
          <p:cNvSpPr>
            <a:spLocks noGrp="1"/>
          </p:cNvSpPr>
          <p:nvPr>
            <p:ph type="ftr" sz="quarter" idx="11"/>
          </p:nvPr>
        </p:nvSpPr>
        <p:spPr/>
        <p:txBody>
          <a:bodyPr/>
          <a:lstStyle/>
          <a:p>
            <a:endParaRPr lang="fr-FR">
              <a:solidFill>
                <a:srgbClr val="FFFFFF"/>
              </a:solidFill>
            </a:endParaRPr>
          </a:p>
        </p:txBody>
      </p:sp>
      <p:sp>
        <p:nvSpPr>
          <p:cNvPr id="4" name="Slide Number Placeholder 3"/>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54195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1713485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1438283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3007799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815244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fr-FR" smtClean="0"/>
              <a:t>Modifiez le style du titre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fr-FR">
              <a:solidFill>
                <a:srgbClr val="FFFFFF"/>
              </a:solidFill>
            </a:endParaRPr>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725271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jpe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814959"/>
            <a:ext cx="7772400" cy="1470025"/>
          </a:xfrm>
        </p:spPr>
        <p:txBody>
          <a:bodyPr/>
          <a:lstStyle/>
          <a:p>
            <a:r>
              <a:rPr lang="fr-FR" sz="4400" b="1" u="sng"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Black" pitchFamily="34" charset="0"/>
              </a:rPr>
              <a:t>ENTREPRENEURIAT</a:t>
            </a:r>
            <a:endParaRPr lang="fr-FR" sz="4400" b="1" u="sng"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Black" pitchFamily="34" charset="0"/>
            </a:endParaRPr>
          </a:p>
        </p:txBody>
      </p:sp>
      <p:sp>
        <p:nvSpPr>
          <p:cNvPr id="6" name="Sous-titre 2"/>
          <p:cNvSpPr txBox="1">
            <a:spLocks/>
          </p:cNvSpPr>
          <p:nvPr/>
        </p:nvSpPr>
        <p:spPr>
          <a:xfrm>
            <a:off x="4211960" y="6293604"/>
            <a:ext cx="4773596" cy="422710"/>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fr-FR" dirty="0" smtClean="0">
                <a:solidFill>
                  <a:srgbClr val="FFFFFF">
                    <a:tint val="75000"/>
                  </a:srgbClr>
                </a:solidFill>
              </a:rPr>
              <a:t>Dr </a:t>
            </a:r>
            <a:r>
              <a:rPr lang="fr-FR" dirty="0" smtClean="0">
                <a:solidFill>
                  <a:srgbClr val="FFFFFF">
                    <a:tint val="75000"/>
                  </a:srgbClr>
                </a:solidFill>
              </a:rPr>
              <a:t>BRAHITI </a:t>
            </a:r>
            <a:r>
              <a:rPr lang="fr-FR" dirty="0" err="1" smtClean="0">
                <a:solidFill>
                  <a:srgbClr val="FFFFFF">
                    <a:tint val="75000"/>
                  </a:srgbClr>
                </a:solidFill>
              </a:rPr>
              <a:t>Ibtissem</a:t>
            </a:r>
            <a:endParaRPr lang="fr-FR" dirty="0">
              <a:solidFill>
                <a:srgbClr val="FFFFFF">
                  <a:tint val="75000"/>
                </a:srgbClr>
              </a:solidFill>
            </a:endParaRPr>
          </a:p>
        </p:txBody>
      </p:sp>
      <p:grpSp>
        <p:nvGrpSpPr>
          <p:cNvPr id="4" name="Groupe 3"/>
          <p:cNvGrpSpPr/>
          <p:nvPr/>
        </p:nvGrpSpPr>
        <p:grpSpPr>
          <a:xfrm>
            <a:off x="1495700" y="3767580"/>
            <a:ext cx="6120680" cy="1821659"/>
            <a:chOff x="611560" y="2996952"/>
            <a:chExt cx="7963984" cy="2808312"/>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3341" y="2996952"/>
              <a:ext cx="5122203"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253345"/>
              <a:ext cx="199072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Flèche courbée vers le bas 8"/>
            <p:cNvSpPr/>
            <p:nvPr/>
          </p:nvSpPr>
          <p:spPr>
            <a:xfrm rot="215597">
              <a:off x="2331766" y="3137021"/>
              <a:ext cx="2543794" cy="844649"/>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fr-FR">
                <a:solidFill>
                  <a:srgbClr val="FFFFFF"/>
                </a:solidFill>
              </a:endParaRPr>
            </a:p>
          </p:txBody>
        </p:sp>
      </p:grpSp>
      <p:pic>
        <p:nvPicPr>
          <p:cNvPr id="1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384"/>
            <a:ext cx="9144000" cy="1988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692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404664"/>
            <a:ext cx="3456384" cy="258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ZoneTexte 4"/>
          <p:cNvSpPr txBox="1"/>
          <p:nvPr/>
        </p:nvSpPr>
        <p:spPr>
          <a:xfrm>
            <a:off x="539552" y="3371508"/>
            <a:ext cx="8064896" cy="1938992"/>
          </a:xfrm>
          <a:prstGeom prst="rect">
            <a:avLst/>
          </a:prstGeom>
          <a:noFill/>
        </p:spPr>
        <p:txBody>
          <a:bodyPr wrap="square" rtlCol="0">
            <a:spAutoFit/>
          </a:bodyPr>
          <a:lstStyle/>
          <a:p>
            <a:r>
              <a:rPr lang="fr-FR" sz="4000" i="1" dirty="0">
                <a:solidFill>
                  <a:srgbClr val="FFC000"/>
                </a:solidFill>
                <a:latin typeface="Brush Script MT" pitchFamily="66" charset="0"/>
              </a:rPr>
              <a:t>Il faut toujours viser la lune, car même en cas d’échec , on atterrit dans les étoiles…</a:t>
            </a:r>
          </a:p>
          <a:p>
            <a:pPr algn="r"/>
            <a:r>
              <a:rPr lang="fr-FR" sz="4000" dirty="0">
                <a:solidFill>
                  <a:srgbClr val="FFC000"/>
                </a:solidFill>
                <a:latin typeface="Bell MT" pitchFamily="18" charset="0"/>
              </a:rPr>
              <a:t>Oscar WILD</a:t>
            </a:r>
            <a:endParaRPr lang="fr-FR" sz="4000" dirty="0">
              <a:solidFill>
                <a:srgbClr val="FFC000"/>
              </a:solidFill>
              <a:latin typeface="Bell MT" pitchFamily="18" charset="0"/>
            </a:endParaRPr>
          </a:p>
        </p:txBody>
      </p:sp>
    </p:spTree>
    <p:extLst>
      <p:ext uri="{BB962C8B-B14F-4D97-AF65-F5344CB8AC3E}">
        <p14:creationId xmlns:p14="http://schemas.microsoft.com/office/powerpoint/2010/main" val="22309269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2960" y="648112"/>
            <a:ext cx="7520940" cy="548640"/>
          </a:xfrm>
        </p:spPr>
        <p:txBody>
          <a:bodyPr>
            <a:normAutofit fontScale="90000"/>
          </a:bodyPr>
          <a:lstStyle/>
          <a:p>
            <a:r>
              <a:rPr lang="fr-FR" dirty="0"/>
              <a:t>Si vous voulez retenir ce que vous allez apprendre :</a:t>
            </a:r>
          </a:p>
        </p:txBody>
      </p:sp>
      <p:sp>
        <p:nvSpPr>
          <p:cNvPr id="3" name="Espace réservé du pied de page 2"/>
          <p:cNvSpPr>
            <a:spLocks noGrp="1"/>
          </p:cNvSpPr>
          <p:nvPr>
            <p:ph type="ftr" sz="quarter" idx="11"/>
          </p:nvPr>
        </p:nvSpPr>
        <p:spPr/>
        <p:txBody>
          <a:bodyPr/>
          <a:lstStyle/>
          <a:p>
            <a:endParaRPr lang="fr-FR">
              <a:solidFill>
                <a:srgbClr val="FFFFFF"/>
              </a:solidFill>
            </a:endParaRPr>
          </a:p>
        </p:txBody>
      </p:sp>
      <p:sp>
        <p:nvSpPr>
          <p:cNvPr id="7" name="Espace réservé du numéro de diapositive 6"/>
          <p:cNvSpPr>
            <a:spLocks noGrp="1"/>
          </p:cNvSpPr>
          <p:nvPr>
            <p:ph type="sldNum" sz="quarter" idx="12"/>
          </p:nvPr>
        </p:nvSpPr>
        <p:spPr/>
        <p:txBody>
          <a:bodyPr/>
          <a:lstStyle/>
          <a:p>
            <a:fld id="{B033A5BD-68E3-4806-8393-C8D47032984A}" type="slidenum">
              <a:rPr lang="fr-FR" smtClean="0">
                <a:solidFill>
                  <a:srgbClr val="FFFFFF"/>
                </a:solidFill>
              </a:rPr>
              <a:pPr/>
              <a:t>3</a:t>
            </a:fld>
            <a:endParaRPr lang="fr-FR">
              <a:solidFill>
                <a:srgbClr val="FFFFFF"/>
              </a:solidFill>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610474"/>
            <a:ext cx="4548117" cy="3258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117" y="1610473"/>
            <a:ext cx="4595883" cy="3258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2771800" y="5157192"/>
            <a:ext cx="3800818" cy="646331"/>
          </a:xfrm>
          <a:prstGeom prst="rect">
            <a:avLst/>
          </a:prstGeom>
          <a:noFill/>
        </p:spPr>
        <p:txBody>
          <a:bodyPr wrap="square" rtlCol="0">
            <a:spAutoFit/>
          </a:bodyPr>
          <a:lstStyle/>
          <a:p>
            <a:r>
              <a:rPr lang="fr-FR" sz="3600" b="1" dirty="0">
                <a:solidFill>
                  <a:srgbClr val="FFC000"/>
                </a:solidFill>
                <a:effectLst>
                  <a:outerShdw blurRad="38100" dist="38100" dir="2700000" algn="tl">
                    <a:srgbClr val="000000">
                      <a:alpha val="43137"/>
                    </a:srgbClr>
                  </a:outerShdw>
                </a:effectLst>
              </a:rPr>
              <a:t>Prenez des notes </a:t>
            </a:r>
            <a:endParaRPr lang="fr-FR" sz="3600" b="1" dirty="0">
              <a:solidFill>
                <a:srgbClr val="FFC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639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r>
              <a:rPr lang="fr-FR" sz="2800" dirty="0" smtClean="0"/>
              <a:t>Ce module va vous donner les bases pour comprendre ce qu’est entreprendre, et surtout comment vos compétences en intelligence artificielle peuvent être transformées en projets, solutions ou mêmes start-up. </a:t>
            </a:r>
          </a:p>
          <a:p>
            <a:endParaRPr lang="fr-FR" sz="2800" dirty="0"/>
          </a:p>
        </p:txBody>
      </p:sp>
    </p:spTree>
    <p:extLst>
      <p:ext uri="{BB962C8B-B14F-4D97-AF65-F5344CB8AC3E}">
        <p14:creationId xmlns:p14="http://schemas.microsoft.com/office/powerpoint/2010/main" val="363752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pPr algn="ctr"/>
            <a:r>
              <a:rPr lang="fr-FR" sz="4800" dirty="0" smtClean="0"/>
              <a:t>Pour vous, qu’est-ce que l’entrepreneuriat ?</a:t>
            </a:r>
            <a:endParaRPr lang="fr-FR" sz="4800" dirty="0"/>
          </a:p>
        </p:txBody>
      </p:sp>
    </p:spTree>
    <p:extLst>
      <p:ext uri="{BB962C8B-B14F-4D97-AF65-F5344CB8AC3E}">
        <p14:creationId xmlns:p14="http://schemas.microsoft.com/office/powerpoint/2010/main" val="3891737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 de l’entrepreneuriat</a:t>
            </a:r>
            <a:endParaRPr lang="fr-FR" dirty="0"/>
          </a:p>
        </p:txBody>
      </p:sp>
      <p:sp>
        <p:nvSpPr>
          <p:cNvPr id="3" name="Espace réservé du contenu 2"/>
          <p:cNvSpPr>
            <a:spLocks noGrp="1"/>
          </p:cNvSpPr>
          <p:nvPr>
            <p:ph sz="quarter" idx="13"/>
          </p:nvPr>
        </p:nvSpPr>
        <p:spPr>
          <a:xfrm>
            <a:off x="590145" y="2427051"/>
            <a:ext cx="7924800" cy="4114800"/>
          </a:xfrm>
        </p:spPr>
        <p:txBody>
          <a:bodyPr>
            <a:normAutofit/>
          </a:bodyPr>
          <a:lstStyle/>
          <a:p>
            <a:r>
              <a:rPr lang="fr-FR" sz="2000" dirty="0" smtClean="0"/>
              <a:t>L’entrepreneuriat est le processus par lequel une personne ou un groupe identifie une opportunité, mobilise des ressources et prend des risques pour créer, développer et gérer une nouvelle activité (entreprise, projet ou organisation) dans le but de générer de la valeur, qu’elle soit économique, sociale, technologique ou culturelle.</a:t>
            </a:r>
          </a:p>
          <a:p>
            <a:endParaRPr lang="fr-FR" sz="2000" dirty="0"/>
          </a:p>
          <a:p>
            <a:r>
              <a:rPr lang="fr-FR" sz="2000" dirty="0" smtClean="0"/>
              <a:t>L’entrepreneuriat c’est transformer une idée ou un problème identifié en une solution concrète qui crée de la valeur pour les autres</a:t>
            </a:r>
            <a:endParaRPr lang="fr-FR" sz="2000" dirty="0"/>
          </a:p>
        </p:txBody>
      </p:sp>
    </p:spTree>
    <p:extLst>
      <p:ext uri="{BB962C8B-B14F-4D97-AF65-F5344CB8AC3E}">
        <p14:creationId xmlns:p14="http://schemas.microsoft.com/office/powerpoint/2010/main" val="1817275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8282880" cy="1143000"/>
          </a:xfrm>
        </p:spPr>
        <p:txBody>
          <a:bodyPr/>
          <a:lstStyle/>
          <a:p>
            <a:r>
              <a:rPr lang="fr-FR" sz="2400" dirty="0"/>
              <a:t>Différence entre opportunité et problème en entrepreneuriat</a:t>
            </a:r>
            <a:br>
              <a:rPr lang="fr-FR" sz="2400" dirty="0"/>
            </a:br>
            <a:endParaRPr lang="fr-FR" sz="2400" dirty="0"/>
          </a:p>
        </p:txBody>
      </p:sp>
      <p:sp>
        <p:nvSpPr>
          <p:cNvPr id="3" name="Espace réservé du contenu 2"/>
          <p:cNvSpPr>
            <a:spLocks noGrp="1"/>
          </p:cNvSpPr>
          <p:nvPr>
            <p:ph sz="quarter" idx="13"/>
          </p:nvPr>
        </p:nvSpPr>
        <p:spPr>
          <a:xfrm>
            <a:off x="467544" y="1772816"/>
            <a:ext cx="7924800" cy="4590256"/>
          </a:xfrm>
        </p:spPr>
        <p:txBody>
          <a:bodyPr>
            <a:noAutofit/>
          </a:bodyPr>
          <a:lstStyle/>
          <a:p>
            <a:r>
              <a:rPr lang="fr-FR" sz="1800" dirty="0"/>
              <a:t>Identifier un </a:t>
            </a:r>
            <a:r>
              <a:rPr lang="fr-FR" sz="1800" dirty="0" smtClean="0"/>
              <a:t>problème</a:t>
            </a:r>
            <a:endParaRPr lang="fr-FR" sz="1800" dirty="0"/>
          </a:p>
          <a:p>
            <a:r>
              <a:rPr lang="fr-FR" sz="1800" dirty="0"/>
              <a:t>C’est constater une difficulté, un manque ou une insatisfaction vécue par des personnes, des entreprises ou la société</a:t>
            </a:r>
            <a:r>
              <a:rPr lang="fr-FR" sz="1800" dirty="0" smtClean="0"/>
              <a:t>.</a:t>
            </a:r>
            <a:endParaRPr lang="fr-FR" sz="1800" dirty="0"/>
          </a:p>
          <a:p>
            <a:r>
              <a:rPr lang="fr-FR" sz="1800" dirty="0"/>
              <a:t>Exemple </a:t>
            </a:r>
            <a:r>
              <a:rPr lang="fr-FR" sz="1800" dirty="0" smtClean="0"/>
              <a:t>:</a:t>
            </a:r>
            <a:endParaRPr lang="fr-FR" sz="1800" dirty="0"/>
          </a:p>
          <a:p>
            <a:r>
              <a:rPr lang="fr-FR" sz="1800" dirty="0"/>
              <a:t>Les étudiants ont du mal à trouver un logement abordable.</a:t>
            </a:r>
          </a:p>
          <a:p>
            <a:r>
              <a:rPr lang="fr-FR" sz="1800" dirty="0"/>
              <a:t> Les agriculteurs perdent une partie de leurs récoltes faute de moyens de conservation</a:t>
            </a:r>
            <a:r>
              <a:rPr lang="fr-FR" sz="1800" dirty="0" smtClean="0"/>
              <a:t>.</a:t>
            </a:r>
            <a:endParaRPr lang="fr-FR" sz="1800" dirty="0"/>
          </a:p>
          <a:p>
            <a:r>
              <a:rPr lang="fr-FR" sz="1800" dirty="0"/>
              <a:t>Les patients attendent des heures pour des rendez-vous médicaux</a:t>
            </a:r>
            <a:r>
              <a:rPr lang="fr-FR" sz="1800" dirty="0" smtClean="0"/>
              <a:t>.</a:t>
            </a:r>
            <a:r>
              <a:rPr lang="fr-FR" sz="1800" dirty="0"/>
              <a:t> </a:t>
            </a:r>
            <a:endParaRPr lang="fr-FR" sz="1800" dirty="0" smtClean="0"/>
          </a:p>
          <a:p>
            <a:endParaRPr lang="fr-FR" sz="1800" dirty="0"/>
          </a:p>
          <a:p>
            <a:r>
              <a:rPr lang="fr-FR" sz="1800" dirty="0"/>
              <a:t>👉 </a:t>
            </a:r>
            <a:r>
              <a:rPr lang="fr-FR" sz="1800" dirty="0" smtClean="0"/>
              <a:t>   Ici</a:t>
            </a:r>
            <a:r>
              <a:rPr lang="fr-FR" sz="1800" dirty="0"/>
              <a:t>, on part d’un constat négatif : quelque chose ne fonctionne pas ou manque.</a:t>
            </a:r>
          </a:p>
          <a:p>
            <a:pPr marL="0" indent="0">
              <a:buNone/>
            </a:pPr>
            <a:endParaRPr lang="fr-FR" sz="1800" dirty="0"/>
          </a:p>
          <a:p>
            <a:endParaRPr lang="fr-FR" sz="1800" dirty="0"/>
          </a:p>
        </p:txBody>
      </p:sp>
    </p:spTree>
    <p:extLst>
      <p:ext uri="{BB962C8B-B14F-4D97-AF65-F5344CB8AC3E}">
        <p14:creationId xmlns:p14="http://schemas.microsoft.com/office/powerpoint/2010/main" val="4244197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539552" y="1196752"/>
            <a:ext cx="7924800" cy="4114800"/>
          </a:xfrm>
        </p:spPr>
        <p:txBody>
          <a:bodyPr>
            <a:noAutofit/>
          </a:bodyPr>
          <a:lstStyle/>
          <a:p>
            <a:pPr marL="0" indent="0">
              <a:buNone/>
            </a:pPr>
            <a:r>
              <a:rPr lang="fr-FR" sz="1800" dirty="0" smtClean="0"/>
              <a:t>Identifier </a:t>
            </a:r>
            <a:r>
              <a:rPr lang="fr-FR" sz="1800" dirty="0"/>
              <a:t>une </a:t>
            </a:r>
            <a:r>
              <a:rPr lang="fr-FR" sz="1800" dirty="0" smtClean="0"/>
              <a:t>opportunité</a:t>
            </a:r>
            <a:endParaRPr lang="fr-FR" sz="1800" dirty="0"/>
          </a:p>
          <a:p>
            <a:r>
              <a:rPr lang="fr-FR" sz="1800" dirty="0"/>
              <a:t>C’est percevoir une possibilité de créer de la valeur, souvent à partir d’un problème, d’un changement technologique, économique ou social</a:t>
            </a:r>
            <a:r>
              <a:rPr lang="fr-FR" sz="1800" dirty="0" smtClean="0"/>
              <a:t>.</a:t>
            </a:r>
            <a:endParaRPr lang="fr-FR" sz="1800" dirty="0"/>
          </a:p>
          <a:p>
            <a:r>
              <a:rPr lang="fr-FR" sz="1800" dirty="0"/>
              <a:t>Exemple </a:t>
            </a:r>
            <a:r>
              <a:rPr lang="fr-FR" sz="1800" dirty="0" smtClean="0"/>
              <a:t>:</a:t>
            </a:r>
            <a:r>
              <a:rPr lang="fr-FR" sz="1800" dirty="0"/>
              <a:t> </a:t>
            </a:r>
          </a:p>
          <a:p>
            <a:r>
              <a:rPr lang="fr-FR" sz="1800" dirty="0"/>
              <a:t>Opportunité : développer une plateforme numérique qui met en relation étudiants et propriétaires pour trouver un logement rapidement</a:t>
            </a:r>
            <a:r>
              <a:rPr lang="fr-FR" sz="1800" dirty="0" smtClean="0"/>
              <a:t>.</a:t>
            </a:r>
            <a:endParaRPr lang="fr-FR" sz="1800" dirty="0"/>
          </a:p>
          <a:p>
            <a:r>
              <a:rPr lang="fr-FR" sz="1800" dirty="0"/>
              <a:t>Opportunité : concevoir une solution de conservation intelligente des récoltes grâce à l’IA</a:t>
            </a:r>
            <a:r>
              <a:rPr lang="fr-FR" sz="1800" dirty="0" smtClean="0"/>
              <a:t>.</a:t>
            </a:r>
            <a:endParaRPr lang="fr-FR" sz="1800" dirty="0"/>
          </a:p>
          <a:p>
            <a:r>
              <a:rPr lang="fr-FR" sz="1800" dirty="0"/>
              <a:t>Opportunité : créer une application de prise de rendez-vous médicaux optimisée par algorithme.</a:t>
            </a:r>
          </a:p>
          <a:p>
            <a:endParaRPr lang="fr-FR" sz="1800" dirty="0"/>
          </a:p>
          <a:p>
            <a:pPr marL="0" indent="0">
              <a:buNone/>
            </a:pPr>
            <a:r>
              <a:rPr lang="fr-FR" sz="1800" dirty="0"/>
              <a:t>👉 </a:t>
            </a:r>
            <a:r>
              <a:rPr lang="fr-FR" sz="1800" dirty="0" smtClean="0"/>
              <a:t>    Ici</a:t>
            </a:r>
            <a:r>
              <a:rPr lang="fr-FR" sz="1800" dirty="0"/>
              <a:t>, on se concentre sur le potentiel de solution innovante et rentable.</a:t>
            </a:r>
          </a:p>
          <a:p>
            <a:endParaRPr lang="fr-FR" sz="1800" dirty="0"/>
          </a:p>
        </p:txBody>
      </p:sp>
    </p:spTree>
    <p:extLst>
      <p:ext uri="{BB962C8B-B14F-4D97-AF65-F5344CB8AC3E}">
        <p14:creationId xmlns:p14="http://schemas.microsoft.com/office/powerpoint/2010/main" val="112322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611560" y="908720"/>
            <a:ext cx="7924800" cy="4114800"/>
          </a:xfrm>
        </p:spPr>
        <p:txBody>
          <a:bodyPr>
            <a:noAutofit/>
          </a:bodyPr>
          <a:lstStyle/>
          <a:p>
            <a:r>
              <a:rPr lang="fr-FR" sz="2000" dirty="0"/>
              <a:t>Pour résumer </a:t>
            </a:r>
            <a:r>
              <a:rPr lang="fr-FR" sz="2000" dirty="0" smtClean="0"/>
              <a:t>simplement</a:t>
            </a:r>
            <a:endParaRPr lang="fr-FR" sz="2000" dirty="0"/>
          </a:p>
          <a:p>
            <a:r>
              <a:rPr lang="fr-FR" sz="2000" dirty="0"/>
              <a:t>Problème = “Il y a un besoin, une douleur, un dysfonctionnement.”</a:t>
            </a:r>
          </a:p>
          <a:p>
            <a:pPr marL="0" indent="0">
              <a:buNone/>
            </a:pPr>
            <a:endParaRPr lang="fr-FR" sz="2000" dirty="0"/>
          </a:p>
          <a:p>
            <a:r>
              <a:rPr lang="fr-FR" sz="2000" dirty="0"/>
              <a:t>Opportunité = “Je peux transformer ce problème en projet créateur de valeur.”</a:t>
            </a:r>
          </a:p>
          <a:p>
            <a:pPr marL="0" indent="0">
              <a:buNone/>
            </a:pPr>
            <a:endParaRPr lang="fr-FR" sz="2000" dirty="0"/>
          </a:p>
          <a:p>
            <a:pPr marL="0" indent="0">
              <a:buNone/>
            </a:pPr>
            <a:r>
              <a:rPr lang="fr-FR" sz="2000" dirty="0"/>
              <a:t>⚡ Exemple concret dans </a:t>
            </a:r>
            <a:r>
              <a:rPr lang="fr-FR" sz="2000" dirty="0" smtClean="0"/>
              <a:t>le domaine </a:t>
            </a:r>
            <a:r>
              <a:rPr lang="fr-FR" sz="2000" dirty="0"/>
              <a:t>(IA) </a:t>
            </a:r>
            <a:r>
              <a:rPr lang="fr-FR" sz="2000" dirty="0" smtClean="0"/>
              <a:t>:</a:t>
            </a:r>
            <a:endParaRPr lang="fr-FR" sz="2000" dirty="0"/>
          </a:p>
          <a:p>
            <a:r>
              <a:rPr lang="fr-FR" sz="2000" dirty="0"/>
              <a:t>Problème : les entreprises reçoivent trop d’e-mails de candidature et perdent du temps à les trier</a:t>
            </a:r>
            <a:r>
              <a:rPr lang="fr-FR" sz="2000" dirty="0" smtClean="0"/>
              <a:t>.</a:t>
            </a:r>
            <a:endParaRPr lang="fr-FR" sz="2000" dirty="0"/>
          </a:p>
          <a:p>
            <a:r>
              <a:rPr lang="fr-FR" sz="2000" dirty="0"/>
              <a:t>Opportunité : créer un outil basé sur l’IA qui trie automatiquement les CV et met en avant les profils les plus pertinents.</a:t>
            </a:r>
          </a:p>
          <a:p>
            <a:endParaRPr lang="fr-FR" sz="2000" dirty="0"/>
          </a:p>
        </p:txBody>
      </p:sp>
    </p:spTree>
    <p:extLst>
      <p:ext uri="{BB962C8B-B14F-4D97-AF65-F5344CB8AC3E}">
        <p14:creationId xmlns:p14="http://schemas.microsoft.com/office/powerpoint/2010/main" val="1630915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p:cNvSpPr>
            <a:spLocks noGrp="1"/>
          </p:cNvSpPr>
          <p:nvPr>
            <p:ph type="subTitle" idx="1"/>
          </p:nvPr>
        </p:nvSpPr>
        <p:spPr>
          <a:xfrm>
            <a:off x="683568" y="1052736"/>
            <a:ext cx="7776864" cy="4586064"/>
          </a:xfrm>
        </p:spPr>
        <p:txBody>
          <a:bodyPr>
            <a:noAutofit/>
          </a:bodyPr>
          <a:lstStyle/>
          <a:p>
            <a:pPr algn="just"/>
            <a:r>
              <a:rPr lang="fr-FR" sz="2000" dirty="0">
                <a:solidFill>
                  <a:schemeClr val="tx1"/>
                </a:solidFill>
              </a:rPr>
              <a:t> </a:t>
            </a:r>
          </a:p>
          <a:p>
            <a:pPr algn="just"/>
            <a:r>
              <a:rPr lang="fr-FR" sz="2000" dirty="0">
                <a:solidFill>
                  <a:schemeClr val="tx1"/>
                </a:solidFill>
              </a:rPr>
              <a:t>1. </a:t>
            </a:r>
            <a:r>
              <a:rPr lang="fr-FR" sz="2000" b="1" dirty="0">
                <a:solidFill>
                  <a:schemeClr val="tx1"/>
                </a:solidFill>
              </a:rPr>
              <a:t>Définition de l’idée et de l’opportunité</a:t>
            </a:r>
          </a:p>
          <a:p>
            <a:pPr algn="just"/>
            <a:r>
              <a:rPr lang="fr-FR" sz="2000" dirty="0">
                <a:solidFill>
                  <a:schemeClr val="tx1"/>
                </a:solidFill>
              </a:rPr>
              <a:t> </a:t>
            </a:r>
          </a:p>
          <a:p>
            <a:pPr algn="just"/>
            <a:r>
              <a:rPr lang="fr-FR" sz="2000" dirty="0">
                <a:solidFill>
                  <a:schemeClr val="tx1"/>
                </a:solidFill>
              </a:rPr>
              <a:t>Idée : une pensée, une intuition ou une proposition de solution. → Exemple : “Créer une application mobile d’IA pour aider les étudiants à réviser.”</a:t>
            </a:r>
          </a:p>
          <a:p>
            <a:pPr algn="just"/>
            <a:r>
              <a:rPr lang="fr-FR" sz="2000" dirty="0">
                <a:solidFill>
                  <a:schemeClr val="tx1"/>
                </a:solidFill>
              </a:rPr>
              <a:t> </a:t>
            </a:r>
          </a:p>
          <a:p>
            <a:pPr algn="just"/>
            <a:r>
              <a:rPr lang="fr-FR" sz="2000" dirty="0">
                <a:solidFill>
                  <a:schemeClr val="tx1"/>
                </a:solidFill>
              </a:rPr>
              <a:t>Opportunité : une idée qui répond à un besoin réel, à un marché potentiel, et qui est faisable avec les ressources disponibles. → Exemple : développer un </a:t>
            </a:r>
            <a:r>
              <a:rPr lang="fr-FR" sz="2000" dirty="0" err="1">
                <a:solidFill>
                  <a:schemeClr val="tx1"/>
                </a:solidFill>
              </a:rPr>
              <a:t>chatbot</a:t>
            </a:r>
            <a:r>
              <a:rPr lang="fr-FR" sz="2000" dirty="0">
                <a:solidFill>
                  <a:schemeClr val="tx1"/>
                </a:solidFill>
              </a:rPr>
              <a:t> d’IA qui répond aux questions des étudiants de l’ENIA, car il existe un vrai besoin, un public cible, et une technologie disponible</a:t>
            </a:r>
            <a:r>
              <a:rPr lang="fr-FR" sz="2000" dirty="0" smtClean="0">
                <a:solidFill>
                  <a:schemeClr val="tx1"/>
                </a:solidFill>
              </a:rPr>
              <a:t>.</a:t>
            </a:r>
            <a:endParaRPr lang="fr-FR" sz="2000" dirty="0">
              <a:solidFill>
                <a:schemeClr val="tx1"/>
              </a:solidFill>
            </a:endParaRPr>
          </a:p>
          <a:p>
            <a:pPr algn="just"/>
            <a:r>
              <a:rPr lang="fr-FR" sz="2000" dirty="0">
                <a:solidFill>
                  <a:schemeClr val="tx1"/>
                </a:solidFill>
              </a:rPr>
              <a:t> </a:t>
            </a:r>
          </a:p>
          <a:p>
            <a:pPr algn="just"/>
            <a:r>
              <a:rPr lang="fr-FR" sz="2000" dirty="0">
                <a:solidFill>
                  <a:schemeClr val="tx1"/>
                </a:solidFill>
              </a:rPr>
              <a:t>👉 </a:t>
            </a:r>
            <a:r>
              <a:rPr lang="fr-FR" sz="2000" dirty="0" smtClean="0">
                <a:solidFill>
                  <a:schemeClr val="tx1"/>
                </a:solidFill>
              </a:rPr>
              <a:t>   Toutes </a:t>
            </a:r>
            <a:r>
              <a:rPr lang="fr-FR" sz="2000" dirty="0">
                <a:solidFill>
                  <a:schemeClr val="tx1"/>
                </a:solidFill>
              </a:rPr>
              <a:t>les opportunités commencent par une idée, mais toutes les idées ne sont pas forcément de bonnes opportunités.</a:t>
            </a:r>
          </a:p>
          <a:p>
            <a:pPr algn="just"/>
            <a:endParaRPr lang="fr-FR" sz="2000" dirty="0">
              <a:solidFill>
                <a:schemeClr val="tx1"/>
              </a:solidFill>
            </a:endParaRPr>
          </a:p>
        </p:txBody>
      </p:sp>
      <p:sp>
        <p:nvSpPr>
          <p:cNvPr id="3" name="Titre 2"/>
          <p:cNvSpPr>
            <a:spLocks noGrp="1"/>
          </p:cNvSpPr>
          <p:nvPr>
            <p:ph type="ctrTitle"/>
          </p:nvPr>
        </p:nvSpPr>
        <p:spPr>
          <a:xfrm>
            <a:off x="539552" y="332656"/>
            <a:ext cx="8496944" cy="792088"/>
          </a:xfrm>
        </p:spPr>
        <p:txBody>
          <a:bodyPr/>
          <a:lstStyle/>
          <a:p>
            <a:pPr algn="l"/>
            <a:r>
              <a:rPr lang="fr-FR" sz="2800" b="1" dirty="0"/>
              <a:t>Naissance des idées entrepreneuriales</a:t>
            </a:r>
            <a:br>
              <a:rPr lang="fr-FR" sz="2800" b="1" dirty="0"/>
            </a:br>
            <a:endParaRPr lang="fr-FR" sz="2800" b="1" dirty="0"/>
          </a:p>
        </p:txBody>
      </p:sp>
    </p:spTree>
    <p:extLst>
      <p:ext uri="{BB962C8B-B14F-4D97-AF65-F5344CB8AC3E}">
        <p14:creationId xmlns:p14="http://schemas.microsoft.com/office/powerpoint/2010/main" val="2346266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b="1" dirty="0"/>
              <a:t>2. Sources d’opportunités entrepreneuriales</a:t>
            </a:r>
            <a:br>
              <a:rPr lang="fr-FR" sz="2400" b="1" dirty="0"/>
            </a:br>
            <a:endParaRPr lang="fr-FR" sz="2400" b="1" dirty="0"/>
          </a:p>
        </p:txBody>
      </p:sp>
      <p:sp>
        <p:nvSpPr>
          <p:cNvPr id="3" name="Espace réservé du contenu 2"/>
          <p:cNvSpPr>
            <a:spLocks noGrp="1"/>
          </p:cNvSpPr>
          <p:nvPr>
            <p:ph sz="quarter" idx="13"/>
          </p:nvPr>
        </p:nvSpPr>
        <p:spPr>
          <a:xfrm>
            <a:off x="611560" y="1268760"/>
            <a:ext cx="7924800" cy="4114800"/>
          </a:xfrm>
        </p:spPr>
        <p:txBody>
          <a:bodyPr>
            <a:noAutofit/>
          </a:bodyPr>
          <a:lstStyle/>
          <a:p>
            <a:pPr marL="0" indent="0">
              <a:buNone/>
            </a:pPr>
            <a:r>
              <a:rPr lang="fr-FR" sz="1600" dirty="0" smtClean="0"/>
              <a:t>a</a:t>
            </a:r>
            <a:r>
              <a:rPr lang="fr-FR" sz="1600" dirty="0"/>
              <a:t>) Nouveaux besoins des </a:t>
            </a:r>
            <a:r>
              <a:rPr lang="fr-FR" sz="1600" dirty="0" smtClean="0"/>
              <a:t>consommateurs</a:t>
            </a:r>
            <a:endParaRPr lang="fr-FR" sz="1600" dirty="0"/>
          </a:p>
          <a:p>
            <a:r>
              <a:rPr lang="fr-FR" sz="1600" dirty="0"/>
              <a:t>Quand les habitudes changent, de nouveaux besoins apparaissent</a:t>
            </a:r>
            <a:r>
              <a:rPr lang="fr-FR" sz="1600" dirty="0" smtClean="0"/>
              <a:t>.</a:t>
            </a:r>
            <a:r>
              <a:rPr lang="fr-FR" sz="1600" dirty="0"/>
              <a:t> </a:t>
            </a:r>
          </a:p>
          <a:p>
            <a:pPr marL="0" indent="0">
              <a:buNone/>
            </a:pPr>
            <a:r>
              <a:rPr lang="fr-FR" sz="1600" dirty="0"/>
              <a:t>Exemple (IA) </a:t>
            </a:r>
            <a:r>
              <a:rPr lang="fr-FR" sz="1600" dirty="0" smtClean="0"/>
              <a:t>:</a:t>
            </a:r>
            <a:r>
              <a:rPr lang="fr-FR" sz="1600" dirty="0"/>
              <a:t> </a:t>
            </a:r>
          </a:p>
          <a:p>
            <a:r>
              <a:rPr lang="fr-FR" sz="1600" dirty="0"/>
              <a:t>Besoin croissant d’apprentissage personnalisé → plateformes d’e-learning adaptatives basées sur IA</a:t>
            </a:r>
            <a:r>
              <a:rPr lang="fr-FR" sz="1600" dirty="0" smtClean="0"/>
              <a:t>.</a:t>
            </a:r>
            <a:endParaRPr lang="fr-FR" sz="1600" dirty="0"/>
          </a:p>
          <a:p>
            <a:r>
              <a:rPr lang="fr-FR" sz="1600" dirty="0"/>
              <a:t>Besoin de services rapides → assistants vocaux intelligents pour les démarches administratives</a:t>
            </a:r>
            <a:r>
              <a:rPr lang="fr-FR" sz="1600" dirty="0" smtClean="0"/>
              <a:t>.</a:t>
            </a:r>
          </a:p>
          <a:p>
            <a:endParaRPr lang="fr-FR" sz="1600" dirty="0" smtClean="0"/>
          </a:p>
          <a:p>
            <a:pPr marL="0" indent="0">
              <a:buNone/>
            </a:pPr>
            <a:r>
              <a:rPr lang="fr-FR" sz="1600" dirty="0"/>
              <a:t>b) Problèmes non </a:t>
            </a:r>
            <a:r>
              <a:rPr lang="fr-FR" sz="1600" dirty="0" smtClean="0"/>
              <a:t>résolus</a:t>
            </a:r>
            <a:r>
              <a:rPr lang="fr-FR" sz="1600" dirty="0"/>
              <a:t> </a:t>
            </a:r>
          </a:p>
          <a:p>
            <a:r>
              <a:rPr lang="fr-FR" sz="1600" dirty="0"/>
              <a:t>Beaucoup d’opportunités viennent de problèmes vécus par les individus ou la société</a:t>
            </a:r>
            <a:r>
              <a:rPr lang="fr-FR" sz="1600" dirty="0" smtClean="0"/>
              <a:t>.</a:t>
            </a:r>
            <a:r>
              <a:rPr lang="fr-FR" sz="1600" dirty="0"/>
              <a:t> </a:t>
            </a:r>
          </a:p>
          <a:p>
            <a:pPr marL="0" indent="0">
              <a:buNone/>
            </a:pPr>
            <a:r>
              <a:rPr lang="fr-FR" sz="1600" dirty="0"/>
              <a:t>Exemple (IA) </a:t>
            </a:r>
            <a:r>
              <a:rPr lang="fr-FR" sz="1600" dirty="0" smtClean="0"/>
              <a:t>:</a:t>
            </a:r>
            <a:endParaRPr lang="fr-FR" sz="1600" dirty="0"/>
          </a:p>
          <a:p>
            <a:r>
              <a:rPr lang="fr-FR" sz="1600" dirty="0"/>
              <a:t>Longues files d’attente dans les hôpitaux → IA pour organiser les rendez-vous médicaux</a:t>
            </a:r>
            <a:r>
              <a:rPr lang="fr-FR" sz="1600" dirty="0" smtClean="0"/>
              <a:t>.</a:t>
            </a:r>
            <a:endParaRPr lang="fr-FR" sz="1600" dirty="0"/>
          </a:p>
          <a:p>
            <a:r>
              <a:rPr lang="fr-FR" sz="1600" dirty="0"/>
              <a:t>Gaspillage alimentaire dans les supermarchés → IA de gestion des stocks qui prédit les ventes.</a:t>
            </a:r>
          </a:p>
          <a:p>
            <a:pPr marL="0" indent="0">
              <a:buNone/>
            </a:pPr>
            <a:endParaRPr lang="fr-FR" sz="1600" dirty="0"/>
          </a:p>
          <a:p>
            <a:endParaRPr lang="fr-FR" sz="1600" dirty="0"/>
          </a:p>
          <a:p>
            <a:pPr marL="0" indent="0">
              <a:buNone/>
            </a:pPr>
            <a:endParaRPr lang="fr-FR" sz="1600" dirty="0"/>
          </a:p>
          <a:p>
            <a:endParaRPr lang="fr-FR" sz="1600" dirty="0"/>
          </a:p>
        </p:txBody>
      </p:sp>
    </p:spTree>
    <p:extLst>
      <p:ext uri="{BB962C8B-B14F-4D97-AF65-F5344CB8AC3E}">
        <p14:creationId xmlns:p14="http://schemas.microsoft.com/office/powerpoint/2010/main" val="62390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539552" y="332656"/>
            <a:ext cx="7924800" cy="6336704"/>
          </a:xfrm>
        </p:spPr>
        <p:txBody>
          <a:bodyPr>
            <a:normAutofit/>
          </a:bodyPr>
          <a:lstStyle/>
          <a:p>
            <a:pPr marL="0" indent="0">
              <a:buNone/>
            </a:pPr>
            <a:r>
              <a:rPr lang="fr-FR" dirty="0"/>
              <a:t>c) Changements technologiques (IA, digitalisation</a:t>
            </a:r>
            <a:r>
              <a:rPr lang="fr-FR" dirty="0" smtClean="0"/>
              <a:t>)</a:t>
            </a:r>
            <a:endParaRPr lang="fr-FR" dirty="0"/>
          </a:p>
          <a:p>
            <a:r>
              <a:rPr lang="fr-FR" dirty="0"/>
              <a:t>Chaque innovation technologique ouvre la porte à de nouvelles entreprises</a:t>
            </a:r>
            <a:r>
              <a:rPr lang="fr-FR" dirty="0" smtClean="0"/>
              <a:t>.</a:t>
            </a:r>
            <a:endParaRPr lang="fr-FR" dirty="0"/>
          </a:p>
          <a:p>
            <a:pPr marL="0" indent="0">
              <a:buNone/>
            </a:pPr>
            <a:r>
              <a:rPr lang="fr-FR" dirty="0"/>
              <a:t>Exemple (IA) </a:t>
            </a:r>
            <a:r>
              <a:rPr lang="fr-FR" dirty="0" smtClean="0"/>
              <a:t>:</a:t>
            </a:r>
            <a:endParaRPr lang="fr-FR" dirty="0"/>
          </a:p>
          <a:p>
            <a:r>
              <a:rPr lang="fr-FR" dirty="0"/>
              <a:t>Détection automatique des fraudes bancaires grâce au Machine Learning</a:t>
            </a:r>
            <a:r>
              <a:rPr lang="fr-FR" dirty="0" smtClean="0"/>
              <a:t>.</a:t>
            </a:r>
            <a:endParaRPr lang="fr-FR" dirty="0"/>
          </a:p>
          <a:p>
            <a:r>
              <a:rPr lang="fr-FR" dirty="0"/>
              <a:t>Véhicules autonomes → services de transport sans chauffeur</a:t>
            </a:r>
            <a:r>
              <a:rPr lang="fr-FR" dirty="0" smtClean="0"/>
              <a:t>.</a:t>
            </a:r>
            <a:endParaRPr lang="fr-FR" dirty="0"/>
          </a:p>
          <a:p>
            <a:r>
              <a:rPr lang="fr-FR" dirty="0"/>
              <a:t>Reconnaissance d’images → diagnostic médical automatisé.</a:t>
            </a:r>
          </a:p>
          <a:p>
            <a:pPr marL="0" indent="0">
              <a:buNone/>
            </a:pPr>
            <a:r>
              <a:rPr lang="fr-FR" dirty="0"/>
              <a:t> </a:t>
            </a:r>
          </a:p>
          <a:p>
            <a:pPr marL="0" indent="0">
              <a:buNone/>
            </a:pPr>
            <a:r>
              <a:rPr lang="fr-FR" dirty="0"/>
              <a:t>d) Changements socio-économiques (urbanisation, transition énergétique, vieillissement de la population</a:t>
            </a:r>
            <a:r>
              <a:rPr lang="fr-FR" dirty="0" smtClean="0"/>
              <a:t>)</a:t>
            </a:r>
            <a:endParaRPr lang="fr-FR" dirty="0"/>
          </a:p>
          <a:p>
            <a:r>
              <a:rPr lang="fr-FR" dirty="0"/>
              <a:t>Les mutations de la société créent des opportunités</a:t>
            </a:r>
            <a:r>
              <a:rPr lang="fr-FR" dirty="0" smtClean="0"/>
              <a:t>.</a:t>
            </a:r>
            <a:endParaRPr lang="fr-FR" dirty="0"/>
          </a:p>
          <a:p>
            <a:pPr marL="0" indent="0">
              <a:buNone/>
            </a:pPr>
            <a:r>
              <a:rPr lang="fr-FR" dirty="0"/>
              <a:t>Exemple (IA) </a:t>
            </a:r>
            <a:r>
              <a:rPr lang="fr-FR" dirty="0" smtClean="0"/>
              <a:t>:</a:t>
            </a:r>
            <a:endParaRPr lang="fr-FR" dirty="0"/>
          </a:p>
          <a:p>
            <a:r>
              <a:rPr lang="fr-FR" dirty="0"/>
              <a:t>Vieillissement de la population → robots compagnons et applications de télésurveillance médicale</a:t>
            </a:r>
            <a:r>
              <a:rPr lang="fr-FR" dirty="0" smtClean="0"/>
              <a:t>.</a:t>
            </a:r>
            <a:r>
              <a:rPr lang="fr-FR" dirty="0"/>
              <a:t> </a:t>
            </a:r>
          </a:p>
          <a:p>
            <a:r>
              <a:rPr lang="fr-FR" dirty="0"/>
              <a:t>Transition énergétique → IA pour optimiser la consommation d’électricité des foyers</a:t>
            </a:r>
            <a:r>
              <a:rPr lang="fr-FR" dirty="0" smtClean="0"/>
              <a:t>.</a:t>
            </a:r>
            <a:endParaRPr lang="fr-FR" dirty="0"/>
          </a:p>
          <a:p>
            <a:r>
              <a:rPr lang="fr-FR" dirty="0"/>
              <a:t>Urbanisation → IA pour la gestion du trafic et des transports publics.</a:t>
            </a:r>
          </a:p>
          <a:p>
            <a:pPr marL="0" indent="0">
              <a:buNone/>
            </a:pPr>
            <a:r>
              <a:rPr lang="fr-FR" dirty="0"/>
              <a:t> </a:t>
            </a:r>
          </a:p>
          <a:p>
            <a:endParaRPr lang="fr-FR" dirty="0"/>
          </a:p>
        </p:txBody>
      </p:sp>
    </p:spTree>
    <p:extLst>
      <p:ext uri="{BB962C8B-B14F-4D97-AF65-F5344CB8AC3E}">
        <p14:creationId xmlns:p14="http://schemas.microsoft.com/office/powerpoint/2010/main" val="274572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pPr marL="0" indent="0">
              <a:buNone/>
            </a:pPr>
            <a:r>
              <a:rPr lang="fr-FR" dirty="0"/>
              <a:t>e) Observation d’autres marchés (benchmark international</a:t>
            </a:r>
            <a:r>
              <a:rPr lang="fr-FR" dirty="0" smtClean="0"/>
              <a:t>)</a:t>
            </a:r>
            <a:endParaRPr lang="fr-FR" dirty="0"/>
          </a:p>
          <a:p>
            <a:r>
              <a:rPr lang="fr-FR" dirty="0"/>
              <a:t>S’inspirer d’innovations à l’étranger et les adapter au contexte </a:t>
            </a:r>
            <a:r>
              <a:rPr lang="fr-FR" dirty="0" smtClean="0"/>
              <a:t>local.</a:t>
            </a:r>
            <a:endParaRPr lang="fr-FR" dirty="0"/>
          </a:p>
          <a:p>
            <a:pPr marL="0" indent="0">
              <a:buNone/>
            </a:pPr>
            <a:r>
              <a:rPr lang="fr-FR" dirty="0" smtClean="0"/>
              <a:t>Exemple </a:t>
            </a:r>
            <a:r>
              <a:rPr lang="fr-FR" dirty="0"/>
              <a:t>(IA) </a:t>
            </a:r>
            <a:r>
              <a:rPr lang="fr-FR" dirty="0" smtClean="0"/>
              <a:t>:</a:t>
            </a:r>
            <a:endParaRPr lang="fr-FR" dirty="0"/>
          </a:p>
          <a:p>
            <a:r>
              <a:rPr lang="fr-FR" dirty="0"/>
              <a:t>En Chine, IA utilisée dans la logistique (livraison autonome par robots). → Opportunité en Algérie pour la livraison dans les campus universitaires</a:t>
            </a:r>
            <a:r>
              <a:rPr lang="fr-FR" dirty="0" smtClean="0"/>
              <a:t>.</a:t>
            </a:r>
            <a:endParaRPr lang="fr-FR" dirty="0"/>
          </a:p>
          <a:p>
            <a:r>
              <a:rPr lang="fr-FR" dirty="0"/>
              <a:t>Aux États-Unis, applications de santé connectée (ex. </a:t>
            </a:r>
            <a:r>
              <a:rPr lang="fr-FR" dirty="0" err="1"/>
              <a:t>Fitbit</a:t>
            </a:r>
            <a:r>
              <a:rPr lang="fr-FR" dirty="0"/>
              <a:t>, Apple </a:t>
            </a:r>
            <a:r>
              <a:rPr lang="fr-FR" dirty="0" err="1"/>
              <a:t>Health</a:t>
            </a:r>
            <a:r>
              <a:rPr lang="fr-FR" dirty="0"/>
              <a:t>). → Adapter ce modèle au suivi des maladies chroniques en Algérie</a:t>
            </a:r>
            <a:r>
              <a:rPr lang="fr-FR" dirty="0" smtClean="0"/>
              <a:t>.</a:t>
            </a:r>
            <a:endParaRPr lang="fr-FR" dirty="0"/>
          </a:p>
        </p:txBody>
      </p:sp>
    </p:spTree>
    <p:extLst>
      <p:ext uri="{BB962C8B-B14F-4D97-AF65-F5344CB8AC3E}">
        <p14:creationId xmlns:p14="http://schemas.microsoft.com/office/powerpoint/2010/main" val="1795113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7924800" cy="552213"/>
          </a:xfrm>
        </p:spPr>
        <p:txBody>
          <a:bodyPr/>
          <a:lstStyle/>
          <a:p>
            <a:r>
              <a:rPr lang="fr-FR" sz="3200" dirty="0"/>
              <a:t>3. De l’idée à </a:t>
            </a:r>
            <a:r>
              <a:rPr lang="fr-FR" sz="3200" dirty="0" smtClean="0"/>
              <a:t>l’opportunité</a:t>
            </a:r>
            <a:endParaRPr lang="fr-FR" dirty="0"/>
          </a:p>
        </p:txBody>
      </p:sp>
      <p:sp>
        <p:nvSpPr>
          <p:cNvPr id="3" name="Espace réservé du contenu 2"/>
          <p:cNvSpPr>
            <a:spLocks noGrp="1"/>
          </p:cNvSpPr>
          <p:nvPr>
            <p:ph sz="quarter" idx="13"/>
          </p:nvPr>
        </p:nvSpPr>
        <p:spPr>
          <a:xfrm>
            <a:off x="539552" y="836712"/>
            <a:ext cx="7924800" cy="4114800"/>
          </a:xfrm>
        </p:spPr>
        <p:txBody>
          <a:bodyPr>
            <a:noAutofit/>
          </a:bodyPr>
          <a:lstStyle/>
          <a:p>
            <a:pPr marL="0" indent="0">
              <a:buNone/>
            </a:pPr>
            <a:r>
              <a:rPr lang="fr-FR" sz="1600" dirty="0" smtClean="0"/>
              <a:t>👉   Une </a:t>
            </a:r>
            <a:r>
              <a:rPr lang="fr-FR" sz="1600" dirty="0"/>
              <a:t>idée devient une opportunité entrepreneuriale lorsqu’elle </a:t>
            </a:r>
            <a:r>
              <a:rPr lang="fr-FR" sz="1600" dirty="0" smtClean="0"/>
              <a:t>:</a:t>
            </a:r>
            <a:r>
              <a:rPr lang="fr-FR" sz="1600" dirty="0"/>
              <a:t> </a:t>
            </a:r>
          </a:p>
          <a:p>
            <a:pPr marL="0" indent="0">
              <a:buNone/>
            </a:pPr>
            <a:r>
              <a:rPr lang="fr-FR" sz="1600" dirty="0"/>
              <a:t>1. Répond à un besoin réel ou résout un problème</a:t>
            </a:r>
            <a:r>
              <a:rPr lang="fr-FR" sz="1600" dirty="0" smtClean="0"/>
              <a:t>.</a:t>
            </a:r>
            <a:endParaRPr lang="fr-FR" sz="1600" dirty="0"/>
          </a:p>
          <a:p>
            <a:pPr marL="0" indent="0">
              <a:buNone/>
            </a:pPr>
            <a:r>
              <a:rPr lang="fr-FR" sz="1600" dirty="0"/>
              <a:t>2. Dispose d’un marché identifiable (clients potentiels</a:t>
            </a:r>
            <a:r>
              <a:rPr lang="fr-FR" sz="1600" dirty="0" smtClean="0"/>
              <a:t>).</a:t>
            </a:r>
            <a:endParaRPr lang="fr-FR" sz="1600" dirty="0"/>
          </a:p>
          <a:p>
            <a:pPr marL="0" indent="0">
              <a:buNone/>
            </a:pPr>
            <a:r>
              <a:rPr lang="fr-FR" sz="1600" dirty="0"/>
              <a:t>3. Est techniquement faisable avec les ressources disponibles</a:t>
            </a:r>
            <a:r>
              <a:rPr lang="fr-FR" sz="1600" dirty="0" smtClean="0"/>
              <a:t>.</a:t>
            </a:r>
            <a:endParaRPr lang="fr-FR" sz="1600" dirty="0"/>
          </a:p>
          <a:p>
            <a:pPr marL="0" indent="0">
              <a:buNone/>
            </a:pPr>
            <a:r>
              <a:rPr lang="fr-FR" sz="1600" dirty="0"/>
              <a:t>4. Peut créer de la valeur (économique, sociale ou technologique</a:t>
            </a:r>
            <a:r>
              <a:rPr lang="fr-FR" sz="1600" dirty="0" smtClean="0"/>
              <a:t>).</a:t>
            </a:r>
            <a:endParaRPr lang="fr-FR" sz="1600" dirty="0"/>
          </a:p>
          <a:p>
            <a:pPr marL="0" indent="0">
              <a:buNone/>
            </a:pPr>
            <a:r>
              <a:rPr lang="fr-FR" sz="1600" b="1" dirty="0"/>
              <a:t>Exemple simple </a:t>
            </a:r>
            <a:r>
              <a:rPr lang="fr-FR" sz="1600" b="1" dirty="0" smtClean="0"/>
              <a:t>:</a:t>
            </a:r>
            <a:endParaRPr lang="fr-FR" sz="1600" b="1" dirty="0"/>
          </a:p>
          <a:p>
            <a:r>
              <a:rPr lang="fr-FR" sz="1600" dirty="0"/>
              <a:t>Idée brute : “Créer un robot serveur de café</a:t>
            </a:r>
            <a:r>
              <a:rPr lang="fr-FR" sz="1600" dirty="0" smtClean="0"/>
              <a:t>.”</a:t>
            </a:r>
            <a:endParaRPr lang="fr-FR" sz="1600" dirty="0"/>
          </a:p>
          <a:p>
            <a:r>
              <a:rPr lang="fr-FR" sz="1600" dirty="0"/>
              <a:t>Opportunité : oui, si le contexte est une grande ville avec une culture de cafés modernes et une clientèle prête à payer pour une expérience innovante</a:t>
            </a:r>
            <a:r>
              <a:rPr lang="fr-FR" sz="1600" dirty="0" smtClean="0"/>
              <a:t>.</a:t>
            </a:r>
            <a:endParaRPr lang="fr-FR" sz="1600" dirty="0"/>
          </a:p>
          <a:p>
            <a:r>
              <a:rPr lang="fr-FR" sz="1600" dirty="0"/>
              <a:t>Non, si c’est un petit village où le besoin n’existe pas et le coût est trop élevé</a:t>
            </a:r>
            <a:r>
              <a:rPr lang="fr-FR" sz="1600" dirty="0" smtClean="0"/>
              <a:t>.</a:t>
            </a:r>
            <a:endParaRPr lang="fr-FR" sz="1600" dirty="0"/>
          </a:p>
          <a:p>
            <a:pPr marL="0" indent="0">
              <a:buNone/>
            </a:pPr>
            <a:r>
              <a:rPr lang="fr-FR" sz="1600" b="1" dirty="0" smtClean="0"/>
              <a:t>Exemples </a:t>
            </a:r>
            <a:r>
              <a:rPr lang="fr-FR" sz="1600" b="1" dirty="0"/>
              <a:t>concrets liés à </a:t>
            </a:r>
            <a:r>
              <a:rPr lang="fr-FR" sz="1600" b="1" dirty="0" smtClean="0"/>
              <a:t>l’IA</a:t>
            </a:r>
            <a:endParaRPr lang="fr-FR" sz="1600" b="1" dirty="0"/>
          </a:p>
          <a:p>
            <a:r>
              <a:rPr lang="fr-FR" sz="1600" dirty="0"/>
              <a:t>Santé : IA pour la détection précoce du cancer à partir d’imageries médicales</a:t>
            </a:r>
            <a:r>
              <a:rPr lang="fr-FR" sz="1600" dirty="0" smtClean="0"/>
              <a:t>.</a:t>
            </a:r>
            <a:endParaRPr lang="fr-FR" sz="1600" dirty="0"/>
          </a:p>
          <a:p>
            <a:r>
              <a:rPr lang="fr-FR" sz="1600" dirty="0"/>
              <a:t>Agriculture intelligente : drones avec IA pour détecter les zones de culture mal irriguées</a:t>
            </a:r>
            <a:r>
              <a:rPr lang="fr-FR" sz="1600" dirty="0" smtClean="0"/>
              <a:t>.</a:t>
            </a:r>
            <a:endParaRPr lang="fr-FR" sz="1600" dirty="0"/>
          </a:p>
          <a:p>
            <a:r>
              <a:rPr lang="fr-FR" sz="1600" dirty="0"/>
              <a:t>Éducation numérique : tutorat intelligent qui adapte le contenu pédagogique au rythme de chaque étudiant</a:t>
            </a:r>
            <a:r>
              <a:rPr lang="fr-FR" sz="1600" dirty="0" smtClean="0"/>
              <a:t>.</a:t>
            </a:r>
            <a:r>
              <a:rPr lang="fr-FR" sz="1600" dirty="0"/>
              <a:t> </a:t>
            </a:r>
          </a:p>
          <a:p>
            <a:r>
              <a:rPr lang="fr-FR" sz="1600" dirty="0"/>
              <a:t>E-commerce : IA qui recommande des produits personnalisés (comme Amazon, mais adaptée au marché algérien).</a:t>
            </a:r>
          </a:p>
          <a:p>
            <a:endParaRPr lang="fr-FR" sz="1600" dirty="0"/>
          </a:p>
        </p:txBody>
      </p:sp>
    </p:spTree>
    <p:extLst>
      <p:ext uri="{BB962C8B-B14F-4D97-AF65-F5344CB8AC3E}">
        <p14:creationId xmlns:p14="http://schemas.microsoft.com/office/powerpoint/2010/main" val="236467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4374232"/>
            <a:ext cx="7924800" cy="1143000"/>
          </a:xfrm>
        </p:spPr>
        <p:txBody>
          <a:bodyPr/>
          <a:lstStyle/>
          <a:p>
            <a:pPr algn="just"/>
            <a:r>
              <a:rPr lang="fr-FR" dirty="0"/>
              <a:t>« Les idées entrepreneuriales naissent partout : dans un besoin, un problème, un changement ou une innovation. Mais pour transformer une idée en projet viable, il faut vérifier qu’elle répond à un vrai besoin, qu’elle a un marché et qu’elle peut créer de la valeur. »</a:t>
            </a:r>
            <a:br>
              <a:rPr lang="fr-FR" dirty="0"/>
            </a:br>
            <a:r>
              <a:rPr lang="fr-FR" dirty="0"/>
              <a:t> </a:t>
            </a:r>
            <a:br>
              <a:rPr lang="fr-FR" dirty="0"/>
            </a:br>
            <a:endParaRPr lang="fr-FR" dirty="0"/>
          </a:p>
        </p:txBody>
      </p:sp>
    </p:spTree>
    <p:extLst>
      <p:ext uri="{BB962C8B-B14F-4D97-AF65-F5344CB8AC3E}">
        <p14:creationId xmlns:p14="http://schemas.microsoft.com/office/powerpoint/2010/main" val="2236482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L’importance de l’Entrepreneuriat</a:t>
            </a:r>
            <a:br>
              <a:rPr lang="fr-FR" dirty="0"/>
            </a:br>
            <a:endParaRPr lang="fr-FR" dirty="0"/>
          </a:p>
        </p:txBody>
      </p:sp>
      <p:sp>
        <p:nvSpPr>
          <p:cNvPr id="3" name="Espace réservé du contenu 2"/>
          <p:cNvSpPr>
            <a:spLocks noGrp="1"/>
          </p:cNvSpPr>
          <p:nvPr>
            <p:ph sz="quarter" idx="13"/>
          </p:nvPr>
        </p:nvSpPr>
        <p:spPr>
          <a:xfrm>
            <a:off x="467544" y="1196752"/>
            <a:ext cx="8066856" cy="4518248"/>
          </a:xfrm>
        </p:spPr>
        <p:txBody>
          <a:bodyPr>
            <a:noAutofit/>
          </a:bodyPr>
          <a:lstStyle/>
          <a:p>
            <a:pPr marL="0" indent="0" algn="just">
              <a:buNone/>
            </a:pPr>
            <a:r>
              <a:rPr lang="fr-FR" sz="1600" dirty="0"/>
              <a:t> </a:t>
            </a:r>
            <a:r>
              <a:rPr lang="fr-FR" sz="1600" dirty="0" smtClean="0"/>
              <a:t>1</a:t>
            </a:r>
            <a:r>
              <a:rPr lang="fr-FR" sz="1600" dirty="0"/>
              <a:t>. Au niveau économique</a:t>
            </a:r>
          </a:p>
          <a:p>
            <a:pPr marL="0" indent="0" algn="just">
              <a:buNone/>
            </a:pPr>
            <a:r>
              <a:rPr lang="fr-FR" sz="1600" dirty="0"/>
              <a:t> </a:t>
            </a:r>
          </a:p>
          <a:p>
            <a:pPr algn="just"/>
            <a:r>
              <a:rPr lang="fr-FR" sz="1600" dirty="0"/>
              <a:t>Création d’emplois : les start-up et PME sont les principaux pourvoyeurs d’emplois dans le monde</a:t>
            </a:r>
            <a:r>
              <a:rPr lang="fr-FR" sz="1600" dirty="0" smtClean="0"/>
              <a:t>.</a:t>
            </a:r>
            <a:r>
              <a:rPr lang="fr-FR" sz="1600" dirty="0"/>
              <a:t> </a:t>
            </a:r>
          </a:p>
          <a:p>
            <a:pPr algn="just"/>
            <a:r>
              <a:rPr lang="fr-FR" sz="1600" dirty="0"/>
              <a:t>Croissance économique : les nouvelles entreprises génèrent de la richesse et dynamisent les marchés</a:t>
            </a:r>
            <a:r>
              <a:rPr lang="fr-FR" sz="1600" dirty="0" smtClean="0"/>
              <a:t>.</a:t>
            </a:r>
            <a:r>
              <a:rPr lang="fr-FR" sz="1600" dirty="0"/>
              <a:t> </a:t>
            </a:r>
          </a:p>
          <a:p>
            <a:pPr algn="just"/>
            <a:r>
              <a:rPr lang="fr-FR" sz="1600" dirty="0"/>
              <a:t>Diversification économique : en Algérie par exemple, l’entrepreneuriat contribue à réduire la dépendance aux hydrocarbures.</a:t>
            </a:r>
          </a:p>
          <a:p>
            <a:pPr marL="0" indent="0" algn="just">
              <a:buNone/>
            </a:pPr>
            <a:endParaRPr lang="fr-FR" sz="1600" dirty="0"/>
          </a:p>
          <a:p>
            <a:pPr marL="0" indent="0" algn="just">
              <a:buNone/>
            </a:pPr>
            <a:r>
              <a:rPr lang="fr-FR" sz="1600" dirty="0" smtClean="0"/>
              <a:t>2</a:t>
            </a:r>
            <a:r>
              <a:rPr lang="fr-FR" sz="1600" dirty="0"/>
              <a:t>. Au niveau </a:t>
            </a:r>
            <a:r>
              <a:rPr lang="fr-FR" sz="1600" dirty="0" smtClean="0"/>
              <a:t>technologique</a:t>
            </a:r>
          </a:p>
          <a:p>
            <a:pPr marL="0" indent="0" algn="just">
              <a:buNone/>
            </a:pPr>
            <a:endParaRPr lang="fr-FR" sz="1600" dirty="0"/>
          </a:p>
          <a:p>
            <a:pPr algn="just"/>
            <a:r>
              <a:rPr lang="fr-FR" sz="1600" dirty="0"/>
              <a:t>Innovation : les entrepreneurs transforment des découvertes scientifiques et techniques en produits/services concrets</a:t>
            </a:r>
            <a:r>
              <a:rPr lang="fr-FR" sz="1600" dirty="0" smtClean="0"/>
              <a:t>.</a:t>
            </a:r>
            <a:endParaRPr lang="fr-FR" sz="1600" dirty="0"/>
          </a:p>
          <a:p>
            <a:pPr algn="just"/>
            <a:r>
              <a:rPr lang="fr-FR" sz="1600" dirty="0"/>
              <a:t>Diffusion des technologies : l’IA, le numérique, les biotechnologies deviennent accessibles grâce aux entrepreneurs</a:t>
            </a:r>
            <a:r>
              <a:rPr lang="fr-FR" sz="1600" dirty="0" smtClean="0"/>
              <a:t>.</a:t>
            </a:r>
            <a:endParaRPr lang="fr-FR" sz="1600" dirty="0"/>
          </a:p>
          <a:p>
            <a:pPr algn="just"/>
            <a:r>
              <a:rPr lang="fr-FR" sz="1600" dirty="0"/>
              <a:t>Compétitivité : les pays qui encouragent l’entrepreneuriat technologique sont en avance dans l’économie mondiale</a:t>
            </a:r>
            <a:r>
              <a:rPr lang="fr-FR" sz="1600" dirty="0" smtClean="0"/>
              <a:t>.</a:t>
            </a:r>
            <a:endParaRPr lang="fr-FR" sz="1600" dirty="0"/>
          </a:p>
        </p:txBody>
      </p:sp>
    </p:spTree>
    <p:extLst>
      <p:ext uri="{BB962C8B-B14F-4D97-AF65-F5344CB8AC3E}">
        <p14:creationId xmlns:p14="http://schemas.microsoft.com/office/powerpoint/2010/main" val="663899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539552" y="1052736"/>
            <a:ext cx="7924800" cy="4114800"/>
          </a:xfrm>
        </p:spPr>
        <p:txBody>
          <a:bodyPr>
            <a:noAutofit/>
          </a:bodyPr>
          <a:lstStyle/>
          <a:p>
            <a:pPr marL="0" indent="0">
              <a:buNone/>
            </a:pPr>
            <a:r>
              <a:rPr lang="fr-FR" sz="1600" dirty="0"/>
              <a:t> 3. Au niveau social et sociétal</a:t>
            </a:r>
          </a:p>
          <a:p>
            <a:pPr marL="0" indent="0">
              <a:buNone/>
            </a:pPr>
            <a:endParaRPr lang="fr-FR" sz="1600" dirty="0"/>
          </a:p>
          <a:p>
            <a:r>
              <a:rPr lang="fr-FR" sz="1600" dirty="0"/>
              <a:t>Résolution de problèmes sociaux : santé, éducation, environnement, mobilité</a:t>
            </a:r>
            <a:r>
              <a:rPr lang="fr-FR" sz="1600" dirty="0" smtClean="0"/>
              <a:t>…</a:t>
            </a:r>
            <a:endParaRPr lang="fr-FR" sz="1600" dirty="0"/>
          </a:p>
          <a:p>
            <a:r>
              <a:rPr lang="fr-FR" sz="1600" dirty="0"/>
              <a:t>Entrepreneuriat social : les projets ne cherchent pas seulement le profit mais aussi un impact social positif</a:t>
            </a:r>
            <a:r>
              <a:rPr lang="fr-FR" sz="1600" dirty="0" smtClean="0"/>
              <a:t>.</a:t>
            </a:r>
            <a:endParaRPr lang="fr-FR" sz="1600" dirty="0"/>
          </a:p>
          <a:p>
            <a:r>
              <a:rPr lang="fr-FR" sz="1600" dirty="0"/>
              <a:t>Inclusion : l’entrepreneuriat permet à des jeunes, femmes, ou populations défavorisées de créer leur propre voie.</a:t>
            </a:r>
          </a:p>
          <a:p>
            <a:pPr marL="0" indent="0">
              <a:buNone/>
            </a:pPr>
            <a:r>
              <a:rPr lang="fr-FR" sz="1600" dirty="0"/>
              <a:t> </a:t>
            </a:r>
          </a:p>
          <a:p>
            <a:pPr marL="0" indent="0">
              <a:buNone/>
            </a:pPr>
            <a:r>
              <a:rPr lang="fr-FR" sz="1600" dirty="0" smtClean="0"/>
              <a:t>4</a:t>
            </a:r>
            <a:r>
              <a:rPr lang="fr-FR" sz="1600" dirty="0"/>
              <a:t>. Pour l’étudiant et le futur ingénieur en </a:t>
            </a:r>
            <a:r>
              <a:rPr lang="fr-FR" sz="1600" dirty="0" smtClean="0"/>
              <a:t>IA</a:t>
            </a:r>
          </a:p>
          <a:p>
            <a:pPr marL="0" indent="0">
              <a:buNone/>
            </a:pPr>
            <a:endParaRPr lang="fr-FR" sz="1600" dirty="0"/>
          </a:p>
          <a:p>
            <a:r>
              <a:rPr lang="fr-FR" sz="1600" dirty="0"/>
              <a:t>Mettre en valeur leurs compétences : au lieu de rester salariés, ils peuvent créer leurs propres solutions</a:t>
            </a:r>
            <a:r>
              <a:rPr lang="fr-FR" sz="1600" dirty="0" smtClean="0"/>
              <a:t>.</a:t>
            </a:r>
            <a:endParaRPr lang="fr-FR" sz="1600" dirty="0"/>
          </a:p>
          <a:p>
            <a:r>
              <a:rPr lang="fr-FR" sz="1600" dirty="0"/>
              <a:t>Développer des soft </a:t>
            </a:r>
            <a:r>
              <a:rPr lang="fr-FR" sz="1600" dirty="0" err="1"/>
              <a:t>skills</a:t>
            </a:r>
            <a:r>
              <a:rPr lang="fr-FR" sz="1600" dirty="0"/>
              <a:t> : créativité, leadership, gestion de projet, communication</a:t>
            </a:r>
            <a:r>
              <a:rPr lang="fr-FR" sz="1600" dirty="0" smtClean="0"/>
              <a:t>.</a:t>
            </a:r>
            <a:endParaRPr lang="fr-FR" sz="1600" dirty="0"/>
          </a:p>
          <a:p>
            <a:r>
              <a:rPr lang="fr-FR" sz="1600" dirty="0"/>
              <a:t>Accéder à des opportunités : incubation, financement, partenariats internationaux</a:t>
            </a:r>
            <a:r>
              <a:rPr lang="fr-FR" sz="1600" dirty="0" smtClean="0"/>
              <a:t>.</a:t>
            </a:r>
            <a:endParaRPr lang="fr-FR" sz="1600" dirty="0"/>
          </a:p>
          <a:p>
            <a:r>
              <a:rPr lang="fr-FR" sz="1600" dirty="0"/>
              <a:t>Être acteur du changement : utiliser l’IA pour résoudre des problèmes locaux (santé, agriculture, transport, administration).</a:t>
            </a:r>
          </a:p>
          <a:p>
            <a:endParaRPr lang="fr-FR" sz="1600" dirty="0"/>
          </a:p>
          <a:p>
            <a:endParaRPr lang="fr-FR" sz="1600" dirty="0"/>
          </a:p>
        </p:txBody>
      </p:sp>
    </p:spTree>
    <p:extLst>
      <p:ext uri="{BB962C8B-B14F-4D97-AF65-F5344CB8AC3E}">
        <p14:creationId xmlns:p14="http://schemas.microsoft.com/office/powerpoint/2010/main" val="4190582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pPr algn="ctr"/>
            <a:r>
              <a:rPr lang="fr-FR" sz="4800" dirty="0" smtClean="0"/>
              <a:t>Pour vous, qu’est-ce qu’un entrepreneur?</a:t>
            </a:r>
            <a:endParaRPr lang="fr-FR" sz="4800" dirty="0"/>
          </a:p>
        </p:txBody>
      </p:sp>
    </p:spTree>
    <p:extLst>
      <p:ext uri="{BB962C8B-B14F-4D97-AF65-F5344CB8AC3E}">
        <p14:creationId xmlns:p14="http://schemas.microsoft.com/office/powerpoint/2010/main" val="675230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L’entrepreneur</a:t>
            </a:r>
            <a:endParaRPr lang="fr-FR" dirty="0">
              <a:solidFill>
                <a:srgbClr val="FFC000"/>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1619250"/>
            <a:ext cx="51054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5098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Jan Ko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sp>
        <p:nvSpPr>
          <p:cNvPr id="3" name="AutoShape 4" descr="Jan Kou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836712"/>
            <a:ext cx="3816424" cy="383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7816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99555"/>
            <a:ext cx="3568676" cy="307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1228725"/>
            <a:ext cx="5572125"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descr="Facebook vie yksityisyyden — älä tee sitä liian helpoksi –  Kuningaskuluttaja – yle.f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111" y="980728"/>
            <a:ext cx="8172391" cy="4576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93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descr="Inspiring Success Story of Jan Koum - WhatsApp! – The name is enough to  interest you."/>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pic>
        <p:nvPicPr>
          <p:cNvPr id="205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877" y="980728"/>
            <a:ext cx="8724611"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descr="Définition | Facebook - FB - TheFacebo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8067" y="1196752"/>
            <a:ext cx="5067647" cy="337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2047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L’entrepreneur</a:t>
            </a:r>
            <a:endParaRPr lang="fr-FR" dirty="0">
              <a:solidFill>
                <a:srgbClr val="FFC00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770" y="1700808"/>
            <a:ext cx="8383694" cy="3645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2767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539552" y="476672"/>
            <a:ext cx="7924800" cy="4114800"/>
          </a:xfrm>
        </p:spPr>
        <p:txBody>
          <a:bodyPr>
            <a:noAutofit/>
          </a:bodyPr>
          <a:lstStyle/>
          <a:p>
            <a:pPr algn="ctr"/>
            <a:r>
              <a:rPr lang="fr-FR" sz="2800" dirty="0"/>
              <a:t>Un entrepreneur est une personne qui identifie une opportunité, conçoit une idée de projet, mobilise des ressources et prend des risques pour créer, développer et gérer une activité (entreprise, start-up, organisation ou projet innovant) afin de générer de la valeur (économique, sociale, technologique ou culturelle</a:t>
            </a:r>
            <a:r>
              <a:rPr lang="fr-FR" sz="2800" dirty="0" smtClean="0"/>
              <a:t>).</a:t>
            </a:r>
          </a:p>
          <a:p>
            <a:pPr algn="ctr"/>
            <a:endParaRPr lang="fr-FR" sz="2800" dirty="0"/>
          </a:p>
          <a:p>
            <a:pPr algn="ctr"/>
            <a:endParaRPr lang="fr-FR" sz="2800" dirty="0" smtClean="0"/>
          </a:p>
          <a:p>
            <a:pPr algn="ctr"/>
            <a:r>
              <a:rPr lang="fr-FR" sz="2800" dirty="0"/>
              <a:t>“C’est quelqu’un qui transforme une idée en action et une opportunité en projet réel.”</a:t>
            </a:r>
            <a:endParaRPr lang="fr-FR" sz="3200" dirty="0"/>
          </a:p>
          <a:p>
            <a:pPr algn="ctr"/>
            <a:endParaRPr lang="fr-FR" sz="2800" dirty="0"/>
          </a:p>
        </p:txBody>
      </p:sp>
    </p:spTree>
    <p:extLst>
      <p:ext uri="{BB962C8B-B14F-4D97-AF65-F5344CB8AC3E}">
        <p14:creationId xmlns:p14="http://schemas.microsoft.com/office/powerpoint/2010/main" val="6752304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404664"/>
            <a:ext cx="8066856" cy="724942"/>
          </a:xfrm>
        </p:spPr>
        <p:txBody>
          <a:bodyPr/>
          <a:lstStyle/>
          <a:p>
            <a:r>
              <a:rPr lang="fr-FR" dirty="0" smtClean="0"/>
              <a:t>Autres définitions </a:t>
            </a:r>
            <a:endParaRPr lang="fr-FR" dirty="0"/>
          </a:p>
        </p:txBody>
      </p:sp>
      <p:sp>
        <p:nvSpPr>
          <p:cNvPr id="3" name="Espace réservé du contenu 2"/>
          <p:cNvSpPr>
            <a:spLocks noGrp="1"/>
          </p:cNvSpPr>
          <p:nvPr>
            <p:ph sz="quarter" idx="13"/>
          </p:nvPr>
        </p:nvSpPr>
        <p:spPr/>
        <p:txBody>
          <a:bodyPr>
            <a:normAutofit/>
          </a:bodyPr>
          <a:lstStyle/>
          <a:p>
            <a:pPr algn="just"/>
            <a:r>
              <a:rPr lang="fr-FR" sz="2000" dirty="0"/>
              <a:t>Schumpeter (1935) : « L’entrepreneur est un innovateur qui introduit de nouveaux produits, de nouvelles méthodes de production ou de nouveaux marchés. »</a:t>
            </a:r>
          </a:p>
          <a:p>
            <a:pPr algn="just"/>
            <a:endParaRPr lang="fr-FR" sz="2000" dirty="0"/>
          </a:p>
          <a:p>
            <a:pPr algn="just"/>
            <a:r>
              <a:rPr lang="fr-FR" sz="2000" dirty="0"/>
              <a:t>Peter Drucker : « L’entrepreneur recherche le changement, y répond et l’exploite comme une opportunité. »</a:t>
            </a:r>
          </a:p>
          <a:p>
            <a:pPr algn="just"/>
            <a:endParaRPr lang="fr-FR" sz="2000" dirty="0"/>
          </a:p>
        </p:txBody>
      </p:sp>
    </p:spTree>
    <p:extLst>
      <p:ext uri="{BB962C8B-B14F-4D97-AF65-F5344CB8AC3E}">
        <p14:creationId xmlns:p14="http://schemas.microsoft.com/office/powerpoint/2010/main" val="33467656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 retenir </a:t>
            </a:r>
            <a:endParaRPr lang="fr-FR" dirty="0"/>
          </a:p>
        </p:txBody>
      </p:sp>
      <p:sp>
        <p:nvSpPr>
          <p:cNvPr id="3" name="Espace réservé du contenu 2"/>
          <p:cNvSpPr>
            <a:spLocks noGrp="1"/>
          </p:cNvSpPr>
          <p:nvPr>
            <p:ph sz="quarter" idx="13"/>
          </p:nvPr>
        </p:nvSpPr>
        <p:spPr/>
        <p:txBody>
          <a:bodyPr>
            <a:normAutofit/>
          </a:bodyPr>
          <a:lstStyle/>
          <a:p>
            <a:pPr algn="just"/>
            <a:r>
              <a:rPr lang="fr-FR" sz="4000" dirty="0"/>
              <a:t>L’entrepreneur n’est pas seulement celui qui crée une entreprise, mais celui qui crée de la valeur nouvelle.</a:t>
            </a:r>
            <a:endParaRPr lang="fr-FR" sz="4000" dirty="0"/>
          </a:p>
        </p:txBody>
      </p:sp>
    </p:spTree>
    <p:extLst>
      <p:ext uri="{BB962C8B-B14F-4D97-AF65-F5344CB8AC3E}">
        <p14:creationId xmlns:p14="http://schemas.microsoft.com/office/powerpoint/2010/main" val="17556869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88640"/>
            <a:ext cx="8138864" cy="1228998"/>
          </a:xfrm>
        </p:spPr>
        <p:txBody>
          <a:bodyPr/>
          <a:lstStyle/>
          <a:p>
            <a:r>
              <a:rPr lang="fr-FR" sz="2000" b="1" dirty="0"/>
              <a:t>« Un entrepreneur, c’est quelqu’un qui transforme une idée en projet concret, et un projet en valeur pour les autres. » </a:t>
            </a:r>
            <a:br>
              <a:rPr lang="fr-FR" sz="2000" b="1" dirty="0"/>
            </a:br>
            <a:endParaRPr lang="fr-FR" sz="2000" b="1" dirty="0"/>
          </a:p>
        </p:txBody>
      </p:sp>
      <p:sp>
        <p:nvSpPr>
          <p:cNvPr id="3" name="Espace réservé du contenu 2"/>
          <p:cNvSpPr>
            <a:spLocks noGrp="1"/>
          </p:cNvSpPr>
          <p:nvPr>
            <p:ph sz="quarter" idx="13"/>
          </p:nvPr>
        </p:nvSpPr>
        <p:spPr/>
        <p:txBody>
          <a:bodyPr>
            <a:normAutofit/>
          </a:bodyPr>
          <a:lstStyle/>
          <a:p>
            <a:pPr marL="0" indent="0">
              <a:buNone/>
            </a:pPr>
            <a:r>
              <a:rPr lang="fr-FR" sz="2000" dirty="0" smtClean="0"/>
              <a:t>⚡ </a:t>
            </a:r>
            <a:r>
              <a:rPr lang="fr-FR" sz="2000" dirty="0"/>
              <a:t>Exemple lié à l’IA </a:t>
            </a:r>
            <a:r>
              <a:rPr lang="fr-FR" sz="2000" dirty="0" smtClean="0"/>
              <a:t>:</a:t>
            </a:r>
            <a:endParaRPr lang="fr-FR" sz="2000" dirty="0"/>
          </a:p>
          <a:p>
            <a:endParaRPr lang="fr-FR" sz="2000" dirty="0"/>
          </a:p>
          <a:p>
            <a:r>
              <a:rPr lang="fr-FR" sz="2000" dirty="0" err="1"/>
              <a:t>Elon</a:t>
            </a:r>
            <a:r>
              <a:rPr lang="fr-FR" sz="2000" dirty="0"/>
              <a:t> </a:t>
            </a:r>
            <a:r>
              <a:rPr lang="fr-FR" sz="2000" dirty="0" err="1"/>
              <a:t>Musk</a:t>
            </a:r>
            <a:r>
              <a:rPr lang="fr-FR" sz="2000" dirty="0"/>
              <a:t> avec </a:t>
            </a:r>
            <a:r>
              <a:rPr lang="fr-FR" sz="2000" dirty="0" err="1"/>
              <a:t>OpenAI</a:t>
            </a:r>
            <a:r>
              <a:rPr lang="fr-FR" sz="2000" dirty="0"/>
              <a:t> : il a vu l’opportunité de rendre l’intelligence artificielle plus accessible et sûre.</a:t>
            </a:r>
          </a:p>
          <a:p>
            <a:endParaRPr lang="fr-FR" sz="2000" dirty="0"/>
          </a:p>
          <a:p>
            <a:r>
              <a:rPr lang="fr-FR" sz="2000" dirty="0"/>
              <a:t>Un jeune ingénieur algérien qui crée une application d’IA pour la détection précoce de maladies : il est entrepreneur car il part d’une idée et mobilise ses compétences pour en faire un projet réel.</a:t>
            </a:r>
          </a:p>
          <a:p>
            <a:endParaRPr lang="fr-FR" sz="2000" dirty="0"/>
          </a:p>
        </p:txBody>
      </p:sp>
    </p:spTree>
    <p:extLst>
      <p:ext uri="{BB962C8B-B14F-4D97-AF65-F5344CB8AC3E}">
        <p14:creationId xmlns:p14="http://schemas.microsoft.com/office/powerpoint/2010/main" val="25400741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609600" y="764704"/>
            <a:ext cx="7924800" cy="4950296"/>
          </a:xfrm>
        </p:spPr>
        <p:txBody>
          <a:bodyPr>
            <a:noAutofit/>
          </a:bodyPr>
          <a:lstStyle/>
          <a:p>
            <a:pPr marL="0" indent="0">
              <a:buNone/>
            </a:pPr>
            <a:r>
              <a:rPr lang="fr-FR" sz="2000" dirty="0"/>
              <a:t>Caractéristiques essentielles d’un </a:t>
            </a:r>
            <a:r>
              <a:rPr lang="fr-FR" sz="2000" dirty="0" smtClean="0"/>
              <a:t>entrepreneur</a:t>
            </a:r>
          </a:p>
          <a:p>
            <a:endParaRPr lang="fr-FR" sz="2000" dirty="0"/>
          </a:p>
          <a:p>
            <a:endParaRPr lang="fr-FR" sz="2000" dirty="0"/>
          </a:p>
          <a:p>
            <a:r>
              <a:rPr lang="fr-FR" sz="2000" dirty="0"/>
              <a:t>1. Visionnaire : il perçoit des possibilités là où d’autres ne voient que des problèmes</a:t>
            </a:r>
            <a:r>
              <a:rPr lang="fr-FR" sz="2000" dirty="0" smtClean="0"/>
              <a:t>.</a:t>
            </a:r>
            <a:endParaRPr lang="fr-FR" sz="2000" dirty="0"/>
          </a:p>
          <a:p>
            <a:r>
              <a:rPr lang="fr-FR" sz="2000" dirty="0"/>
              <a:t>2. Innovateur : il apporte une nouveauté (produit, service, procédé, modèle économique</a:t>
            </a:r>
            <a:r>
              <a:rPr lang="fr-FR" sz="2000" dirty="0" smtClean="0"/>
              <a:t>).</a:t>
            </a:r>
            <a:endParaRPr lang="fr-FR" sz="2000" dirty="0"/>
          </a:p>
          <a:p>
            <a:r>
              <a:rPr lang="fr-FR" sz="2000" dirty="0"/>
              <a:t>3. Prise de risque : il accepte l’incertitude liée au succès ou à l’échec</a:t>
            </a:r>
            <a:r>
              <a:rPr lang="fr-FR" sz="2000" dirty="0" smtClean="0"/>
              <a:t>.</a:t>
            </a:r>
            <a:endParaRPr lang="fr-FR" sz="2000" dirty="0"/>
          </a:p>
          <a:p>
            <a:r>
              <a:rPr lang="fr-FR" sz="2000" dirty="0"/>
              <a:t>4. Mobilisateur : il sait réunir des personnes, des financements et des moyens</a:t>
            </a:r>
            <a:r>
              <a:rPr lang="fr-FR" sz="2000" dirty="0" smtClean="0"/>
              <a:t>.</a:t>
            </a:r>
            <a:r>
              <a:rPr lang="fr-FR" sz="2000" dirty="0"/>
              <a:t> </a:t>
            </a:r>
          </a:p>
          <a:p>
            <a:r>
              <a:rPr lang="fr-FR" sz="2000" dirty="0"/>
              <a:t>5. Créateur de valeur : son objectif n’est pas seulement de gagner de l’argent, mais d’apporter une valeur réelle aux utilisateurs/société.</a:t>
            </a:r>
          </a:p>
          <a:p>
            <a:pPr marL="0" indent="0">
              <a:buNone/>
            </a:pPr>
            <a:endParaRPr lang="fr-FR" sz="2000" dirty="0"/>
          </a:p>
          <a:p>
            <a:endParaRPr lang="fr-FR" sz="2000" dirty="0"/>
          </a:p>
        </p:txBody>
      </p:sp>
    </p:spTree>
    <p:extLst>
      <p:ext uri="{BB962C8B-B14F-4D97-AF65-F5344CB8AC3E}">
        <p14:creationId xmlns:p14="http://schemas.microsoft.com/office/powerpoint/2010/main" val="10709086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r>
              <a:rPr lang="fr-FR" sz="2800" dirty="0">
                <a:solidFill>
                  <a:srgbClr val="FFFF00"/>
                </a:solidFill>
              </a:rPr>
              <a:t>“Quelle est, selon vous, la qualité la plus importante d’un entrepreneur ? Pourquoi ?”</a:t>
            </a:r>
            <a:endParaRPr lang="fr-FR" sz="2800" dirty="0">
              <a:solidFill>
                <a:srgbClr val="FFFF00"/>
              </a:solidFill>
            </a:endParaRPr>
          </a:p>
        </p:txBody>
      </p:sp>
    </p:spTree>
    <p:extLst>
      <p:ext uri="{BB962C8B-B14F-4D97-AF65-F5344CB8AC3E}">
        <p14:creationId xmlns:p14="http://schemas.microsoft.com/office/powerpoint/2010/main" val="1080619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459432"/>
            <a:ext cx="7924800" cy="1143000"/>
          </a:xfrm>
        </p:spPr>
        <p:txBody>
          <a:bodyPr/>
          <a:lstStyle/>
          <a:p>
            <a:r>
              <a:rPr lang="fr-FR" sz="2400" dirty="0"/>
              <a:t>Différence entre Entrepreneur et Manager</a:t>
            </a:r>
            <a:endParaRPr lang="fr-FR" sz="2400" dirty="0"/>
          </a:p>
        </p:txBody>
      </p:sp>
      <p:graphicFrame>
        <p:nvGraphicFramePr>
          <p:cNvPr id="4" name="Espace réservé du contenu 3"/>
          <p:cNvGraphicFramePr>
            <a:graphicFrameLocks noGrp="1"/>
          </p:cNvGraphicFramePr>
          <p:nvPr>
            <p:ph sz="quarter" idx="13"/>
            <p:extLst>
              <p:ext uri="{D42A27DB-BD31-4B8C-83A1-F6EECF244321}">
                <p14:modId xmlns:p14="http://schemas.microsoft.com/office/powerpoint/2010/main" val="2801185771"/>
              </p:ext>
            </p:extLst>
          </p:nvPr>
        </p:nvGraphicFramePr>
        <p:xfrm>
          <a:off x="609600" y="836712"/>
          <a:ext cx="7850832" cy="4833708"/>
        </p:xfrm>
        <a:graphic>
          <a:graphicData uri="http://schemas.openxmlformats.org/drawingml/2006/table">
            <a:tbl>
              <a:tblPr firstRow="1" bandRow="1">
                <a:tableStyleId>{5C22544A-7EE6-4342-B048-85BDC9FD1C3A}</a:tableStyleId>
              </a:tblPr>
              <a:tblGrid>
                <a:gridCol w="2616944"/>
                <a:gridCol w="2616944"/>
                <a:gridCol w="2616944"/>
              </a:tblGrid>
              <a:tr h="5618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kern="1200" dirty="0" smtClean="0">
                          <a:solidFill>
                            <a:schemeClr val="lt1"/>
                          </a:solidFill>
                          <a:effectLst/>
                          <a:latin typeface="+mn-lt"/>
                          <a:ea typeface="+mn-ea"/>
                          <a:cs typeface="+mn-cs"/>
                        </a:rPr>
                        <a:t>Critère          </a:t>
                      </a:r>
                      <a:endParaRPr lang="fr-FR" dirty="0"/>
                    </a:p>
                  </a:txBody>
                  <a:tcPr/>
                </a:tc>
                <a:tc>
                  <a:txBody>
                    <a:bodyPr/>
                    <a:lstStyle/>
                    <a:p>
                      <a:r>
                        <a:rPr lang="fr-FR" sz="1800" b="1" kern="1200" dirty="0" smtClean="0">
                          <a:solidFill>
                            <a:schemeClr val="lt1"/>
                          </a:solidFill>
                          <a:effectLst/>
                          <a:latin typeface="+mn-lt"/>
                          <a:ea typeface="+mn-ea"/>
                          <a:cs typeface="+mn-cs"/>
                        </a:rPr>
                        <a:t>Entrepreneur </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b="1" kern="1200" dirty="0" smtClean="0">
                          <a:solidFill>
                            <a:schemeClr val="lt1"/>
                          </a:solidFill>
                          <a:effectLst/>
                          <a:latin typeface="+mn-lt"/>
                          <a:ea typeface="+mn-ea"/>
                          <a:cs typeface="+mn-cs"/>
                        </a:rPr>
                        <a:t>Manager</a:t>
                      </a:r>
                    </a:p>
                    <a:p>
                      <a:endParaRPr lang="fr-FR" dirty="0"/>
                    </a:p>
                  </a:txBody>
                  <a:tcPr/>
                </a:tc>
              </a:tr>
              <a:tr h="944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Objectif    </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Créer de la valeur, innover, transformer une idée en projet </a:t>
                      </a:r>
                      <a:endParaRPr lang="fr-FR"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Gérer efficacement les ressources et atteindre des objectifs fixés</a:t>
                      </a:r>
                    </a:p>
                  </a:txBody>
                  <a:tcPr/>
                </a:tc>
              </a:tr>
              <a:tr h="6926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Orientation   </a:t>
                      </a:r>
                      <a:endParaRPr lang="fr-FR" dirty="0"/>
                    </a:p>
                  </a:txBody>
                  <a:tcPr/>
                </a:tc>
                <a:tc>
                  <a:txBody>
                    <a:bodyPr/>
                    <a:lstStyle/>
                    <a:p>
                      <a:r>
                        <a:rPr lang="fr-FR" sz="1800" kern="1200" dirty="0" smtClean="0">
                          <a:solidFill>
                            <a:schemeClr val="dk1"/>
                          </a:solidFill>
                          <a:effectLst/>
                          <a:latin typeface="+mn-lt"/>
                          <a:ea typeface="+mn-ea"/>
                          <a:cs typeface="+mn-cs"/>
                        </a:rPr>
                        <a:t>Vers le changement, la prise de risque </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 Vers la stabilité, la performance</a:t>
                      </a:r>
                    </a:p>
                  </a:txBody>
                  <a:tcPr/>
                </a:tc>
              </a:tr>
              <a:tr h="4660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Vision        </a:t>
                      </a:r>
                      <a:endParaRPr lang="fr-FR" dirty="0"/>
                    </a:p>
                  </a:txBody>
                  <a:tcPr/>
                </a:tc>
                <a:tc>
                  <a:txBody>
                    <a:bodyPr/>
                    <a:lstStyle/>
                    <a:p>
                      <a:r>
                        <a:rPr lang="fr-FR" sz="1800" kern="1200" dirty="0" smtClean="0">
                          <a:solidFill>
                            <a:schemeClr val="dk1"/>
                          </a:solidFill>
                          <a:effectLst/>
                          <a:latin typeface="+mn-lt"/>
                          <a:ea typeface="+mn-ea"/>
                          <a:cs typeface="+mn-cs"/>
                        </a:rPr>
                        <a:t>Long terme, incertain </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Court/moyen terme, planifié</a:t>
                      </a:r>
                    </a:p>
                    <a:p>
                      <a:endParaRPr lang="fr-FR" dirty="0"/>
                    </a:p>
                  </a:txBody>
                  <a:tcPr/>
                </a:tc>
              </a:tr>
              <a:tr h="474002">
                <a:tc>
                  <a:txBody>
                    <a:bodyPr/>
                    <a:lstStyle/>
                    <a:p>
                      <a:r>
                        <a:rPr lang="fr-FR" sz="1800" kern="1200" dirty="0" smtClean="0">
                          <a:solidFill>
                            <a:schemeClr val="dk1"/>
                          </a:solidFill>
                          <a:effectLst/>
                          <a:latin typeface="+mn-lt"/>
                          <a:ea typeface="+mn-ea"/>
                          <a:cs typeface="+mn-cs"/>
                        </a:rPr>
                        <a:t>Rôle principal            </a:t>
                      </a:r>
                      <a:endParaRPr lang="fr-FR" dirty="0"/>
                    </a:p>
                  </a:txBody>
                  <a:tcPr/>
                </a:tc>
                <a:tc>
                  <a:txBody>
                    <a:bodyPr/>
                    <a:lstStyle/>
                    <a:p>
                      <a:r>
                        <a:rPr lang="fr-FR" sz="1800" kern="1200" dirty="0" smtClean="0">
                          <a:solidFill>
                            <a:schemeClr val="dk1"/>
                          </a:solidFill>
                          <a:effectLst/>
                          <a:latin typeface="+mn-lt"/>
                          <a:ea typeface="+mn-ea"/>
                          <a:cs typeface="+mn-cs"/>
                        </a:rPr>
                        <a:t>Initie, inspire, imagine</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Organise, contrôle, optimise</a:t>
                      </a:r>
                    </a:p>
                  </a:txBody>
                  <a:tcPr/>
                </a:tc>
              </a:tr>
              <a:tr h="561898">
                <a:tc>
                  <a:txBody>
                    <a:bodyPr/>
                    <a:lstStyle/>
                    <a:p>
                      <a:r>
                        <a:rPr lang="fr-FR" sz="1800" kern="1200" dirty="0" smtClean="0">
                          <a:solidFill>
                            <a:schemeClr val="dk1"/>
                          </a:solidFill>
                          <a:effectLst/>
                          <a:latin typeface="+mn-lt"/>
                          <a:ea typeface="+mn-ea"/>
                          <a:cs typeface="+mn-cs"/>
                        </a:rPr>
                        <a:t>Rapport au risque</a:t>
                      </a:r>
                      <a:endParaRPr lang="fr-FR" dirty="0"/>
                    </a:p>
                  </a:txBody>
                  <a:tcPr/>
                </a:tc>
                <a:tc>
                  <a:txBody>
                    <a:bodyPr/>
                    <a:lstStyle/>
                    <a:p>
                      <a:r>
                        <a:rPr lang="fr-FR" sz="1800" kern="1200" dirty="0" smtClean="0">
                          <a:solidFill>
                            <a:schemeClr val="dk1"/>
                          </a:solidFill>
                          <a:effectLst/>
                          <a:latin typeface="+mn-lt"/>
                          <a:ea typeface="+mn-ea"/>
                          <a:cs typeface="+mn-cs"/>
                        </a:rPr>
                        <a:t>Il le prend et l’assume</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Il le minimise et le gère</a:t>
                      </a:r>
                    </a:p>
                    <a:p>
                      <a:endParaRPr lang="fr-FR" dirty="0"/>
                    </a:p>
                  </a:txBody>
                  <a:tcPr/>
                </a:tc>
              </a:tr>
              <a:tr h="80271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Exemple        </a:t>
                      </a:r>
                      <a:endParaRPr lang="fr-FR" dirty="0"/>
                    </a:p>
                  </a:txBody>
                  <a:tcPr/>
                </a:tc>
                <a:tc>
                  <a:txBody>
                    <a:bodyPr/>
                    <a:lstStyle/>
                    <a:p>
                      <a:r>
                        <a:rPr lang="fr-FR" sz="1800" kern="1200" dirty="0" err="1" smtClean="0">
                          <a:solidFill>
                            <a:schemeClr val="dk1"/>
                          </a:solidFill>
                          <a:effectLst/>
                          <a:latin typeface="+mn-lt"/>
                          <a:ea typeface="+mn-ea"/>
                          <a:cs typeface="+mn-cs"/>
                        </a:rPr>
                        <a:t>Elon</a:t>
                      </a:r>
                      <a:r>
                        <a:rPr lang="fr-FR" sz="1800" kern="1200" dirty="0" smtClean="0">
                          <a:solidFill>
                            <a:schemeClr val="dk1"/>
                          </a:solidFill>
                          <a:effectLst/>
                          <a:latin typeface="+mn-lt"/>
                          <a:ea typeface="+mn-ea"/>
                          <a:cs typeface="+mn-cs"/>
                        </a:rPr>
                        <a:t> </a:t>
                      </a:r>
                      <a:r>
                        <a:rPr lang="fr-FR" sz="1800" kern="1200" dirty="0" err="1" smtClean="0">
                          <a:solidFill>
                            <a:schemeClr val="dk1"/>
                          </a:solidFill>
                          <a:effectLst/>
                          <a:latin typeface="+mn-lt"/>
                          <a:ea typeface="+mn-ea"/>
                          <a:cs typeface="+mn-cs"/>
                        </a:rPr>
                        <a:t>Musk</a:t>
                      </a:r>
                      <a:r>
                        <a:rPr lang="fr-FR" sz="1800" kern="1200" dirty="0" smtClean="0">
                          <a:solidFill>
                            <a:schemeClr val="dk1"/>
                          </a:solidFill>
                          <a:effectLst/>
                          <a:latin typeface="+mn-lt"/>
                          <a:ea typeface="+mn-ea"/>
                          <a:cs typeface="+mn-cs"/>
                        </a:rPr>
                        <a:t>, Bill Gates, fondateur de startup </a:t>
                      </a:r>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 Directeur d’entreprise, chef de département</a:t>
                      </a:r>
                    </a:p>
                  </a:txBody>
                  <a:tcPr/>
                </a:tc>
              </a:tr>
            </a:tbl>
          </a:graphicData>
        </a:graphic>
      </p:graphicFrame>
      <p:sp>
        <p:nvSpPr>
          <p:cNvPr id="5" name="Titre 1"/>
          <p:cNvSpPr txBox="1">
            <a:spLocks/>
          </p:cNvSpPr>
          <p:nvPr/>
        </p:nvSpPr>
        <p:spPr>
          <a:xfrm>
            <a:off x="611560" y="6285589"/>
            <a:ext cx="8208912" cy="743811"/>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1600" b="1" dirty="0">
                <a:solidFill>
                  <a:srgbClr val="FFFF00"/>
                </a:solidFill>
              </a:rPr>
              <a:t>À retenir :</a:t>
            </a:r>
          </a:p>
          <a:p>
            <a:r>
              <a:rPr lang="fr-FR" sz="1600" b="1" dirty="0">
                <a:solidFill>
                  <a:srgbClr val="FFFF00"/>
                </a:solidFill>
              </a:rPr>
              <a:t> </a:t>
            </a:r>
          </a:p>
          <a:p>
            <a:r>
              <a:rPr lang="fr-FR" sz="1600" b="1" dirty="0" smtClean="0">
                <a:solidFill>
                  <a:srgbClr val="FFFF00"/>
                </a:solidFill>
              </a:rPr>
              <a:t> </a:t>
            </a:r>
            <a:r>
              <a:rPr lang="fr-FR" sz="1600" b="1" dirty="0">
                <a:solidFill>
                  <a:srgbClr val="FFFF00"/>
                </a:solidFill>
              </a:rPr>
              <a:t>L’entrepreneur crée l’aventure, le manager la structure.</a:t>
            </a:r>
          </a:p>
          <a:p>
            <a:r>
              <a:rPr lang="fr-FR" sz="1600" b="1" dirty="0">
                <a:solidFill>
                  <a:srgbClr val="FFFF00"/>
                </a:solidFill>
              </a:rPr>
              <a:t>Mais les deux sont complémentaires.</a:t>
            </a:r>
          </a:p>
          <a:p>
            <a:endParaRPr lang="fr-FR" sz="1600" b="1" dirty="0">
              <a:solidFill>
                <a:srgbClr val="FFFF00"/>
              </a:solidFill>
            </a:endParaRPr>
          </a:p>
        </p:txBody>
      </p:sp>
    </p:spTree>
    <p:extLst>
      <p:ext uri="{BB962C8B-B14F-4D97-AF65-F5344CB8AC3E}">
        <p14:creationId xmlns:p14="http://schemas.microsoft.com/office/powerpoint/2010/main" val="34556003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pPr marL="0" indent="0">
              <a:buNone/>
            </a:pPr>
            <a:r>
              <a:rPr lang="fr-FR" sz="2000" b="1" dirty="0">
                <a:solidFill>
                  <a:srgbClr val="FFFF00"/>
                </a:solidFill>
              </a:rPr>
              <a:t>Mini mise en situation :</a:t>
            </a:r>
          </a:p>
          <a:p>
            <a:pPr marL="0" indent="0">
              <a:buNone/>
            </a:pPr>
            <a:endParaRPr lang="fr-FR" sz="2000" b="1" dirty="0">
              <a:solidFill>
                <a:srgbClr val="FFFF00"/>
              </a:solidFill>
            </a:endParaRPr>
          </a:p>
          <a:p>
            <a:pPr marL="0" indent="0">
              <a:buNone/>
            </a:pPr>
            <a:r>
              <a:rPr lang="fr-FR" sz="2000" b="1" dirty="0" smtClean="0">
                <a:solidFill>
                  <a:srgbClr val="FFFF00"/>
                </a:solidFill>
              </a:rPr>
              <a:t>“</a:t>
            </a:r>
            <a:r>
              <a:rPr lang="fr-FR" sz="2000" b="1" dirty="0">
                <a:solidFill>
                  <a:srgbClr val="FFFF00"/>
                </a:solidFill>
              </a:rPr>
              <a:t>Imaginez : vous lancez une startup d’IA éducative. Vous avez besoin d’un profil manager et d’un profil entrepreneur. Qui fait quoi ?”</a:t>
            </a:r>
          </a:p>
          <a:p>
            <a:endParaRPr lang="fr-FR" sz="2000" b="1" dirty="0">
              <a:solidFill>
                <a:srgbClr val="FFFF00"/>
              </a:solidFill>
            </a:endParaRPr>
          </a:p>
        </p:txBody>
      </p:sp>
    </p:spTree>
    <p:extLst>
      <p:ext uri="{BB962C8B-B14F-4D97-AF65-F5344CB8AC3E}">
        <p14:creationId xmlns:p14="http://schemas.microsoft.com/office/powerpoint/2010/main" val="1675692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74638"/>
            <a:ext cx="7924800" cy="634082"/>
          </a:xfrm>
        </p:spPr>
        <p:txBody>
          <a:bodyPr/>
          <a:lstStyle/>
          <a:p>
            <a:r>
              <a:rPr lang="fr-FR" dirty="0"/>
              <a:t>Les différents profils d’entrepreneurs </a:t>
            </a:r>
            <a:endParaRPr lang="fr-FR" dirty="0"/>
          </a:p>
        </p:txBody>
      </p:sp>
      <p:graphicFrame>
        <p:nvGraphicFramePr>
          <p:cNvPr id="4" name="Espace réservé du contenu 3"/>
          <p:cNvGraphicFramePr>
            <a:graphicFrameLocks noGrp="1"/>
          </p:cNvGraphicFramePr>
          <p:nvPr>
            <p:ph sz="quarter" idx="13"/>
            <p:extLst>
              <p:ext uri="{D42A27DB-BD31-4B8C-83A1-F6EECF244321}">
                <p14:modId xmlns:p14="http://schemas.microsoft.com/office/powerpoint/2010/main" val="989094462"/>
              </p:ext>
            </p:extLst>
          </p:nvPr>
        </p:nvGraphicFramePr>
        <p:xfrm>
          <a:off x="539552" y="1052736"/>
          <a:ext cx="7924800" cy="5273040"/>
        </p:xfrm>
        <a:graphic>
          <a:graphicData uri="http://schemas.openxmlformats.org/drawingml/2006/table">
            <a:tbl>
              <a:tblPr firstRow="1" bandRow="1">
                <a:tableStyleId>{5C22544A-7EE6-4342-B048-85BDC9FD1C3A}</a:tableStyleId>
              </a:tblPr>
              <a:tblGrid>
                <a:gridCol w="2641600"/>
                <a:gridCol w="2641600"/>
                <a:gridCol w="2641600"/>
              </a:tblGrid>
              <a:tr h="370840">
                <a:tc>
                  <a:txBody>
                    <a:bodyPr/>
                    <a:lstStyle/>
                    <a:p>
                      <a:r>
                        <a:rPr lang="fr-FR" sz="1600" b="1" kern="1200" dirty="0" smtClean="0">
                          <a:solidFill>
                            <a:schemeClr val="lt1"/>
                          </a:solidFill>
                          <a:effectLst/>
                          <a:latin typeface="+mn-lt"/>
                          <a:ea typeface="+mn-ea"/>
                          <a:cs typeface="+mn-cs"/>
                        </a:rPr>
                        <a:t>Profil       </a:t>
                      </a:r>
                    </a:p>
                    <a:p>
                      <a:r>
                        <a:rPr lang="fr-FR" sz="1600" b="1" kern="1200" dirty="0" smtClean="0">
                          <a:solidFill>
                            <a:schemeClr val="lt1"/>
                          </a:solidFill>
                          <a:effectLst/>
                          <a:latin typeface="+mn-lt"/>
                          <a:ea typeface="+mn-ea"/>
                          <a:cs typeface="+mn-cs"/>
                        </a:rPr>
                        <a:t>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lt1"/>
                          </a:solidFill>
                          <a:effectLst/>
                          <a:latin typeface="+mn-lt"/>
                          <a:ea typeface="+mn-ea"/>
                          <a:cs typeface="+mn-cs"/>
                        </a:rPr>
                        <a:t>Description </a:t>
                      </a:r>
                    </a:p>
                    <a:p>
                      <a:endParaRPr lang="fr-FR" sz="1600" dirty="0"/>
                    </a:p>
                  </a:txBody>
                  <a:tcPr/>
                </a:tc>
                <a:tc>
                  <a:txBody>
                    <a:bodyPr/>
                    <a:lstStyle/>
                    <a:p>
                      <a:r>
                        <a:rPr lang="fr-FR" sz="1600" b="1" kern="1200" dirty="0" smtClean="0">
                          <a:solidFill>
                            <a:schemeClr val="lt1"/>
                          </a:solidFill>
                          <a:effectLst/>
                          <a:latin typeface="+mn-lt"/>
                          <a:ea typeface="+mn-ea"/>
                          <a:cs typeface="+mn-cs"/>
                        </a:rPr>
                        <a:t>Exemple</a:t>
                      </a:r>
                      <a:endParaRPr lang="fr-FR" sz="1600" dirty="0"/>
                    </a:p>
                  </a:txBody>
                  <a:tcPr/>
                </a:tc>
              </a:tr>
              <a:tr h="370840">
                <a:tc>
                  <a:txBody>
                    <a:bodyPr/>
                    <a:lstStyle/>
                    <a:p>
                      <a:r>
                        <a:rPr lang="fr-FR" sz="1600" b="1" kern="1200" dirty="0" smtClean="0">
                          <a:solidFill>
                            <a:schemeClr val="lt1"/>
                          </a:solidFill>
                          <a:effectLst/>
                          <a:latin typeface="+mn-lt"/>
                          <a:ea typeface="+mn-ea"/>
                          <a:cs typeface="+mn-cs"/>
                        </a:rPr>
                        <a:t>L’innovateur </a:t>
                      </a:r>
                      <a:endParaRPr lang="fr-FR" sz="1600" dirty="0"/>
                    </a:p>
                  </a:txBody>
                  <a:tcPr/>
                </a:tc>
                <a:tc>
                  <a:txBody>
                    <a:bodyPr/>
                    <a:lstStyle/>
                    <a:p>
                      <a:r>
                        <a:rPr lang="fr-FR" sz="1600" b="1" kern="1200" dirty="0" smtClean="0">
                          <a:solidFill>
                            <a:schemeClr val="lt1"/>
                          </a:solidFill>
                          <a:effectLst/>
                          <a:latin typeface="+mn-lt"/>
                          <a:ea typeface="+mn-ea"/>
                          <a:cs typeface="+mn-cs"/>
                        </a:rPr>
                        <a:t>Crée quelque chose de nouveau, souvent dans la </a:t>
                      </a:r>
                      <a:r>
                        <a:rPr lang="fr-FR" sz="1600" b="1" kern="1200" dirty="0" err="1" smtClean="0">
                          <a:solidFill>
                            <a:schemeClr val="lt1"/>
                          </a:solidFill>
                          <a:effectLst/>
                          <a:latin typeface="+mn-lt"/>
                          <a:ea typeface="+mn-ea"/>
                          <a:cs typeface="+mn-cs"/>
                        </a:rPr>
                        <a:t>tech</a:t>
                      </a:r>
                      <a:r>
                        <a:rPr lang="fr-FR" sz="1600" b="1" kern="1200" dirty="0" smtClean="0">
                          <a:solidFill>
                            <a:schemeClr val="lt1"/>
                          </a:solidFill>
                          <a:effectLst/>
                          <a:latin typeface="+mn-lt"/>
                          <a:ea typeface="+mn-ea"/>
                          <a:cs typeface="+mn-cs"/>
                        </a:rPr>
                        <a:t> ou la R&amp;D. 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lt1"/>
                          </a:solidFill>
                          <a:effectLst/>
                          <a:latin typeface="+mn-lt"/>
                          <a:ea typeface="+mn-ea"/>
                          <a:cs typeface="+mn-cs"/>
                        </a:rPr>
                        <a:t>Fondateur d’une startup IA.</a:t>
                      </a:r>
                    </a:p>
                    <a:p>
                      <a:endParaRPr lang="fr-FR" sz="1600" dirty="0"/>
                    </a:p>
                  </a:txBody>
                  <a:tcPr/>
                </a:tc>
              </a:tr>
              <a:tr h="370840">
                <a:tc>
                  <a:txBody>
                    <a:bodyPr/>
                    <a:lstStyle/>
                    <a:p>
                      <a:r>
                        <a:rPr lang="fr-FR" sz="1600" kern="1200" dirty="0" smtClean="0">
                          <a:solidFill>
                            <a:schemeClr val="dk1"/>
                          </a:solidFill>
                          <a:effectLst/>
                          <a:latin typeface="+mn-lt"/>
                          <a:ea typeface="+mn-ea"/>
                          <a:cs typeface="+mn-cs"/>
                        </a:rPr>
                        <a:t>               L’opportuniste             </a:t>
                      </a:r>
                      <a:endParaRPr lang="fr-FR" sz="1600" dirty="0"/>
                    </a:p>
                  </a:txBody>
                  <a:tcPr/>
                </a:tc>
                <a:tc>
                  <a:txBody>
                    <a:bodyPr/>
                    <a:lstStyle/>
                    <a:p>
                      <a:r>
                        <a:rPr lang="fr-FR" sz="1600" kern="1200" dirty="0" smtClean="0">
                          <a:solidFill>
                            <a:schemeClr val="dk1"/>
                          </a:solidFill>
                          <a:effectLst/>
                          <a:latin typeface="+mn-lt"/>
                          <a:ea typeface="+mn-ea"/>
                          <a:cs typeface="+mn-cs"/>
                        </a:rPr>
                        <a:t>Exploite un moment favorable du marché. 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dirty="0" smtClean="0">
                          <a:solidFill>
                            <a:schemeClr val="dk1"/>
                          </a:solidFill>
                          <a:effectLst/>
                          <a:latin typeface="+mn-lt"/>
                          <a:ea typeface="+mn-ea"/>
                          <a:cs typeface="+mn-cs"/>
                        </a:rPr>
                        <a:t>Créateur d’applis pendant la pandémie.</a:t>
                      </a:r>
                    </a:p>
                    <a:p>
                      <a:endParaRPr lang="fr-FR" sz="1600" dirty="0"/>
                    </a:p>
                  </a:txBody>
                  <a:tcPr/>
                </a:tc>
              </a:tr>
              <a:tr h="370840">
                <a:tc>
                  <a:txBody>
                    <a:bodyPr/>
                    <a:lstStyle/>
                    <a:p>
                      <a:r>
                        <a:rPr lang="fr-FR" sz="1600" kern="1200" dirty="0" smtClean="0">
                          <a:solidFill>
                            <a:schemeClr val="dk1"/>
                          </a:solidFill>
                          <a:effectLst/>
                          <a:latin typeface="+mn-lt"/>
                          <a:ea typeface="+mn-ea"/>
                          <a:cs typeface="+mn-cs"/>
                        </a:rPr>
                        <a:t>L’artisan </a:t>
                      </a:r>
                      <a:endParaRPr lang="fr-FR" sz="1600" dirty="0"/>
                    </a:p>
                  </a:txBody>
                  <a:tcPr/>
                </a:tc>
                <a:tc>
                  <a:txBody>
                    <a:bodyPr/>
                    <a:lstStyle/>
                    <a:p>
                      <a:r>
                        <a:rPr lang="fr-FR" sz="1600" kern="1200" dirty="0" smtClean="0">
                          <a:solidFill>
                            <a:schemeClr val="dk1"/>
                          </a:solidFill>
                          <a:effectLst/>
                          <a:latin typeface="+mn-lt"/>
                          <a:ea typeface="+mn-ea"/>
                          <a:cs typeface="+mn-cs"/>
                        </a:rPr>
                        <a:t> Crée à partir d’un savoir-faire personnel. 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dirty="0" smtClean="0">
                          <a:solidFill>
                            <a:schemeClr val="dk1"/>
                          </a:solidFill>
                          <a:effectLst/>
                          <a:latin typeface="+mn-lt"/>
                          <a:ea typeface="+mn-ea"/>
                          <a:cs typeface="+mn-cs"/>
                        </a:rPr>
                        <a:t>Artisan numérique, designer IA.</a:t>
                      </a:r>
                    </a:p>
                    <a:p>
                      <a:endParaRPr lang="fr-FR" sz="1600" dirty="0"/>
                    </a:p>
                  </a:txBody>
                  <a:tcPr/>
                </a:tc>
              </a:tr>
              <a:tr h="370840">
                <a:tc>
                  <a:txBody>
                    <a:bodyPr/>
                    <a:lstStyle/>
                    <a:p>
                      <a:r>
                        <a:rPr lang="fr-FR" sz="1600" kern="1200" dirty="0" smtClean="0">
                          <a:solidFill>
                            <a:schemeClr val="dk1"/>
                          </a:solidFill>
                          <a:effectLst/>
                          <a:latin typeface="+mn-lt"/>
                          <a:ea typeface="+mn-ea"/>
                          <a:cs typeface="+mn-cs"/>
                        </a:rPr>
                        <a:t>L’</a:t>
                      </a:r>
                      <a:r>
                        <a:rPr lang="fr-FR" sz="1600" kern="1200" dirty="0" err="1" smtClean="0">
                          <a:solidFill>
                            <a:schemeClr val="dk1"/>
                          </a:solidFill>
                          <a:effectLst/>
                          <a:latin typeface="+mn-lt"/>
                          <a:ea typeface="+mn-ea"/>
                          <a:cs typeface="+mn-cs"/>
                        </a:rPr>
                        <a:t>intrapreneur</a:t>
                      </a:r>
                      <a:r>
                        <a:rPr lang="fr-FR" sz="1600" kern="1200" dirty="0" smtClean="0">
                          <a:solidFill>
                            <a:schemeClr val="dk1"/>
                          </a:solidFill>
                          <a:effectLst/>
                          <a:latin typeface="+mn-lt"/>
                          <a:ea typeface="+mn-ea"/>
                          <a:cs typeface="+mn-cs"/>
                        </a:rPr>
                        <a:t>  </a:t>
                      </a:r>
                      <a:endParaRPr lang="fr-FR" sz="1600" dirty="0"/>
                    </a:p>
                  </a:txBody>
                  <a:tcPr/>
                </a:tc>
                <a:tc>
                  <a:txBody>
                    <a:bodyPr/>
                    <a:lstStyle/>
                    <a:p>
                      <a:r>
                        <a:rPr lang="fr-FR" sz="1600" kern="1200" dirty="0" smtClean="0">
                          <a:solidFill>
                            <a:schemeClr val="dk1"/>
                          </a:solidFill>
                          <a:effectLst/>
                          <a:latin typeface="+mn-lt"/>
                          <a:ea typeface="+mn-ea"/>
                          <a:cs typeface="+mn-cs"/>
                        </a:rPr>
                        <a:t>Innover à l’intérieur d’une grande organisation. 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dirty="0" smtClean="0">
                          <a:solidFill>
                            <a:schemeClr val="dk1"/>
                          </a:solidFill>
                          <a:effectLst/>
                          <a:latin typeface="+mn-lt"/>
                          <a:ea typeface="+mn-ea"/>
                          <a:cs typeface="+mn-cs"/>
                        </a:rPr>
                        <a:t>Ingénieur IA qui lance un projet interne.</a:t>
                      </a:r>
                    </a:p>
                    <a:p>
                      <a:endParaRPr lang="fr-FR" sz="1600" dirty="0"/>
                    </a:p>
                  </a:txBody>
                  <a:tcPr/>
                </a:tc>
              </a:tr>
              <a:tr h="370840">
                <a:tc>
                  <a:txBody>
                    <a:bodyPr/>
                    <a:lstStyle/>
                    <a:p>
                      <a:r>
                        <a:rPr lang="fr-FR" sz="1600" kern="1200" dirty="0" smtClean="0">
                          <a:solidFill>
                            <a:schemeClr val="dk1"/>
                          </a:solidFill>
                          <a:effectLst/>
                          <a:latin typeface="+mn-lt"/>
                          <a:ea typeface="+mn-ea"/>
                          <a:cs typeface="+mn-cs"/>
                        </a:rPr>
                        <a:t>Le social </a:t>
                      </a:r>
                      <a:endParaRPr lang="fr-FR" sz="1600" dirty="0"/>
                    </a:p>
                  </a:txBody>
                  <a:tcPr/>
                </a:tc>
                <a:tc>
                  <a:txBody>
                    <a:bodyPr/>
                    <a:lstStyle/>
                    <a:p>
                      <a:r>
                        <a:rPr lang="fr-FR" sz="1600" kern="1200" dirty="0" smtClean="0">
                          <a:solidFill>
                            <a:schemeClr val="dk1"/>
                          </a:solidFill>
                          <a:effectLst/>
                          <a:latin typeface="+mn-lt"/>
                          <a:ea typeface="+mn-ea"/>
                          <a:cs typeface="+mn-cs"/>
                        </a:rPr>
                        <a:t> Vise à résoudre un problème social/environnemental avant le profit.  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dirty="0" smtClean="0">
                          <a:solidFill>
                            <a:schemeClr val="dk1"/>
                          </a:solidFill>
                          <a:effectLst/>
                          <a:latin typeface="+mn-lt"/>
                          <a:ea typeface="+mn-ea"/>
                          <a:cs typeface="+mn-cs"/>
                        </a:rPr>
                        <a:t>Entrepreneur social, ONG </a:t>
                      </a:r>
                      <a:r>
                        <a:rPr lang="fr-FR" sz="1600" kern="1200" dirty="0" err="1" smtClean="0">
                          <a:solidFill>
                            <a:schemeClr val="dk1"/>
                          </a:solidFill>
                          <a:effectLst/>
                          <a:latin typeface="+mn-lt"/>
                          <a:ea typeface="+mn-ea"/>
                          <a:cs typeface="+mn-cs"/>
                        </a:rPr>
                        <a:t>tech</a:t>
                      </a:r>
                      <a:r>
                        <a:rPr lang="fr-FR" sz="1600" kern="1200" dirty="0" smtClean="0">
                          <a:solidFill>
                            <a:schemeClr val="dk1"/>
                          </a:solidFill>
                          <a:effectLst/>
                          <a:latin typeface="+mn-lt"/>
                          <a:ea typeface="+mn-ea"/>
                          <a:cs typeface="+mn-cs"/>
                        </a:rPr>
                        <a:t>.</a:t>
                      </a:r>
                    </a:p>
                    <a:p>
                      <a:endParaRPr lang="fr-FR" sz="1600" dirty="0"/>
                    </a:p>
                  </a:txBody>
                  <a:tcPr/>
                </a:tc>
              </a:tr>
              <a:tr h="370840">
                <a:tc>
                  <a:txBody>
                    <a:bodyPr/>
                    <a:lstStyle/>
                    <a:p>
                      <a:r>
                        <a:rPr lang="fr-FR" sz="1600" kern="1200" dirty="0" smtClean="0">
                          <a:solidFill>
                            <a:schemeClr val="dk1"/>
                          </a:solidFill>
                          <a:effectLst/>
                          <a:latin typeface="+mn-lt"/>
                          <a:ea typeface="+mn-ea"/>
                          <a:cs typeface="+mn-cs"/>
                        </a:rPr>
                        <a:t>Le gestionnaire </a:t>
                      </a:r>
                      <a:endParaRPr lang="fr-FR" sz="1600" dirty="0"/>
                    </a:p>
                  </a:txBody>
                  <a:tcPr/>
                </a:tc>
                <a:tc>
                  <a:txBody>
                    <a:bodyPr/>
                    <a:lstStyle/>
                    <a:p>
                      <a:r>
                        <a:rPr lang="fr-FR" sz="1600" kern="1200" dirty="0" smtClean="0">
                          <a:solidFill>
                            <a:schemeClr val="dk1"/>
                          </a:solidFill>
                          <a:effectLst/>
                          <a:latin typeface="+mn-lt"/>
                          <a:ea typeface="+mn-ea"/>
                          <a:cs typeface="+mn-cs"/>
                        </a:rPr>
                        <a:t>Transforme une idée en entreprise rentable et bien structurée. 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kern="1200" dirty="0" smtClean="0">
                          <a:solidFill>
                            <a:schemeClr val="dk1"/>
                          </a:solidFill>
                          <a:effectLst/>
                          <a:latin typeface="+mn-lt"/>
                          <a:ea typeface="+mn-ea"/>
                          <a:cs typeface="+mn-cs"/>
                        </a:rPr>
                        <a:t>CEO expérimenté.</a:t>
                      </a:r>
                    </a:p>
                    <a:p>
                      <a:endParaRPr lang="fr-FR" sz="1600" dirty="0"/>
                    </a:p>
                  </a:txBody>
                  <a:tcPr/>
                </a:tc>
              </a:tr>
            </a:tbl>
          </a:graphicData>
        </a:graphic>
      </p:graphicFrame>
    </p:spTree>
    <p:extLst>
      <p:ext uri="{BB962C8B-B14F-4D97-AF65-F5344CB8AC3E}">
        <p14:creationId xmlns:p14="http://schemas.microsoft.com/office/powerpoint/2010/main" val="4107493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r>
              <a:rPr lang="fr-FR" sz="3200" dirty="0">
                <a:solidFill>
                  <a:srgbClr val="FFFF00"/>
                </a:solidFill>
              </a:rPr>
              <a:t>“Selon votre personnalité, à quel profil vous identifiez-vous ?”</a:t>
            </a:r>
          </a:p>
          <a:p>
            <a:endParaRPr lang="fr-FR" sz="3200" dirty="0">
              <a:solidFill>
                <a:srgbClr val="FFFF00"/>
              </a:solidFill>
            </a:endParaRPr>
          </a:p>
        </p:txBody>
      </p:sp>
    </p:spTree>
    <p:extLst>
      <p:ext uri="{BB962C8B-B14F-4D97-AF65-F5344CB8AC3E}">
        <p14:creationId xmlns:p14="http://schemas.microsoft.com/office/powerpoint/2010/main" val="2139713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539552" y="116632"/>
            <a:ext cx="7994848" cy="5598368"/>
          </a:xfrm>
        </p:spPr>
        <p:txBody>
          <a:bodyPr>
            <a:noAutofit/>
          </a:bodyPr>
          <a:lstStyle/>
          <a:p>
            <a:pPr marL="0" indent="0">
              <a:buNone/>
            </a:pPr>
            <a:r>
              <a:rPr lang="fr-FR" sz="1800" b="1" dirty="0" smtClean="0">
                <a:solidFill>
                  <a:srgbClr val="FFFF00"/>
                </a:solidFill>
              </a:rPr>
              <a:t>Les </a:t>
            </a:r>
            <a:r>
              <a:rPr lang="fr-FR" sz="1800" b="1" dirty="0">
                <a:solidFill>
                  <a:srgbClr val="FFFF00"/>
                </a:solidFill>
              </a:rPr>
              <a:t>motivations et freins de </a:t>
            </a:r>
            <a:r>
              <a:rPr lang="fr-FR" sz="1800" b="1" dirty="0" smtClean="0">
                <a:solidFill>
                  <a:srgbClr val="FFFF00"/>
                </a:solidFill>
              </a:rPr>
              <a:t>l’entrepreneur</a:t>
            </a:r>
            <a:endParaRPr lang="fr-FR" sz="1800" b="1" dirty="0">
              <a:solidFill>
                <a:srgbClr val="FFFF00"/>
              </a:solidFill>
            </a:endParaRPr>
          </a:p>
          <a:p>
            <a:pPr marL="0" indent="0">
              <a:buNone/>
            </a:pPr>
            <a:r>
              <a:rPr lang="fr-FR" sz="1800" dirty="0" smtClean="0"/>
              <a:t> </a:t>
            </a:r>
            <a:r>
              <a:rPr lang="fr-FR" sz="1800" dirty="0"/>
              <a:t>Motivations </a:t>
            </a:r>
            <a:r>
              <a:rPr lang="fr-FR" sz="1800" dirty="0" smtClean="0"/>
              <a:t>:</a:t>
            </a:r>
            <a:endParaRPr lang="fr-FR" sz="1800" dirty="0"/>
          </a:p>
          <a:p>
            <a:r>
              <a:rPr lang="fr-FR" sz="1800" dirty="0"/>
              <a:t>Indépendance et </a:t>
            </a:r>
            <a:r>
              <a:rPr lang="fr-FR" sz="1800" dirty="0" smtClean="0"/>
              <a:t>liberté</a:t>
            </a:r>
            <a:endParaRPr lang="fr-FR" sz="1800" dirty="0"/>
          </a:p>
          <a:p>
            <a:r>
              <a:rPr lang="fr-FR" sz="1800" dirty="0"/>
              <a:t>Goût du </a:t>
            </a:r>
            <a:r>
              <a:rPr lang="fr-FR" sz="1800" dirty="0" smtClean="0"/>
              <a:t>défi</a:t>
            </a:r>
            <a:endParaRPr lang="fr-FR" sz="1800" dirty="0"/>
          </a:p>
          <a:p>
            <a:r>
              <a:rPr lang="fr-FR" sz="1800" dirty="0"/>
              <a:t>Réalisation de </a:t>
            </a:r>
            <a:r>
              <a:rPr lang="fr-FR" sz="1800" dirty="0" smtClean="0"/>
              <a:t>soi</a:t>
            </a:r>
            <a:r>
              <a:rPr lang="fr-FR" sz="1800" dirty="0"/>
              <a:t> </a:t>
            </a:r>
          </a:p>
          <a:p>
            <a:r>
              <a:rPr lang="fr-FR" sz="1800" dirty="0"/>
              <a:t>Innovation et </a:t>
            </a:r>
            <a:r>
              <a:rPr lang="fr-FR" sz="1800" dirty="0" smtClean="0"/>
              <a:t>impact</a:t>
            </a:r>
            <a:r>
              <a:rPr lang="fr-FR" sz="1800" dirty="0"/>
              <a:t> </a:t>
            </a:r>
          </a:p>
          <a:p>
            <a:r>
              <a:rPr lang="fr-FR" sz="1800" dirty="0"/>
              <a:t>Recherche d’un revenu meilleur</a:t>
            </a:r>
          </a:p>
          <a:p>
            <a:pPr marL="0" indent="0">
              <a:buNone/>
            </a:pPr>
            <a:r>
              <a:rPr lang="fr-FR" sz="1800" dirty="0"/>
              <a:t> </a:t>
            </a:r>
          </a:p>
          <a:p>
            <a:pPr marL="0" indent="0">
              <a:buNone/>
            </a:pPr>
            <a:r>
              <a:rPr lang="fr-FR" sz="1800" dirty="0" smtClean="0"/>
              <a:t>Freins :</a:t>
            </a:r>
            <a:endParaRPr lang="fr-FR" sz="1800" dirty="0"/>
          </a:p>
          <a:p>
            <a:r>
              <a:rPr lang="fr-FR" sz="1800" dirty="0"/>
              <a:t>Peur de </a:t>
            </a:r>
            <a:r>
              <a:rPr lang="fr-FR" sz="1800" dirty="0" smtClean="0"/>
              <a:t>l’échec</a:t>
            </a:r>
            <a:endParaRPr lang="fr-FR" sz="1800" dirty="0"/>
          </a:p>
          <a:p>
            <a:r>
              <a:rPr lang="fr-FR" sz="1800" dirty="0"/>
              <a:t>Manque de </a:t>
            </a:r>
            <a:r>
              <a:rPr lang="fr-FR" sz="1800" dirty="0" smtClean="0"/>
              <a:t>financement</a:t>
            </a:r>
            <a:endParaRPr lang="fr-FR" sz="1800" dirty="0"/>
          </a:p>
          <a:p>
            <a:r>
              <a:rPr lang="fr-FR" sz="1800" dirty="0"/>
              <a:t>Manque de </a:t>
            </a:r>
            <a:r>
              <a:rPr lang="fr-FR" sz="1800" dirty="0" smtClean="0"/>
              <a:t>compétences</a:t>
            </a:r>
            <a:endParaRPr lang="fr-FR" sz="1800" dirty="0"/>
          </a:p>
          <a:p>
            <a:r>
              <a:rPr lang="fr-FR" sz="1800" dirty="0"/>
              <a:t>Pression sociale ou familiale</a:t>
            </a:r>
          </a:p>
          <a:p>
            <a:endParaRPr lang="fr-FR" sz="1800" dirty="0"/>
          </a:p>
        </p:txBody>
      </p:sp>
    </p:spTree>
    <p:extLst>
      <p:ext uri="{BB962C8B-B14F-4D97-AF65-F5344CB8AC3E}">
        <p14:creationId xmlns:p14="http://schemas.microsoft.com/office/powerpoint/2010/main" val="1371260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p:txBody>
          <a:bodyPr>
            <a:normAutofit/>
          </a:bodyPr>
          <a:lstStyle/>
          <a:p>
            <a:r>
              <a:rPr lang="fr-FR" sz="2400" dirty="0">
                <a:solidFill>
                  <a:srgbClr val="FFFF00"/>
                </a:solidFill>
              </a:rPr>
              <a:t>“Qu’est-ce qui vous motiverait le plus à entreprendre ? Et qu’est-ce qui vous freinerait ?”</a:t>
            </a:r>
          </a:p>
          <a:p>
            <a:endParaRPr lang="fr-FR" sz="2400" dirty="0">
              <a:solidFill>
                <a:srgbClr val="FFFF00"/>
              </a:solidFill>
            </a:endParaRPr>
          </a:p>
        </p:txBody>
      </p:sp>
    </p:spTree>
    <p:extLst>
      <p:ext uri="{BB962C8B-B14F-4D97-AF65-F5344CB8AC3E}">
        <p14:creationId xmlns:p14="http://schemas.microsoft.com/office/powerpoint/2010/main" val="3923772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1997968"/>
            <a:ext cx="7924800" cy="1143000"/>
          </a:xfrm>
        </p:spPr>
        <p:txBody>
          <a:bodyPr/>
          <a:lstStyle/>
          <a:p>
            <a:r>
              <a:rPr lang="fr-FR" sz="3200" dirty="0"/>
              <a:t>💡 </a:t>
            </a:r>
            <a:r>
              <a:rPr lang="fr-FR" sz="3200" dirty="0" smtClean="0"/>
              <a:t>  Pourquoi certains </a:t>
            </a:r>
            <a:r>
              <a:rPr lang="fr-FR" sz="3200" dirty="0"/>
              <a:t>entrepreneurs réussissent et d’autres échouent ?</a:t>
            </a:r>
            <a:br>
              <a:rPr lang="fr-FR" sz="3200" dirty="0"/>
            </a:br>
            <a:endParaRPr lang="fr-FR" dirty="0"/>
          </a:p>
        </p:txBody>
      </p:sp>
    </p:spTree>
    <p:extLst>
      <p:ext uri="{BB962C8B-B14F-4D97-AF65-F5344CB8AC3E}">
        <p14:creationId xmlns:p14="http://schemas.microsoft.com/office/powerpoint/2010/main" val="6298742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609600" y="116632"/>
            <a:ext cx="7924800" cy="6336704"/>
          </a:xfrm>
        </p:spPr>
        <p:txBody>
          <a:bodyPr>
            <a:noAutofit/>
          </a:bodyPr>
          <a:lstStyle/>
          <a:p>
            <a:pPr marL="0" indent="0">
              <a:buNone/>
            </a:pPr>
            <a:r>
              <a:rPr lang="fr-FR" sz="1800" dirty="0" smtClean="0"/>
              <a:t>1</a:t>
            </a:r>
            <a:r>
              <a:rPr lang="fr-FR" sz="1800" dirty="0"/>
              <a:t>. </a:t>
            </a:r>
            <a:r>
              <a:rPr lang="fr-FR" sz="1800" dirty="0" smtClean="0"/>
              <a:t>Les </a:t>
            </a:r>
            <a:r>
              <a:rPr lang="fr-FR" sz="1800" dirty="0"/>
              <a:t>facteurs de </a:t>
            </a:r>
            <a:r>
              <a:rPr lang="fr-FR" sz="1800" dirty="0" smtClean="0"/>
              <a:t>réussite</a:t>
            </a:r>
            <a:endParaRPr lang="fr-FR" sz="1800" dirty="0"/>
          </a:p>
          <a:p>
            <a:pPr marL="0" indent="0">
              <a:buNone/>
            </a:pPr>
            <a:r>
              <a:rPr lang="fr-FR" sz="1800" dirty="0"/>
              <a:t>Les entrepreneurs qui réussissent combinent souvent plusieurs éléments clés </a:t>
            </a:r>
            <a:r>
              <a:rPr lang="fr-FR" sz="1800" dirty="0" smtClean="0"/>
              <a:t>:</a:t>
            </a:r>
          </a:p>
          <a:p>
            <a:pPr marL="0" indent="0">
              <a:buNone/>
            </a:pPr>
            <a:r>
              <a:rPr lang="fr-FR" sz="1800" dirty="0" smtClean="0">
                <a:solidFill>
                  <a:srgbClr val="FFFF00"/>
                </a:solidFill>
              </a:rPr>
              <a:t>a</a:t>
            </a:r>
            <a:r>
              <a:rPr lang="fr-FR" sz="1800" dirty="0">
                <a:solidFill>
                  <a:srgbClr val="FFFF00"/>
                </a:solidFill>
              </a:rPr>
              <a:t>. Vision claire et objectif </a:t>
            </a:r>
            <a:r>
              <a:rPr lang="fr-FR" sz="1800" dirty="0" smtClean="0">
                <a:solidFill>
                  <a:srgbClr val="FFFF00"/>
                </a:solidFill>
              </a:rPr>
              <a:t>précis</a:t>
            </a:r>
            <a:r>
              <a:rPr lang="fr-FR" sz="1800" dirty="0">
                <a:solidFill>
                  <a:srgbClr val="FFFF00"/>
                </a:solidFill>
              </a:rPr>
              <a:t> </a:t>
            </a:r>
            <a:r>
              <a:rPr lang="fr-FR" sz="1800" dirty="0" smtClean="0">
                <a:solidFill>
                  <a:srgbClr val="FFFF00"/>
                </a:solidFill>
              </a:rPr>
              <a:t>: </a:t>
            </a:r>
            <a:r>
              <a:rPr lang="fr-FR" sz="1800" dirty="0" smtClean="0"/>
              <a:t>Ils </a:t>
            </a:r>
            <a:r>
              <a:rPr lang="fr-FR" sz="1800" dirty="0"/>
              <a:t>savent où ils veulent aller et pourquoi.</a:t>
            </a:r>
          </a:p>
          <a:p>
            <a:pPr marL="0" indent="0">
              <a:buNone/>
            </a:pPr>
            <a:r>
              <a:rPr lang="fr-FR" sz="1800" dirty="0" smtClean="0"/>
              <a:t> </a:t>
            </a:r>
            <a:r>
              <a:rPr lang="fr-FR" sz="1800" dirty="0"/>
              <a:t>Exemple : </a:t>
            </a:r>
            <a:r>
              <a:rPr lang="fr-FR" sz="1800" dirty="0" err="1"/>
              <a:t>Elon</a:t>
            </a:r>
            <a:r>
              <a:rPr lang="fr-FR" sz="1800" dirty="0"/>
              <a:t> </a:t>
            </a:r>
            <a:r>
              <a:rPr lang="fr-FR" sz="1800" dirty="0" err="1"/>
              <a:t>Musk</a:t>
            </a:r>
            <a:r>
              <a:rPr lang="fr-FR" sz="1800" dirty="0"/>
              <a:t> ne voulait pas juste fabriquer des voitures, mais accélérer la transition vers une énergie durable</a:t>
            </a:r>
            <a:r>
              <a:rPr lang="fr-FR" sz="1800" dirty="0" smtClean="0"/>
              <a:t>.</a:t>
            </a:r>
            <a:r>
              <a:rPr lang="fr-FR" sz="1800" dirty="0"/>
              <a:t> </a:t>
            </a:r>
          </a:p>
          <a:p>
            <a:pPr marL="0" indent="0">
              <a:buNone/>
            </a:pPr>
            <a:r>
              <a:rPr lang="fr-FR" sz="1800" dirty="0">
                <a:solidFill>
                  <a:srgbClr val="FFFF00"/>
                </a:solidFill>
              </a:rPr>
              <a:t>b. Bonne préparation et </a:t>
            </a:r>
            <a:r>
              <a:rPr lang="fr-FR" sz="1800" dirty="0" smtClean="0">
                <a:solidFill>
                  <a:srgbClr val="FFFF00"/>
                </a:solidFill>
              </a:rPr>
              <a:t>planification: </a:t>
            </a:r>
            <a:r>
              <a:rPr lang="fr-FR" sz="1800" dirty="0" smtClean="0"/>
              <a:t>Ils </a:t>
            </a:r>
            <a:r>
              <a:rPr lang="fr-FR" sz="1800" dirty="0"/>
              <a:t>ont pris le temps de connaître leur marché, leurs clients, et leurs concurrents avant de se lancer.</a:t>
            </a:r>
          </a:p>
          <a:p>
            <a:pPr marL="0" indent="0">
              <a:buNone/>
            </a:pPr>
            <a:r>
              <a:rPr lang="fr-FR" sz="1800" dirty="0" smtClean="0"/>
              <a:t> </a:t>
            </a:r>
            <a:r>
              <a:rPr lang="fr-FR" sz="1800" dirty="0"/>
              <a:t>Ils testent leurs idées avant d’investir massivement</a:t>
            </a:r>
            <a:r>
              <a:rPr lang="fr-FR" sz="1800" dirty="0" smtClean="0"/>
              <a:t>.</a:t>
            </a:r>
            <a:endParaRPr lang="fr-FR" sz="1800" dirty="0"/>
          </a:p>
          <a:p>
            <a:pPr marL="0" indent="0">
              <a:buNone/>
            </a:pPr>
            <a:r>
              <a:rPr lang="fr-FR" sz="1800" dirty="0">
                <a:solidFill>
                  <a:srgbClr val="FFFF00"/>
                </a:solidFill>
              </a:rPr>
              <a:t>c. Capacité </a:t>
            </a:r>
            <a:r>
              <a:rPr lang="fr-FR" sz="1800" dirty="0" smtClean="0">
                <a:solidFill>
                  <a:srgbClr val="FFFF00"/>
                </a:solidFill>
              </a:rPr>
              <a:t>d’adaptation: </a:t>
            </a:r>
            <a:r>
              <a:rPr lang="fr-FR" sz="1800" dirty="0" smtClean="0"/>
              <a:t>Le </a:t>
            </a:r>
            <a:r>
              <a:rPr lang="fr-FR" sz="1800" dirty="0"/>
              <a:t>succès dépend de la flexibilité : savoir changer de stratégie quand le marché ou la technologie évolue.</a:t>
            </a:r>
          </a:p>
          <a:p>
            <a:pPr marL="0" indent="0">
              <a:buNone/>
            </a:pPr>
            <a:r>
              <a:rPr lang="fr-FR" sz="1800" dirty="0" smtClean="0"/>
              <a:t>Ex</a:t>
            </a:r>
            <a:r>
              <a:rPr lang="fr-FR" sz="1800" dirty="0"/>
              <a:t>. : </a:t>
            </a:r>
            <a:r>
              <a:rPr lang="fr-FR" sz="1800" dirty="0" err="1"/>
              <a:t>Netflix</a:t>
            </a:r>
            <a:r>
              <a:rPr lang="fr-FR" sz="1800" dirty="0"/>
              <a:t> est passé du DVD au streaming, puis à la production de contenus.</a:t>
            </a:r>
          </a:p>
          <a:p>
            <a:pPr marL="0" indent="0">
              <a:buNone/>
            </a:pPr>
            <a:r>
              <a:rPr lang="fr-FR" sz="1800" dirty="0">
                <a:solidFill>
                  <a:srgbClr val="FFFF00"/>
                </a:solidFill>
              </a:rPr>
              <a:t>d. Persévérance et </a:t>
            </a:r>
            <a:r>
              <a:rPr lang="fr-FR" sz="1800" dirty="0" smtClean="0">
                <a:solidFill>
                  <a:srgbClr val="FFFF00"/>
                </a:solidFill>
              </a:rPr>
              <a:t>résilience: </a:t>
            </a:r>
            <a:r>
              <a:rPr lang="fr-FR" sz="1800" dirty="0" smtClean="0"/>
              <a:t>Ils </a:t>
            </a:r>
            <a:r>
              <a:rPr lang="fr-FR" sz="1800" dirty="0"/>
              <a:t>ne se découragent pas après un échec.</a:t>
            </a:r>
          </a:p>
          <a:p>
            <a:pPr marL="0" indent="0">
              <a:buNone/>
            </a:pPr>
            <a:r>
              <a:rPr lang="fr-FR" sz="1800" dirty="0" smtClean="0"/>
              <a:t> </a:t>
            </a:r>
            <a:r>
              <a:rPr lang="fr-FR" sz="1800" dirty="0"/>
              <a:t>Ex. : Steve Jobs a été licencié d’Apple avant d’y revenir et de la transformer en géant mondial.</a:t>
            </a:r>
          </a:p>
          <a:p>
            <a:pPr marL="0" indent="0">
              <a:buNone/>
            </a:pPr>
            <a:r>
              <a:rPr lang="fr-FR" sz="1800" dirty="0">
                <a:solidFill>
                  <a:srgbClr val="FFFF00"/>
                </a:solidFill>
              </a:rPr>
              <a:t>e. Compétences et équipe </a:t>
            </a:r>
            <a:r>
              <a:rPr lang="fr-FR" sz="1800" dirty="0" smtClean="0">
                <a:solidFill>
                  <a:srgbClr val="FFFF00"/>
                </a:solidFill>
              </a:rPr>
              <a:t>solide : </a:t>
            </a:r>
            <a:r>
              <a:rPr lang="fr-FR" sz="1800" dirty="0" smtClean="0"/>
              <a:t>Aucun </a:t>
            </a:r>
            <a:r>
              <a:rPr lang="fr-FR" sz="1800" dirty="0"/>
              <a:t>entrepreneur ne réussit seul. Une équipe compétente et motivée fait souvent la différence</a:t>
            </a:r>
            <a:r>
              <a:rPr lang="fr-FR" sz="1800" dirty="0" smtClean="0"/>
              <a:t>.</a:t>
            </a:r>
            <a:endParaRPr lang="fr-FR" sz="1800" dirty="0"/>
          </a:p>
          <a:p>
            <a:pPr marL="0" indent="0">
              <a:buNone/>
            </a:pPr>
            <a:r>
              <a:rPr lang="fr-FR" sz="1800" dirty="0">
                <a:solidFill>
                  <a:srgbClr val="FFFF00"/>
                </a:solidFill>
              </a:rPr>
              <a:t>f. Réseau et </a:t>
            </a:r>
            <a:r>
              <a:rPr lang="fr-FR" sz="1800" dirty="0" smtClean="0">
                <a:solidFill>
                  <a:srgbClr val="FFFF00"/>
                </a:solidFill>
              </a:rPr>
              <a:t>opportunités : </a:t>
            </a:r>
            <a:r>
              <a:rPr lang="fr-FR" sz="1800" dirty="0" smtClean="0"/>
              <a:t>Les </a:t>
            </a:r>
            <a:r>
              <a:rPr lang="fr-FR" sz="1800" dirty="0"/>
              <a:t>relations professionnelles, les partenariats et les mentors jouent un rôle énorme dans le succès</a:t>
            </a:r>
            <a:r>
              <a:rPr lang="fr-FR" sz="1800" dirty="0" smtClean="0"/>
              <a:t>.</a:t>
            </a:r>
            <a:endParaRPr lang="fr-FR" sz="1800" dirty="0"/>
          </a:p>
        </p:txBody>
      </p:sp>
    </p:spTree>
    <p:extLst>
      <p:ext uri="{BB962C8B-B14F-4D97-AF65-F5344CB8AC3E}">
        <p14:creationId xmlns:p14="http://schemas.microsoft.com/office/powerpoint/2010/main" val="32866376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3"/>
          </p:nvPr>
        </p:nvSpPr>
        <p:spPr>
          <a:xfrm>
            <a:off x="611560" y="1331640"/>
            <a:ext cx="7924800" cy="5526360"/>
          </a:xfrm>
        </p:spPr>
        <p:txBody>
          <a:bodyPr>
            <a:noAutofit/>
          </a:bodyPr>
          <a:lstStyle/>
          <a:p>
            <a:r>
              <a:rPr lang="fr-FR" sz="1600" dirty="0"/>
              <a:t>Les causes d’échec les plus </a:t>
            </a:r>
            <a:r>
              <a:rPr lang="fr-FR" sz="1600" dirty="0" smtClean="0"/>
              <a:t>fréquentes</a:t>
            </a:r>
            <a:endParaRPr lang="fr-FR" sz="1600" dirty="0"/>
          </a:p>
          <a:p>
            <a:pPr marL="0" indent="0">
              <a:buNone/>
            </a:pPr>
            <a:r>
              <a:rPr lang="fr-FR" sz="1600" dirty="0">
                <a:solidFill>
                  <a:srgbClr val="FFFF00"/>
                </a:solidFill>
              </a:rPr>
              <a:t>a. Mauvaise compréhension du </a:t>
            </a:r>
            <a:r>
              <a:rPr lang="fr-FR" sz="1600" dirty="0" smtClean="0">
                <a:solidFill>
                  <a:srgbClr val="FFFF00"/>
                </a:solidFill>
              </a:rPr>
              <a:t>marché: </a:t>
            </a:r>
            <a:r>
              <a:rPr lang="fr-FR" sz="1600" dirty="0" smtClean="0"/>
              <a:t>Le </a:t>
            </a:r>
            <a:r>
              <a:rPr lang="fr-FR" sz="1600" dirty="0"/>
              <a:t>produit ne correspond pas à un vrai besoin ou n’a pas de clientèle</a:t>
            </a:r>
            <a:r>
              <a:rPr lang="fr-FR" sz="1600" dirty="0" smtClean="0"/>
              <a:t>.</a:t>
            </a:r>
            <a:r>
              <a:rPr lang="fr-FR" sz="1600" dirty="0"/>
              <a:t> </a:t>
            </a:r>
          </a:p>
          <a:p>
            <a:pPr marL="0" indent="0">
              <a:buNone/>
            </a:pPr>
            <a:r>
              <a:rPr lang="fr-FR" sz="1600" dirty="0">
                <a:solidFill>
                  <a:srgbClr val="FFFF00"/>
                </a:solidFill>
              </a:rPr>
              <a:t>b. Manque de compétences en </a:t>
            </a:r>
            <a:r>
              <a:rPr lang="fr-FR" sz="1600" dirty="0" smtClean="0">
                <a:solidFill>
                  <a:srgbClr val="FFFF00"/>
                </a:solidFill>
              </a:rPr>
              <a:t>gestion: </a:t>
            </a:r>
            <a:r>
              <a:rPr lang="fr-FR" sz="1600" dirty="0" smtClean="0"/>
              <a:t>Certains </a:t>
            </a:r>
            <a:r>
              <a:rPr lang="fr-FR" sz="1600" dirty="0"/>
              <a:t>entrepreneurs sont créatifs, mais ne savent pas gérer les finances, les équipes ou la croissance.</a:t>
            </a:r>
          </a:p>
          <a:p>
            <a:pPr marL="0" indent="0">
              <a:buNone/>
            </a:pPr>
            <a:r>
              <a:rPr lang="fr-FR" sz="1600" dirty="0" smtClean="0">
                <a:solidFill>
                  <a:srgbClr val="FFFF00"/>
                </a:solidFill>
              </a:rPr>
              <a:t>c</a:t>
            </a:r>
            <a:r>
              <a:rPr lang="fr-FR" sz="1600" dirty="0">
                <a:solidFill>
                  <a:srgbClr val="FFFF00"/>
                </a:solidFill>
              </a:rPr>
              <a:t>. Mauvaise stratégie ou absence de plan </a:t>
            </a:r>
            <a:r>
              <a:rPr lang="fr-FR" sz="1600" dirty="0" smtClean="0">
                <a:solidFill>
                  <a:srgbClr val="FFFF00"/>
                </a:solidFill>
              </a:rPr>
              <a:t>d’affaires: </a:t>
            </a:r>
            <a:r>
              <a:rPr lang="fr-FR" sz="1600" dirty="0" smtClean="0"/>
              <a:t>Sans </a:t>
            </a:r>
            <a:r>
              <a:rPr lang="fr-FR" sz="1600" dirty="0"/>
              <a:t>feuille de route, ils se perdent, dépensent trop vite ou prennent de mauvaises décisions</a:t>
            </a:r>
            <a:r>
              <a:rPr lang="fr-FR" sz="1600" dirty="0" smtClean="0"/>
              <a:t>.</a:t>
            </a:r>
            <a:r>
              <a:rPr lang="fr-FR" sz="1600" dirty="0"/>
              <a:t> </a:t>
            </a:r>
          </a:p>
          <a:p>
            <a:pPr marL="0" indent="0">
              <a:buNone/>
            </a:pPr>
            <a:r>
              <a:rPr lang="fr-FR" sz="1600" dirty="0">
                <a:solidFill>
                  <a:srgbClr val="FFFF00"/>
                </a:solidFill>
              </a:rPr>
              <a:t>d. Refus d’écouter ou </a:t>
            </a:r>
            <a:r>
              <a:rPr lang="fr-FR" sz="1600" dirty="0" smtClean="0">
                <a:solidFill>
                  <a:srgbClr val="FFFF00"/>
                </a:solidFill>
              </a:rPr>
              <a:t>d’évoluer: </a:t>
            </a:r>
            <a:r>
              <a:rPr lang="fr-FR" sz="1600" dirty="0" smtClean="0"/>
              <a:t>Certains </a:t>
            </a:r>
            <a:r>
              <a:rPr lang="fr-FR" sz="1600" dirty="0"/>
              <a:t>refusent les critiques, ou s’accrochent à une idée qui ne fonctionne plus.</a:t>
            </a:r>
          </a:p>
          <a:p>
            <a:pPr marL="0" indent="0">
              <a:buNone/>
            </a:pPr>
            <a:r>
              <a:rPr lang="fr-FR" sz="1600" dirty="0" smtClean="0">
                <a:solidFill>
                  <a:srgbClr val="FFFF00"/>
                </a:solidFill>
              </a:rPr>
              <a:t>e</a:t>
            </a:r>
            <a:r>
              <a:rPr lang="fr-FR" sz="1600" dirty="0">
                <a:solidFill>
                  <a:srgbClr val="FFFF00"/>
                </a:solidFill>
              </a:rPr>
              <a:t>. Conflits internes ou </a:t>
            </a:r>
            <a:r>
              <a:rPr lang="fr-FR" sz="1600" dirty="0" smtClean="0">
                <a:solidFill>
                  <a:srgbClr val="FFFF00"/>
                </a:solidFill>
              </a:rPr>
              <a:t>isolement: </a:t>
            </a:r>
            <a:r>
              <a:rPr lang="fr-FR" sz="1600" dirty="0" smtClean="0"/>
              <a:t>Un </a:t>
            </a:r>
            <a:r>
              <a:rPr lang="fr-FR" sz="1600" dirty="0"/>
              <a:t>désaccord entre associés ou une incapacité à déléguer peut faire échouer un projet prometteur.</a:t>
            </a:r>
          </a:p>
          <a:p>
            <a:pPr marL="0" indent="0">
              <a:buNone/>
            </a:pPr>
            <a:r>
              <a:rPr lang="fr-FR" sz="1600" dirty="0" smtClean="0">
                <a:solidFill>
                  <a:srgbClr val="FFFF00"/>
                </a:solidFill>
              </a:rPr>
              <a:t>f</a:t>
            </a:r>
            <a:r>
              <a:rPr lang="fr-FR" sz="1600" dirty="0">
                <a:solidFill>
                  <a:srgbClr val="FFFF00"/>
                </a:solidFill>
              </a:rPr>
              <a:t>. Manque de financement ou de </a:t>
            </a:r>
            <a:r>
              <a:rPr lang="fr-FR" sz="1600" dirty="0" smtClean="0">
                <a:solidFill>
                  <a:srgbClr val="FFFF00"/>
                </a:solidFill>
              </a:rPr>
              <a:t>soutien: </a:t>
            </a:r>
            <a:r>
              <a:rPr lang="fr-FR" sz="1600" dirty="0" smtClean="0"/>
              <a:t>Beaucoup </a:t>
            </a:r>
            <a:r>
              <a:rPr lang="fr-FR" sz="1600" dirty="0"/>
              <a:t>d’entreprises ferment faute de capital ou d’accès à des ressources.</a:t>
            </a:r>
          </a:p>
          <a:p>
            <a:pPr marL="0" indent="0">
              <a:buNone/>
            </a:pPr>
            <a:endParaRPr lang="fr-FR" sz="1600" dirty="0"/>
          </a:p>
          <a:p>
            <a:endParaRPr lang="fr-FR" sz="1600" dirty="0"/>
          </a:p>
        </p:txBody>
      </p:sp>
    </p:spTree>
    <p:extLst>
      <p:ext uri="{BB962C8B-B14F-4D97-AF65-F5344CB8AC3E}">
        <p14:creationId xmlns:p14="http://schemas.microsoft.com/office/powerpoint/2010/main" val="2434068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7 bénéfices à se faire accompagner pour créer une entrepri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240" y="404664"/>
            <a:ext cx="7011144" cy="5503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0464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9600" y="2502024"/>
            <a:ext cx="7924800" cy="1143000"/>
          </a:xfrm>
        </p:spPr>
        <p:txBody>
          <a:bodyPr/>
          <a:lstStyle/>
          <a:p>
            <a:r>
              <a:rPr lang="fr-FR" b="1" dirty="0" smtClean="0">
                <a:solidFill>
                  <a:srgbClr val="FFC000"/>
                </a:solidFill>
              </a:rPr>
              <a:t>D’Où vient le mythe de l’entrepreneur ?</a:t>
            </a:r>
            <a:endParaRPr lang="fr-FR" b="1" dirty="0">
              <a:solidFill>
                <a:srgbClr val="FFC000"/>
              </a:solidFill>
            </a:endParaRPr>
          </a:p>
        </p:txBody>
      </p:sp>
    </p:spTree>
    <p:extLst>
      <p:ext uri="{BB962C8B-B14F-4D97-AF65-F5344CB8AC3E}">
        <p14:creationId xmlns:p14="http://schemas.microsoft.com/office/powerpoint/2010/main" val="308094903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3"/>
          </p:nvPr>
        </p:nvSpPr>
        <p:spPr/>
        <p:txBody>
          <a:bodyPr/>
          <a:lstStyle/>
          <a:p>
            <a:endParaRPr lang="fr-F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32656"/>
            <a:ext cx="5206518" cy="322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Dormir sur une corde à linge avec le &quot;two penny hangover&quot; | La vie au XIXe  sièc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sp>
        <p:nvSpPr>
          <p:cNvPr id="5" name="AutoShape 6" descr="Dormir sur une corde à linge avec le &quot;two penny hangover&quot; | La vie au XIXe  siècl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8626" y="3573016"/>
            <a:ext cx="6887870" cy="328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42497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3"/>
          </p:nvPr>
        </p:nvSpPr>
        <p:spPr/>
        <p:txBody>
          <a:bodyPr/>
          <a:lstStyle/>
          <a:p>
            <a:endParaRPr 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857250"/>
            <a:ext cx="779145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82340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xmlns="" id="{BE0EC956-56A3-47A3-BBC5-9237F81A5556}"/>
              </a:ext>
            </a:extLst>
          </p:cNvPr>
          <p:cNvPicPr>
            <a:picLocks noChangeAspect="1"/>
          </p:cNvPicPr>
          <p:nvPr/>
        </p:nvPicPr>
        <p:blipFill>
          <a:blip r:embed="rId2"/>
          <a:srcRect b="29846"/>
          <a:stretch>
            <a:fillRect/>
          </a:stretch>
        </p:blipFill>
        <p:spPr>
          <a:xfrm>
            <a:off x="238504" y="188640"/>
            <a:ext cx="2614088" cy="1233935"/>
          </a:xfrm>
          <a:prstGeom prst="rect">
            <a:avLst/>
          </a:prstGeom>
          <a:noFill/>
          <a:ln cap="flat">
            <a:noFill/>
          </a:ln>
        </p:spPr>
      </p:pic>
      <p:pic>
        <p:nvPicPr>
          <p:cNvPr id="5" name="Picture 3">
            <a:extLst>
              <a:ext uri="{FF2B5EF4-FFF2-40B4-BE49-F238E27FC236}">
                <a16:creationId xmlns:a16="http://schemas.microsoft.com/office/drawing/2014/main" xmlns="" id="{D234E5A2-0FFC-40D9-A069-99F9E15AA485}"/>
              </a:ext>
            </a:extLst>
          </p:cNvPr>
          <p:cNvPicPr>
            <a:picLocks noChangeAspect="1"/>
          </p:cNvPicPr>
          <p:nvPr/>
        </p:nvPicPr>
        <p:blipFill>
          <a:blip r:embed="rId3"/>
          <a:stretch>
            <a:fillRect/>
          </a:stretch>
        </p:blipFill>
        <p:spPr>
          <a:xfrm>
            <a:off x="-3345250" y="2323113"/>
            <a:ext cx="2268160" cy="1371600"/>
          </a:xfrm>
          <a:prstGeom prst="rect">
            <a:avLst/>
          </a:prstGeom>
          <a:noFill/>
          <a:ln cap="flat">
            <a:noFill/>
          </a:ln>
        </p:spPr>
      </p:pic>
      <p:pic>
        <p:nvPicPr>
          <p:cNvPr id="6" name="Picture 4">
            <a:extLst>
              <a:ext uri="{FF2B5EF4-FFF2-40B4-BE49-F238E27FC236}">
                <a16:creationId xmlns:a16="http://schemas.microsoft.com/office/drawing/2014/main" xmlns="" id="{A0C0A912-E631-45C2-B167-9A20BBCC6191}"/>
              </a:ext>
            </a:extLst>
          </p:cNvPr>
          <p:cNvPicPr>
            <a:picLocks noChangeAspect="1"/>
          </p:cNvPicPr>
          <p:nvPr/>
        </p:nvPicPr>
        <p:blipFill>
          <a:blip r:embed="rId4"/>
          <a:stretch>
            <a:fillRect/>
          </a:stretch>
        </p:blipFill>
        <p:spPr>
          <a:xfrm>
            <a:off x="6734747" y="332656"/>
            <a:ext cx="2088233" cy="1364696"/>
          </a:xfrm>
          <a:prstGeom prst="rect">
            <a:avLst/>
          </a:prstGeom>
          <a:noFill/>
          <a:ln cap="flat">
            <a:noFill/>
          </a:ln>
        </p:spPr>
      </p:pic>
      <p:pic>
        <p:nvPicPr>
          <p:cNvPr id="7" name="Picture 5">
            <a:extLst>
              <a:ext uri="{FF2B5EF4-FFF2-40B4-BE49-F238E27FC236}">
                <a16:creationId xmlns:a16="http://schemas.microsoft.com/office/drawing/2014/main" xmlns="" id="{D5660F99-BFDC-44EE-B7F4-B349B8BD7F1B}"/>
              </a:ext>
            </a:extLst>
          </p:cNvPr>
          <p:cNvPicPr>
            <a:picLocks noChangeAspect="1"/>
          </p:cNvPicPr>
          <p:nvPr/>
        </p:nvPicPr>
        <p:blipFill>
          <a:blip r:embed="rId5"/>
          <a:srcRect b="10739"/>
          <a:stretch>
            <a:fillRect/>
          </a:stretch>
        </p:blipFill>
        <p:spPr>
          <a:xfrm>
            <a:off x="467544" y="3534879"/>
            <a:ext cx="3361872" cy="2192756"/>
          </a:xfrm>
          <a:prstGeom prst="rect">
            <a:avLst/>
          </a:prstGeom>
          <a:noFill/>
          <a:ln cap="flat">
            <a:noFill/>
          </a:ln>
        </p:spPr>
      </p:pic>
      <p:pic>
        <p:nvPicPr>
          <p:cNvPr id="8" name="Picture 4"/>
          <p:cNvPicPr>
            <a:picLocks noChangeAspect="1" noChangeArrowheads="1"/>
          </p:cNvPicPr>
          <p:nvPr/>
        </p:nvPicPr>
        <p:blipFill>
          <a:blip r:embed="rId6"/>
          <a:srcRect/>
          <a:stretch>
            <a:fillRect/>
          </a:stretch>
        </p:blipFill>
        <p:spPr bwMode="auto">
          <a:xfrm>
            <a:off x="4499992" y="3414131"/>
            <a:ext cx="4322988" cy="3249440"/>
          </a:xfrm>
          <a:prstGeom prst="rect">
            <a:avLst/>
          </a:prstGeom>
          <a:noFill/>
          <a:ln w="9525">
            <a:noFill/>
            <a:miter lim="800000"/>
            <a:headEnd/>
            <a:tailEnd/>
          </a:ln>
          <a:effectLst/>
        </p:spPr>
      </p:pic>
      <p:pic>
        <p:nvPicPr>
          <p:cNvPr id="7170" name="Picture 2" descr="La radio conquiert l'oreille des Français - Histoire analysée en images et  œuvres d'art | https://histoire-image.or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737" y="988978"/>
            <a:ext cx="3158377" cy="2306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1358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Théorie de la destruction créatrice - Joseph Schumpeter - Payot - Poche -  Librairie Gallimard Par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04664"/>
            <a:ext cx="2160240" cy="3348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1124745"/>
            <a:ext cx="6364082" cy="4645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641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80528" y="1484784"/>
            <a:ext cx="4427984" cy="1143000"/>
          </a:xfrm>
          <a:prstGeom prst="rect">
            <a:avLst/>
          </a:prstGeom>
        </p:spPr>
        <p:txBody>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smtClean="0">
                <a:solidFill>
                  <a:srgbClr val="FFC000"/>
                </a:solidFill>
              </a:rPr>
              <a:t>Principales étapes </a:t>
            </a:r>
            <a:endParaRPr lang="fr-FR" b="1" dirty="0">
              <a:solidFill>
                <a:srgbClr val="FFC000"/>
              </a:solidFill>
            </a:endParaRPr>
          </a:p>
        </p:txBody>
      </p:sp>
      <p:pic>
        <p:nvPicPr>
          <p:cNvPr id="3" name="object 2"/>
          <p:cNvPicPr/>
          <p:nvPr/>
        </p:nvPicPr>
        <p:blipFill>
          <a:blip r:embed="rId2" cstate="print"/>
          <a:stretch>
            <a:fillRect/>
          </a:stretch>
        </p:blipFill>
        <p:spPr>
          <a:xfrm>
            <a:off x="3995936" y="31142"/>
            <a:ext cx="5126018" cy="3901914"/>
          </a:xfrm>
          <a:prstGeom prst="rect">
            <a:avLst/>
          </a:prstGeom>
        </p:spPr>
      </p:pic>
    </p:spTree>
    <p:extLst>
      <p:ext uri="{BB962C8B-B14F-4D97-AF65-F5344CB8AC3E}">
        <p14:creationId xmlns:p14="http://schemas.microsoft.com/office/powerpoint/2010/main" val="24316423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842963"/>
            <a:ext cx="8820150"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7500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814388"/>
            <a:ext cx="8658225" cy="522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501398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3" y="1033463"/>
            <a:ext cx="8562975"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062038"/>
            <a:ext cx="8639175" cy="476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033463"/>
            <a:ext cx="8324850"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28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13316"/>
                                        </p:tgtEl>
                                        <p:attrNameLst>
                                          <p:attrName>style.visibility</p:attrName>
                                        </p:attrNameLst>
                                      </p:cBhvr>
                                      <p:to>
                                        <p:strVal val="visible"/>
                                      </p:to>
                                    </p:set>
                                  </p:childTnLst>
                                </p:cTn>
                              </p:par>
                            </p:childTnLst>
                          </p:cTn>
                        </p:par>
                        <p:par>
                          <p:cTn id="7" fill="hold">
                            <p:stCondLst>
                              <p:cond delay="1000"/>
                            </p:stCondLst>
                            <p:childTnLst>
                              <p:par>
                                <p:cTn id="8" presetID="1" presetClass="entr" presetSubtype="0" fill="hold" nodeType="afterEffect">
                                  <p:stCondLst>
                                    <p:cond delay="1000"/>
                                  </p:stCondLst>
                                  <p:childTnLst>
                                    <p:set>
                                      <p:cBhvr>
                                        <p:cTn id="9" dur="1" fill="hold">
                                          <p:stCondLst>
                                            <p:cond delay="0"/>
                                          </p:stCondLst>
                                        </p:cTn>
                                        <p:tgtEl>
                                          <p:spTgt spid="13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Principales étapes </a:t>
            </a:r>
            <a:endParaRPr lang="fr-FR" b="1" dirty="0"/>
          </a:p>
        </p:txBody>
      </p:sp>
      <p:sp>
        <p:nvSpPr>
          <p:cNvPr id="3" name="Espace réservé du contenu 2"/>
          <p:cNvSpPr>
            <a:spLocks noGrp="1"/>
          </p:cNvSpPr>
          <p:nvPr>
            <p:ph sz="quarter" idx="13"/>
          </p:nvPr>
        </p:nvSpPr>
        <p:spPr>
          <a:xfrm>
            <a:off x="609600" y="2266528"/>
            <a:ext cx="7924800" cy="4114800"/>
          </a:xfrm>
        </p:spPr>
        <p:txBody>
          <a:bodyPr/>
          <a:lstStyle/>
          <a:p>
            <a:r>
              <a:rPr lang="fr-FR" sz="2800" dirty="0" smtClean="0"/>
              <a:t>Analyser son attitude</a:t>
            </a:r>
          </a:p>
          <a:p>
            <a:r>
              <a:rPr lang="fr-FR" sz="2800" dirty="0" smtClean="0"/>
              <a:t>Acquérir l’expérience</a:t>
            </a:r>
          </a:p>
          <a:p>
            <a:endParaRPr lang="fr-FR" dirty="0"/>
          </a:p>
        </p:txBody>
      </p:sp>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3501008"/>
            <a:ext cx="252412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descr="La loi de Pareto, stratégie efficace pour améliorer l'efficacité et la  rentabilité?"/>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152" y="332656"/>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De la performance à l'excellence - Pearson Fran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sp>
        <p:nvSpPr>
          <p:cNvPr id="6" name="AutoShape 6" descr="De la performance à l'excellence - Pearson Franc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grpSp>
        <p:nvGrpSpPr>
          <p:cNvPr id="8" name="Groupe 7"/>
          <p:cNvGrpSpPr/>
          <p:nvPr/>
        </p:nvGrpSpPr>
        <p:grpSpPr>
          <a:xfrm>
            <a:off x="251520" y="4025602"/>
            <a:ext cx="1781175" cy="2941082"/>
            <a:chOff x="251520" y="4025602"/>
            <a:chExt cx="1781175" cy="2941082"/>
          </a:xfrm>
        </p:grpSpPr>
        <p:pic>
          <p:nvPicPr>
            <p:cNvPr id="615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4025602"/>
              <a:ext cx="1781175"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ZoneTexte 6"/>
            <p:cNvSpPr txBox="1"/>
            <p:nvPr/>
          </p:nvSpPr>
          <p:spPr>
            <a:xfrm>
              <a:off x="251520" y="6597352"/>
              <a:ext cx="1781175" cy="369332"/>
            </a:xfrm>
            <a:prstGeom prst="rect">
              <a:avLst/>
            </a:prstGeom>
            <a:noFill/>
          </p:spPr>
          <p:txBody>
            <a:bodyPr wrap="square" rtlCol="0">
              <a:spAutoFit/>
            </a:bodyPr>
            <a:lstStyle/>
            <a:p>
              <a:r>
                <a:rPr lang="fr-FR" dirty="0">
                  <a:solidFill>
                    <a:srgbClr val="9D936F">
                      <a:lumMod val="50000"/>
                    </a:srgbClr>
                  </a:solidFill>
                </a:rPr>
                <a:t>L’amiral </a:t>
              </a:r>
              <a:r>
                <a:rPr lang="fr-FR" dirty="0" err="1">
                  <a:solidFill>
                    <a:srgbClr val="9D936F">
                      <a:lumMod val="50000"/>
                    </a:srgbClr>
                  </a:solidFill>
                </a:rPr>
                <a:t>stockwold</a:t>
              </a:r>
              <a:endParaRPr lang="fr-FR" dirty="0">
                <a:solidFill>
                  <a:srgbClr val="9D936F">
                    <a:lumMod val="50000"/>
                  </a:srgbClr>
                </a:solidFill>
              </a:endParaRPr>
            </a:p>
          </p:txBody>
        </p:sp>
      </p:grpSp>
    </p:spTree>
    <p:extLst>
      <p:ext uri="{BB962C8B-B14F-4D97-AF65-F5344CB8AC3E}">
        <p14:creationId xmlns:p14="http://schemas.microsoft.com/office/powerpoint/2010/main" val="323533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4" name="Rectangle 3"/>
          <p:cNvSpPr/>
          <p:nvPr/>
        </p:nvSpPr>
        <p:spPr>
          <a:xfrm>
            <a:off x="1403648" y="1988840"/>
            <a:ext cx="6768752" cy="2308324"/>
          </a:xfrm>
          <a:prstGeom prst="rect">
            <a:avLst/>
          </a:prstGeom>
          <a:noFill/>
        </p:spPr>
        <p:txBody>
          <a:bodyPr wrap="square" lIns="91440" tIns="45720" rIns="91440" bIns="45720">
            <a:spAutoFit/>
          </a:bodyPr>
          <a:lstStyle/>
          <a:p>
            <a:pPr algn="ctr"/>
            <a:r>
              <a:rPr lang="fr-FR" sz="7200" b="1" dirty="0">
                <a:ln w="24500" cmpd="dbl">
                  <a:solidFill>
                    <a:srgbClr val="CC8E60">
                      <a:shade val="85000"/>
                      <a:satMod val="155000"/>
                    </a:srgbClr>
                  </a:solidFill>
                  <a:prstDash val="solid"/>
                  <a:miter lim="800000"/>
                </a:ln>
                <a:gradFill>
                  <a:gsLst>
                    <a:gs pos="10000">
                      <a:srgbClr val="CC8E60">
                        <a:tint val="10000"/>
                        <a:satMod val="155000"/>
                      </a:srgbClr>
                    </a:gs>
                    <a:gs pos="60000">
                      <a:srgbClr val="CC8E60">
                        <a:tint val="30000"/>
                        <a:satMod val="155000"/>
                      </a:srgbClr>
                    </a:gs>
                    <a:gs pos="100000">
                      <a:srgbClr val="CC8E60">
                        <a:tint val="73000"/>
                        <a:satMod val="155000"/>
                      </a:srgbClr>
                    </a:gs>
                  </a:gsLst>
                  <a:lin ang="5400000"/>
                </a:gradFill>
                <a:effectLst>
                  <a:outerShdw blurRad="38100" dist="38100" dir="7020000" algn="tl">
                    <a:srgbClr val="000000">
                      <a:alpha val="35000"/>
                    </a:srgbClr>
                  </a:outerShdw>
                </a:effectLst>
              </a:rPr>
              <a:t>WORK TO </a:t>
            </a:r>
            <a:r>
              <a:rPr lang="fr-FR" sz="7200" b="1" i="1" dirty="0">
                <a:ln w="24500" cmpd="dbl">
                  <a:solidFill>
                    <a:srgbClr val="CC8E60">
                      <a:shade val="85000"/>
                      <a:satMod val="155000"/>
                    </a:srgbClr>
                  </a:solidFill>
                  <a:prstDash val="solid"/>
                  <a:miter lim="800000"/>
                </a:ln>
                <a:solidFill>
                  <a:srgbClr val="FFFF00"/>
                </a:solidFill>
                <a:effectLst>
                  <a:outerShdw blurRad="38100" dist="38100" dir="7020000" algn="tl">
                    <a:srgbClr val="000000">
                      <a:alpha val="35000"/>
                    </a:srgbClr>
                  </a:outerShdw>
                </a:effectLst>
              </a:rPr>
              <a:t>LEARN</a:t>
            </a:r>
          </a:p>
          <a:p>
            <a:pPr algn="ctr"/>
            <a:r>
              <a:rPr lang="fr-FR" sz="7200" b="1" dirty="0">
                <a:ln w="24500" cmpd="dbl">
                  <a:solidFill>
                    <a:srgbClr val="CC8E60">
                      <a:shade val="85000"/>
                      <a:satMod val="155000"/>
                    </a:srgbClr>
                  </a:solidFill>
                  <a:prstDash val="solid"/>
                  <a:miter lim="800000"/>
                </a:ln>
                <a:gradFill>
                  <a:gsLst>
                    <a:gs pos="10000">
                      <a:srgbClr val="CC8E60">
                        <a:tint val="10000"/>
                        <a:satMod val="155000"/>
                      </a:srgbClr>
                    </a:gs>
                    <a:gs pos="60000">
                      <a:srgbClr val="CC8E60">
                        <a:tint val="30000"/>
                        <a:satMod val="155000"/>
                      </a:srgbClr>
                    </a:gs>
                    <a:gs pos="100000">
                      <a:srgbClr val="CC8E60">
                        <a:tint val="73000"/>
                        <a:satMod val="155000"/>
                      </a:srgbClr>
                    </a:gs>
                  </a:gsLst>
                  <a:lin ang="5400000"/>
                </a:gradFill>
                <a:effectLst>
                  <a:outerShdw blurRad="38100" dist="38100" dir="7020000" algn="tl">
                    <a:srgbClr val="000000">
                      <a:alpha val="35000"/>
                    </a:srgbClr>
                  </a:outerShdw>
                </a:effectLst>
              </a:rPr>
              <a:t>NOT TO </a:t>
            </a:r>
            <a:r>
              <a:rPr lang="fr-FR" sz="7200" b="1" i="1" dirty="0">
                <a:ln w="24500" cmpd="dbl">
                  <a:solidFill>
                    <a:srgbClr val="CC8E60">
                      <a:shade val="85000"/>
                      <a:satMod val="155000"/>
                    </a:srgbClr>
                  </a:solidFill>
                  <a:prstDash val="solid"/>
                  <a:miter lim="800000"/>
                </a:ln>
                <a:solidFill>
                  <a:srgbClr val="FFFF00"/>
                </a:solidFill>
                <a:effectLst>
                  <a:outerShdw blurRad="38100" dist="38100" dir="7020000" algn="tl">
                    <a:srgbClr val="000000">
                      <a:alpha val="35000"/>
                    </a:srgbClr>
                  </a:outerShdw>
                </a:effectLst>
              </a:rPr>
              <a:t>EARN</a:t>
            </a:r>
            <a:endParaRPr lang="fr-FR" sz="7200" b="1" i="1" dirty="0">
              <a:ln w="24500" cmpd="dbl">
                <a:solidFill>
                  <a:srgbClr val="CC8E60">
                    <a:shade val="85000"/>
                    <a:satMod val="155000"/>
                  </a:srgbClr>
                </a:solidFill>
                <a:prstDash val="solid"/>
                <a:miter lim="800000"/>
              </a:ln>
              <a:solidFill>
                <a:srgbClr val="FFFF00"/>
              </a:solidFill>
              <a:effectLst>
                <a:outerShdw blurRad="38100" dist="38100" dir="7020000" algn="tl">
                  <a:srgbClr val="000000">
                    <a:alpha val="35000"/>
                  </a:srgbClr>
                </a:outerShdw>
              </a:effectLst>
            </a:endParaRPr>
          </a:p>
        </p:txBody>
      </p:sp>
    </p:spTree>
    <p:extLst>
      <p:ext uri="{BB962C8B-B14F-4D97-AF65-F5344CB8AC3E}">
        <p14:creationId xmlns:p14="http://schemas.microsoft.com/office/powerpoint/2010/main" val="40629436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Principales étapes </a:t>
            </a:r>
            <a:endParaRPr lang="fr-FR" b="1" dirty="0"/>
          </a:p>
        </p:txBody>
      </p:sp>
      <p:sp>
        <p:nvSpPr>
          <p:cNvPr id="3" name="Espace réservé du contenu 2"/>
          <p:cNvSpPr>
            <a:spLocks noGrp="1"/>
          </p:cNvSpPr>
          <p:nvPr>
            <p:ph sz="quarter" idx="13"/>
          </p:nvPr>
        </p:nvSpPr>
        <p:spPr>
          <a:xfrm>
            <a:off x="609600" y="2410544"/>
            <a:ext cx="7924800" cy="4114800"/>
          </a:xfrm>
        </p:spPr>
        <p:txBody>
          <a:bodyPr/>
          <a:lstStyle/>
          <a:p>
            <a:r>
              <a:rPr lang="fr-FR" sz="2800" dirty="0" smtClean="0"/>
              <a:t>Analyser son attitude</a:t>
            </a:r>
          </a:p>
          <a:p>
            <a:r>
              <a:rPr lang="fr-FR" sz="2800" dirty="0" smtClean="0"/>
              <a:t>Acquérir l’expérience</a:t>
            </a:r>
          </a:p>
          <a:p>
            <a:r>
              <a:rPr lang="fr-FR" sz="2800" dirty="0" smtClean="0"/>
              <a:t>Créer son entreprise</a:t>
            </a:r>
          </a:p>
          <a:p>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1907" y="1952836"/>
            <a:ext cx="3706517" cy="226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158299" y="4293096"/>
            <a:ext cx="1141659" cy="369332"/>
          </a:xfrm>
          <a:prstGeom prst="rect">
            <a:avLst/>
          </a:prstGeom>
        </p:spPr>
        <p:txBody>
          <a:bodyPr wrap="none">
            <a:spAutoFit/>
          </a:bodyPr>
          <a:lstStyle/>
          <a:p>
            <a:r>
              <a:rPr lang="fr-FR" dirty="0">
                <a:solidFill>
                  <a:srgbClr val="FFFFFF"/>
                </a:solidFill>
              </a:rPr>
              <a:t>TIME  OUT</a:t>
            </a:r>
            <a:endParaRPr lang="fr-FR" dirty="0">
              <a:solidFill>
                <a:srgbClr val="FFFFFF"/>
              </a:solidFill>
            </a:endParaRPr>
          </a:p>
        </p:txBody>
      </p:sp>
      <p:sp>
        <p:nvSpPr>
          <p:cNvPr id="7" name="AutoShape 4" descr="How to Achieve Financial Freedom | Brian Trac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srgbClr val="FFFFFF"/>
              </a:solidFill>
            </a:endParaRPr>
          </a:p>
        </p:txBody>
      </p:sp>
      <p:pic>
        <p:nvPicPr>
          <p:cNvPr id="92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75" y="4535691"/>
            <a:ext cx="2599457" cy="1729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55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Principales étapes </a:t>
            </a:r>
            <a:endParaRPr lang="fr-FR" b="1" dirty="0"/>
          </a:p>
        </p:txBody>
      </p:sp>
      <p:sp>
        <p:nvSpPr>
          <p:cNvPr id="3" name="Espace réservé du contenu 2"/>
          <p:cNvSpPr>
            <a:spLocks noGrp="1"/>
          </p:cNvSpPr>
          <p:nvPr>
            <p:ph sz="quarter" idx="13"/>
          </p:nvPr>
        </p:nvSpPr>
        <p:spPr>
          <a:xfrm>
            <a:off x="609600" y="2410544"/>
            <a:ext cx="7924800" cy="4114800"/>
          </a:xfrm>
        </p:spPr>
        <p:txBody>
          <a:bodyPr/>
          <a:lstStyle/>
          <a:p>
            <a:r>
              <a:rPr lang="fr-FR" sz="2800" dirty="0" smtClean="0"/>
              <a:t>Analyser son attitude</a:t>
            </a:r>
          </a:p>
          <a:p>
            <a:r>
              <a:rPr lang="fr-FR" sz="2800" dirty="0" smtClean="0"/>
              <a:t>Acquérir l’expérience</a:t>
            </a:r>
          </a:p>
          <a:p>
            <a:r>
              <a:rPr lang="fr-FR" sz="2800" dirty="0" smtClean="0"/>
              <a:t>Créer son entreprise</a:t>
            </a:r>
          </a:p>
          <a:p>
            <a:r>
              <a:rPr lang="fr-FR" sz="2800" dirty="0" smtClean="0"/>
              <a:t>Bien dépenser son argent</a:t>
            </a:r>
          </a:p>
          <a:p>
            <a:endParaRPr lang="fr-F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9092" y="476672"/>
            <a:ext cx="4388252"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descr="Comment faire germer une idée ? Par Eveline Bouillon - ic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3993" y="4077072"/>
            <a:ext cx="2838450" cy="1609726"/>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p:cNvSpPr txBox="1"/>
          <p:nvPr/>
        </p:nvSpPr>
        <p:spPr>
          <a:xfrm>
            <a:off x="3059832" y="6093296"/>
            <a:ext cx="2232248" cy="369332"/>
          </a:xfrm>
          <a:prstGeom prst="rect">
            <a:avLst/>
          </a:prstGeom>
          <a:noFill/>
        </p:spPr>
        <p:txBody>
          <a:bodyPr wrap="square" rtlCol="0">
            <a:spAutoFit/>
          </a:bodyPr>
          <a:lstStyle/>
          <a:p>
            <a:pPr algn="ctr"/>
            <a:r>
              <a:rPr lang="fr-FR" dirty="0">
                <a:solidFill>
                  <a:srgbClr val="FFFFFF"/>
                </a:solidFill>
              </a:rPr>
              <a:t>Passifs / Actifs</a:t>
            </a:r>
            <a:endParaRPr lang="fr-FR" dirty="0">
              <a:solidFill>
                <a:srgbClr val="FFFFFF"/>
              </a:solidFill>
            </a:endParaRPr>
          </a:p>
        </p:txBody>
      </p:sp>
    </p:spTree>
    <p:extLst>
      <p:ext uri="{BB962C8B-B14F-4D97-AF65-F5344CB8AC3E}">
        <p14:creationId xmlns:p14="http://schemas.microsoft.com/office/powerpoint/2010/main" val="286989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786" y="2276872"/>
            <a:ext cx="7328196" cy="3206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re 3"/>
          <p:cNvSpPr>
            <a:spLocks noGrp="1"/>
          </p:cNvSpPr>
          <p:nvPr>
            <p:ph type="title"/>
          </p:nvPr>
        </p:nvSpPr>
        <p:spPr/>
        <p:txBody>
          <a:bodyPr/>
          <a:lstStyle/>
          <a:p>
            <a:r>
              <a:rPr lang="fr-FR" dirty="0" smtClean="0"/>
              <a:t>Conclusion </a:t>
            </a:r>
            <a:endParaRPr lang="fr-FR" dirty="0"/>
          </a:p>
        </p:txBody>
      </p:sp>
    </p:spTree>
    <p:extLst>
      <p:ext uri="{BB962C8B-B14F-4D97-AF65-F5344CB8AC3E}">
        <p14:creationId xmlns:p14="http://schemas.microsoft.com/office/powerpoint/2010/main" val="45068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2636912"/>
            <a:ext cx="7924800" cy="11430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fr-FR" sz="4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NE MANGE PAS LA GRAINE, </a:t>
            </a:r>
            <a:br>
              <a:rPr lang="fr-FR" sz="4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br>
            <a:r>
              <a:rPr lang="fr-FR" sz="40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PLANTE LA.</a:t>
            </a:r>
            <a:endParaRPr lang="fr-FR" sz="40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pic>
        <p:nvPicPr>
          <p:cNvPr id="10242" name="Picture 2" descr="10 graines qui poussent v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4005064"/>
            <a:ext cx="2962275" cy="154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96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3568" y="2420888"/>
            <a:ext cx="7924800" cy="1143000"/>
          </a:xfrm>
        </p:spPr>
        <p:txBody>
          <a:bodyPr/>
          <a:lstStyle/>
          <a:p>
            <a:pPr algn="ctr"/>
            <a:r>
              <a:rPr lang="fr-FR" b="1" dirty="0" smtClean="0">
                <a:solidFill>
                  <a:srgbClr val="FFC000"/>
                </a:solidFill>
              </a:rPr>
              <a:t>Quels exemples d’entrepreneurs t’inspirent et pourquoi ?</a:t>
            </a:r>
            <a:endParaRPr lang="fr-FR" b="1" dirty="0">
              <a:solidFill>
                <a:srgbClr val="FFC000"/>
              </a:solidFill>
            </a:endParaRPr>
          </a:p>
        </p:txBody>
      </p:sp>
    </p:spTree>
    <p:extLst>
      <p:ext uri="{BB962C8B-B14F-4D97-AF65-F5344CB8AC3E}">
        <p14:creationId xmlns:p14="http://schemas.microsoft.com/office/powerpoint/2010/main" val="6011914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1560" y="3150096"/>
            <a:ext cx="7924800" cy="1143000"/>
          </a:xfrm>
        </p:spPr>
        <p:txBody>
          <a:bodyPr/>
          <a:lstStyle/>
          <a:p>
            <a:pPr algn="ctr"/>
            <a:r>
              <a:rPr lang="fr-FR" b="1" dirty="0" smtClean="0">
                <a:solidFill>
                  <a:srgbClr val="FFC000"/>
                </a:solidFill>
              </a:rPr>
              <a:t>« Tu n’as pas besoin d’être riche pour commencer, mais tu dois commencer pour être riche »</a:t>
            </a:r>
            <a:endParaRPr lang="fr-FR" b="1" dirty="0">
              <a:solidFill>
                <a:srgbClr val="FFC000"/>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362200"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581377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b="1" dirty="0" smtClean="0">
                <a:solidFill>
                  <a:srgbClr val="FFC000"/>
                </a:solidFill>
              </a:rPr>
              <a:t>Innovation </a:t>
            </a:r>
            <a:endParaRPr lang="fr-FR" b="1" dirty="0">
              <a:solidFill>
                <a:srgbClr val="FFC000"/>
              </a:solidFill>
            </a:endParaRPr>
          </a:p>
        </p:txBody>
      </p:sp>
    </p:spTree>
    <p:extLst>
      <p:ext uri="{BB962C8B-B14F-4D97-AF65-F5344CB8AC3E}">
        <p14:creationId xmlns:p14="http://schemas.microsoft.com/office/powerpoint/2010/main" val="37521652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80729"/>
            <a:ext cx="7306636" cy="398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323869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pPr algn="ctr"/>
            <a:r>
              <a:rPr lang="fr-FR" b="1" dirty="0" smtClean="0">
                <a:solidFill>
                  <a:srgbClr val="FFC000"/>
                </a:solidFill>
              </a:rPr>
              <a:t>C’est quoi l’innovation ?</a:t>
            </a:r>
            <a:endParaRPr lang="fr-FR" b="1" dirty="0">
              <a:solidFill>
                <a:srgbClr val="FFC000"/>
              </a:solidFill>
            </a:endParaRPr>
          </a:p>
        </p:txBody>
      </p:sp>
      <p:sp>
        <p:nvSpPr>
          <p:cNvPr id="4" name="Espace réservé du contenu 3"/>
          <p:cNvSpPr>
            <a:spLocks noGrp="1"/>
          </p:cNvSpPr>
          <p:nvPr>
            <p:ph sz="quarter" idx="13"/>
          </p:nvPr>
        </p:nvSpPr>
        <p:spPr/>
        <p:txBody>
          <a:bodyPr>
            <a:normAutofit/>
          </a:bodyPr>
          <a:lstStyle/>
          <a:p>
            <a:r>
              <a:rPr lang="fr-FR" sz="2400" dirty="0" smtClean="0"/>
              <a:t>Une idée ?</a:t>
            </a:r>
          </a:p>
          <a:p>
            <a:r>
              <a:rPr lang="fr-FR" sz="2400" dirty="0" smtClean="0"/>
              <a:t>Une invention ?</a:t>
            </a:r>
          </a:p>
          <a:p>
            <a:endParaRPr lang="fr-FR" sz="24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2636912"/>
            <a:ext cx="806767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192" y="3573016"/>
            <a:ext cx="2143894" cy="216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5" descr="Double SIM Débloqué Android 8.1 Smartphone avec HD Guinea | Ubu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229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3645024"/>
            <a:ext cx="21431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959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1556792"/>
            <a:ext cx="812482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955326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solidFill>
                  <a:srgbClr val="FFC000"/>
                </a:solidFill>
              </a:rPr>
              <a:t>Pourquoi étudier l’innovation</a:t>
            </a:r>
            <a:endParaRPr lang="fr-FR" dirty="0">
              <a:solidFill>
                <a:srgbClr val="FFC000"/>
              </a:solidFill>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1533525"/>
            <a:ext cx="6581775"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22124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702149"/>
            <a:ext cx="2619375"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2276872"/>
            <a:ext cx="2699792"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Barre Nutella b-ready Chocolat au lait – Ferrero 22g – ahdilly.co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17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1676" y="4350221"/>
            <a:ext cx="207645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76064" y="844724"/>
            <a:ext cx="7559824" cy="830997"/>
          </a:xfrm>
          <a:prstGeom prst="rect">
            <a:avLst/>
          </a:prstGeom>
        </p:spPr>
        <p:txBody>
          <a:bodyPr wrap="square">
            <a:spAutoFit/>
          </a:bodyPr>
          <a:lstStyle/>
          <a:p>
            <a:r>
              <a:rPr lang="fr-FR" sz="2400" dirty="0"/>
              <a:t>« L’innovation est un art qui peut être recherché ou spontané dont la finalité est d’offrir du nouveau au consommateur »</a:t>
            </a:r>
          </a:p>
        </p:txBody>
      </p:sp>
    </p:spTree>
    <p:extLst>
      <p:ext uri="{BB962C8B-B14F-4D97-AF65-F5344CB8AC3E}">
        <p14:creationId xmlns:p14="http://schemas.microsoft.com/office/powerpoint/2010/main" val="132857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639</TotalTime>
  <Words>1336</Words>
  <Application>Microsoft Office PowerPoint</Application>
  <PresentationFormat>Affichage à l'écran (4:3)</PresentationFormat>
  <Paragraphs>271</Paragraphs>
  <Slides>62</Slides>
  <Notes>5</Notes>
  <HiddenSlides>0</HiddenSlides>
  <MMClips>0</MMClips>
  <ScaleCrop>false</ScaleCrop>
  <HeadingPairs>
    <vt:vector size="4" baseType="variant">
      <vt:variant>
        <vt:lpstr>Thème</vt:lpstr>
      </vt:variant>
      <vt:variant>
        <vt:i4>1</vt:i4>
      </vt:variant>
      <vt:variant>
        <vt:lpstr>Titres des diapositives</vt:lpstr>
      </vt:variant>
      <vt:variant>
        <vt:i4>62</vt:i4>
      </vt:variant>
    </vt:vector>
  </HeadingPairs>
  <TitlesOfParts>
    <vt:vector size="63" baseType="lpstr">
      <vt:lpstr>Horizon</vt:lpstr>
      <vt:lpstr>ENTREPRENEURIAT</vt:lpstr>
      <vt:lpstr>Présentation PowerPoint</vt:lpstr>
      <vt:lpstr>Si vous voulez retenir ce que vous allez apprendre :</vt:lpstr>
      <vt:lpstr>Présentation PowerPoint</vt:lpstr>
      <vt:lpstr>Présentation PowerPoint</vt:lpstr>
      <vt:lpstr>Définition de l’entrepreneuriat</vt:lpstr>
      <vt:lpstr>Différence entre opportunité et problème en entrepreneuriat </vt:lpstr>
      <vt:lpstr>Présentation PowerPoint</vt:lpstr>
      <vt:lpstr>Présentation PowerPoint</vt:lpstr>
      <vt:lpstr>Naissance des idées entrepreneuriales </vt:lpstr>
      <vt:lpstr>2. Sources d’opportunités entrepreneuriales </vt:lpstr>
      <vt:lpstr>Présentation PowerPoint</vt:lpstr>
      <vt:lpstr>Présentation PowerPoint</vt:lpstr>
      <vt:lpstr>3. De l’idée à l’opportunité</vt:lpstr>
      <vt:lpstr>« Les idées entrepreneuriales naissent partout : dans un besoin, un problème, un changement ou une innovation. Mais pour transformer une idée en projet viable, il faut vérifier qu’elle répond à un vrai besoin, qu’elle a un marché et qu’elle peut créer de la valeur. »   </vt:lpstr>
      <vt:lpstr>L’importance de l’Entrepreneuriat </vt:lpstr>
      <vt:lpstr>Présentation PowerPoint</vt:lpstr>
      <vt:lpstr>Présentation PowerPoint</vt:lpstr>
      <vt:lpstr>L’entrepreneur</vt:lpstr>
      <vt:lpstr>Présentation PowerPoint</vt:lpstr>
      <vt:lpstr>Présentation PowerPoint</vt:lpstr>
      <vt:lpstr>Présentation PowerPoint</vt:lpstr>
      <vt:lpstr>L’entrepreneur</vt:lpstr>
      <vt:lpstr>Présentation PowerPoint</vt:lpstr>
      <vt:lpstr>Autres définitions </vt:lpstr>
      <vt:lpstr>A retenir </vt:lpstr>
      <vt:lpstr>« Un entrepreneur, c’est quelqu’un qui transforme une idée en projet concret, et un projet en valeur pour les autres. »  </vt:lpstr>
      <vt:lpstr>Présentation PowerPoint</vt:lpstr>
      <vt:lpstr>Présentation PowerPoint</vt:lpstr>
      <vt:lpstr>Différence entre Entrepreneur et Manager</vt:lpstr>
      <vt:lpstr>Présentation PowerPoint</vt:lpstr>
      <vt:lpstr>Les différents profils d’entrepreneurs </vt:lpstr>
      <vt:lpstr>Présentation PowerPoint</vt:lpstr>
      <vt:lpstr>Présentation PowerPoint</vt:lpstr>
      <vt:lpstr>Présentation PowerPoint</vt:lpstr>
      <vt:lpstr>💡   Pourquoi certains entrepreneurs réussissent et d’autres échouent ? </vt:lpstr>
      <vt:lpstr>Présentation PowerPoint</vt:lpstr>
      <vt:lpstr>Présentation PowerPoint</vt:lpstr>
      <vt:lpstr>Présentation PowerPoint</vt:lpstr>
      <vt:lpstr>D’Où vient le mythe de l’entrepreneur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Principales étapes </vt:lpstr>
      <vt:lpstr>Présentation PowerPoint</vt:lpstr>
      <vt:lpstr>Principales étapes </vt:lpstr>
      <vt:lpstr>Principales étapes </vt:lpstr>
      <vt:lpstr>Conclusion </vt:lpstr>
      <vt:lpstr>NE MANGE PAS LA GRAINE,  PLANTE LA.</vt:lpstr>
      <vt:lpstr>Quels exemples d’entrepreneurs t’inspirent et pourquoi ?</vt:lpstr>
      <vt:lpstr>« Tu n’as pas besoin d’être riche pour commencer, mais tu dois commencer pour être riche »</vt:lpstr>
      <vt:lpstr>Innovation </vt:lpstr>
      <vt:lpstr>Présentation PowerPoint</vt:lpstr>
      <vt:lpstr>C’est quoi l’innovation ?</vt:lpstr>
      <vt:lpstr>Présentation PowerPoint</vt:lpstr>
      <vt:lpstr>Pourquoi étudier l’innovation</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ENTREPRENEURIAT</dc:title>
  <dc:creator>sol</dc:creator>
  <cp:lastModifiedBy>sol</cp:lastModifiedBy>
  <cp:revision>19</cp:revision>
  <dcterms:created xsi:type="dcterms:W3CDTF">2025-11-19T10:20:59Z</dcterms:created>
  <dcterms:modified xsi:type="dcterms:W3CDTF">2025-11-19T21:00:19Z</dcterms:modified>
</cp:coreProperties>
</file>