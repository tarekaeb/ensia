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5" r:id="rId7"/>
    <p:sldId id="263" r:id="rId8"/>
    <p:sldId id="260" r:id="rId9"/>
    <p:sldId id="266" r:id="rId10"/>
    <p:sldId id="261" r:id="rId11"/>
    <p:sldId id="262" r:id="rId12"/>
    <p:sldId id="268" r:id="rId13"/>
    <p:sldId id="267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167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defRPr sz="3200" b="1"/>
            </a:pPr>
            <a:r>
              <a:t>Innovation et Création de Valeur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Définition de l’innovation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L’innovation est le processus par lequel une idée nouvelle est transformée en un produit, service ou processus créant de la valeur pour le client et l’organisation.</a:t>
            </a:r>
          </a:p>
          <a:p>
            <a:endParaRPr/>
          </a:p>
          <a:p>
            <a:r>
              <a:t>Elle peut être :</a:t>
            </a:r>
          </a:p>
          <a:p>
            <a:r>
              <a:t>- Technologique (nouveaux produits, procédés)</a:t>
            </a:r>
          </a:p>
          <a:p>
            <a:r>
              <a:t>- Organisationnelle (nouveaux modes de gestion)</a:t>
            </a:r>
          </a:p>
          <a:p>
            <a:r>
              <a:t>- Commerciale (nouveaux canaux de distribution ou modèles économiques)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création de valeur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Créer de la valeur, c’est générer un bénéfice perçu supérieur au coût pour le client.</a:t>
            </a:r>
          </a:p>
          <a:p>
            <a:endParaRPr/>
          </a:p>
          <a:p>
            <a:r>
              <a:t>La valeur peut être :</a:t>
            </a:r>
          </a:p>
          <a:p>
            <a:r>
              <a:t>- Économique : gain de productivité, réduction des coûts</a:t>
            </a:r>
          </a:p>
          <a:p>
            <a:r>
              <a:t>- Fonctionnelle : amélioration de la performance</a:t>
            </a:r>
          </a:p>
          <a:p>
            <a:r>
              <a:t>- Symbolique : image, appartenance, satisfaction personnelle</a:t>
            </a:r>
          </a:p>
          <a:p>
            <a:r>
              <a:t>- Sociale : impact positif sur la société ou l’environnement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 processus d’innovation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1. Observation et identification d’un besoin</a:t>
            </a:r>
          </a:p>
          <a:p>
            <a:r>
              <a:t>2. Idéation (génération d’idées)</a:t>
            </a:r>
          </a:p>
          <a:p>
            <a:r>
              <a:t>3. Sélection des idées les plus pertinentes</a:t>
            </a:r>
          </a:p>
          <a:p>
            <a:r>
              <a:t>4. Prototypage et expérimentation</a:t>
            </a:r>
          </a:p>
          <a:p>
            <a:r>
              <a:t>5. Mise sur le marché et évaluation</a:t>
            </a:r>
          </a:p>
          <a:p>
            <a:endParaRPr/>
          </a:p>
          <a:p>
            <a:r>
              <a:t>➡ Ce processus est itératif et s’appuie sur le Design Thinking.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L’innovation ne naît pas d’une idée magique, mais d’une compréhension profonde d’un besoin, </a:t>
            </a:r>
          </a:p>
          <a:p>
            <a:r>
              <a:rPr lang="fr-FR" dirty="0" smtClean="0"/>
              <a:t>L’idéation n’est qu’une étape du processus global d’innovation,</a:t>
            </a:r>
          </a:p>
          <a:p>
            <a:r>
              <a:rPr lang="fr-FR" dirty="0" smtClean="0"/>
              <a:t>Pour qu’une idée crée de la valeur, il faut comprendre pour qui et pourquoi on innove.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47093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fr-FR" b="1" u="sng" dirty="0" smtClean="0"/>
              <a:t>Innover ce n’est pas seulement avoir une bonne idée, c’est résoudre un vrai problème d’une vrai personne d’une manière nouvelle et utile.</a:t>
            </a:r>
            <a:endParaRPr lang="fr-FR" b="1" u="sng" dirty="0"/>
          </a:p>
        </p:txBody>
      </p:sp>
    </p:spTree>
    <p:extLst>
      <p:ext uri="{BB962C8B-B14F-4D97-AF65-F5344CB8AC3E}">
        <p14:creationId xmlns:p14="http://schemas.microsoft.com/office/powerpoint/2010/main" val="3386021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fr-FR" dirty="0" smtClean="0"/>
              <a:t>Le design </a:t>
            </a:r>
            <a:r>
              <a:rPr lang="fr-FR" dirty="0" err="1" smtClean="0"/>
              <a:t>thinking</a:t>
            </a:r>
            <a:r>
              <a:rPr lang="fr-FR" dirty="0" smtClean="0"/>
              <a:t> est une méthode qui aide les entrepreneurs et les innovateurs à concevoir des solutions utiles et désirables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21794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Lien entre Innovation et Design Thinking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dirty="0"/>
              <a:t>Le Design Thinking </a:t>
            </a:r>
            <a:r>
              <a:rPr dirty="0" err="1"/>
              <a:t>est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approche</a:t>
            </a:r>
            <a:r>
              <a:rPr dirty="0"/>
              <a:t> </a:t>
            </a:r>
            <a:r>
              <a:rPr dirty="0" err="1"/>
              <a:t>centrée</a:t>
            </a:r>
            <a:r>
              <a:rPr dirty="0"/>
              <a:t> sur </a:t>
            </a:r>
            <a:r>
              <a:rPr dirty="0" err="1"/>
              <a:t>l’humain</a:t>
            </a:r>
            <a:r>
              <a:rPr dirty="0"/>
              <a:t> qui </a:t>
            </a:r>
            <a:r>
              <a:rPr dirty="0" err="1"/>
              <a:t>favorise</a:t>
            </a:r>
            <a:r>
              <a:rPr dirty="0"/>
              <a:t> </a:t>
            </a:r>
            <a:r>
              <a:rPr dirty="0" err="1"/>
              <a:t>l’innovation</a:t>
            </a:r>
            <a:r>
              <a:rPr dirty="0"/>
              <a:t>.</a:t>
            </a:r>
          </a:p>
          <a:p>
            <a:r>
              <a:rPr dirty="0"/>
              <a:t>Il </a:t>
            </a:r>
            <a:r>
              <a:rPr dirty="0" err="1"/>
              <a:t>précède</a:t>
            </a:r>
            <a:r>
              <a:rPr dirty="0"/>
              <a:t> et </a:t>
            </a:r>
            <a:r>
              <a:rPr dirty="0" err="1"/>
              <a:t>nourrit</a:t>
            </a:r>
            <a:r>
              <a:rPr dirty="0"/>
              <a:t> </a:t>
            </a:r>
            <a:r>
              <a:rPr dirty="0" err="1"/>
              <a:t>l’idéation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mettant</a:t>
            </a:r>
            <a:r>
              <a:rPr dirty="0"/>
              <a:t> </a:t>
            </a:r>
            <a:r>
              <a:rPr dirty="0" err="1"/>
              <a:t>l’accent</a:t>
            </a:r>
            <a:r>
              <a:rPr dirty="0"/>
              <a:t> sur :</a:t>
            </a:r>
          </a:p>
          <a:p>
            <a:r>
              <a:rPr dirty="0"/>
              <a:t>- </a:t>
            </a:r>
            <a:r>
              <a:rPr dirty="0" err="1"/>
              <a:t>L’empathie</a:t>
            </a:r>
            <a:r>
              <a:rPr dirty="0"/>
              <a:t> avec </a:t>
            </a:r>
            <a:r>
              <a:rPr dirty="0" err="1"/>
              <a:t>l’utilisateur</a:t>
            </a:r>
            <a:endParaRPr dirty="0"/>
          </a:p>
          <a:p>
            <a:r>
              <a:rPr dirty="0"/>
              <a:t>- La </a:t>
            </a:r>
            <a:r>
              <a:rPr dirty="0" err="1"/>
              <a:t>définition</a:t>
            </a:r>
            <a:r>
              <a:rPr dirty="0"/>
              <a:t> du </a:t>
            </a:r>
            <a:r>
              <a:rPr dirty="0" err="1"/>
              <a:t>problème</a:t>
            </a:r>
            <a:r>
              <a:rPr dirty="0"/>
              <a:t> </a:t>
            </a:r>
            <a:r>
              <a:rPr dirty="0" err="1"/>
              <a:t>réel</a:t>
            </a:r>
            <a:endParaRPr dirty="0"/>
          </a:p>
          <a:p>
            <a:r>
              <a:rPr dirty="0"/>
              <a:t>- </a:t>
            </a:r>
            <a:r>
              <a:rPr dirty="0" err="1"/>
              <a:t>L’expérimentation</a:t>
            </a:r>
            <a:r>
              <a:rPr dirty="0"/>
              <a:t> </a:t>
            </a:r>
            <a:r>
              <a:rPr dirty="0" err="1"/>
              <a:t>rapide</a:t>
            </a:r>
            <a:endParaRPr dirty="0"/>
          </a:p>
          <a:p>
            <a:r>
              <a:rPr dirty="0"/>
              <a:t>- </a:t>
            </a:r>
            <a:r>
              <a:rPr dirty="0" err="1"/>
              <a:t>L’apprentissage</a:t>
            </a:r>
            <a:r>
              <a:rPr dirty="0"/>
              <a:t> par </a:t>
            </a:r>
            <a:r>
              <a:rPr dirty="0" err="1"/>
              <a:t>l’erreur</a:t>
            </a:r>
            <a:endParaRPr dirty="0"/>
          </a:p>
          <a:p>
            <a:endParaRPr dirty="0"/>
          </a:p>
          <a:p>
            <a:r>
              <a:rPr dirty="0"/>
              <a:t>Il </a:t>
            </a:r>
            <a:r>
              <a:rPr dirty="0" err="1"/>
              <a:t>permet</a:t>
            </a:r>
            <a:r>
              <a:rPr dirty="0"/>
              <a:t> de transformer les </a:t>
            </a:r>
            <a:r>
              <a:rPr dirty="0" err="1"/>
              <a:t>idées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solutions </a:t>
            </a:r>
            <a:r>
              <a:rPr dirty="0" err="1"/>
              <a:t>créatrices</a:t>
            </a:r>
            <a:r>
              <a:rPr dirty="0"/>
              <a:t> de </a:t>
            </a:r>
            <a:r>
              <a:rPr dirty="0" err="1"/>
              <a:t>valeur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Les 5 étapes du design </a:t>
            </a:r>
            <a:r>
              <a:rPr lang="fr-FR" dirty="0" err="1" smtClean="0"/>
              <a:t>thinking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 smtClean="0"/>
              <a:t>1- Empathie: comprendre les utilisateurs, leurs besoins, leurs émotions.</a:t>
            </a:r>
          </a:p>
          <a:p>
            <a:r>
              <a:rPr lang="fr-FR" dirty="0" smtClean="0"/>
              <a:t>2- Définir: reformuler clairement le problème à résoudre.</a:t>
            </a:r>
          </a:p>
          <a:p>
            <a:r>
              <a:rPr lang="fr-FR" dirty="0" smtClean="0"/>
              <a:t>3- Idéation: générer des idées (ce que vous avez tant fait!).</a:t>
            </a:r>
          </a:p>
          <a:p>
            <a:r>
              <a:rPr lang="fr-FR" dirty="0" smtClean="0"/>
              <a:t>4- Prototypage: transformer l’idée en modèle ou maquette concrète.</a:t>
            </a:r>
          </a:p>
          <a:p>
            <a:r>
              <a:rPr lang="fr-FR" dirty="0" smtClean="0"/>
              <a:t>5- Test: faire tester la solution et recueillir les retours.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94392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 principaux types d’innovation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- Innovation de produit : introduction d’un bien ou service nouveau</a:t>
            </a:r>
          </a:p>
          <a:p>
            <a:r>
              <a:t>- Innovation de procédé : amélioration du mode de production</a:t>
            </a:r>
          </a:p>
          <a:p>
            <a:r>
              <a:t>- Innovation organisationnelle : nouvelles méthodes de gestion</a:t>
            </a:r>
          </a:p>
          <a:p>
            <a:r>
              <a:t>- Innovation de modèle économique : repenser la manière de créer et capturer de la valeur</a:t>
            </a:r>
          </a:p>
          <a:p>
            <a:r>
              <a:t>- Innovation sociale : répondre à un besoin collectif de manière innovante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À retenir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👉 L’innovation n’est pas uniquement technologique : elle est aussi humaine, sociale et organisationnelle.</a:t>
            </a:r>
          </a:p>
          <a:p>
            <a:r>
              <a:t>👉 La création de valeur repose sur la compréhension des besoins réels et l’expérimentation.</a:t>
            </a:r>
          </a:p>
          <a:p>
            <a:r>
              <a:t>👉 Le Design Thinking offre une méthode concrète pour passer de l’idée à la valeur.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L’innovation commence par une idée, mais se concrétise grâce à une méthode.</a:t>
            </a:r>
          </a:p>
          <a:p>
            <a:r>
              <a:rPr lang="fr-FR" dirty="0" smtClean="0"/>
              <a:t>Le design </a:t>
            </a:r>
            <a:r>
              <a:rPr lang="fr-FR" dirty="0" err="1" smtClean="0"/>
              <a:t>thinking</a:t>
            </a:r>
            <a:r>
              <a:rPr lang="fr-FR" dirty="0" smtClean="0"/>
              <a:t> vous aide à transformer une idée en une innovation qui a un vrai impact !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477015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78069" y="87923"/>
            <a:ext cx="8229600" cy="6031523"/>
          </a:xfrm>
        </p:spPr>
        <p:txBody>
          <a:bodyPr vert="horz" lIns="91440" tIns="45720" rIns="91440" bIns="45720" rtlCol="0">
            <a:normAutofit fontScale="62500" lnSpcReduction="20000"/>
          </a:bodyPr>
          <a:lstStyle/>
          <a:p>
            <a:pPr marL="0" indent="0" fontAlgn="base">
              <a:buNone/>
            </a:pPr>
            <a:r>
              <a:rPr lang="fr-FR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Structure </a:t>
            </a:r>
            <a:r>
              <a:rPr lang="fr-FR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 la carte d’empathie</a:t>
            </a:r>
          </a:p>
          <a:p>
            <a:pPr fontAlgn="base"/>
            <a:endParaRPr lang="fr-F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fontAlgn="base"/>
            <a:r>
              <a:rPr lang="fr-F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Divise une grande feuille (ou un tableau) en 6 zones :</a:t>
            </a:r>
          </a:p>
          <a:p>
            <a:pPr marL="0" indent="0" fontAlgn="base">
              <a:buNone/>
            </a:pPr>
            <a:r>
              <a:rPr lang="fr-F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fr-F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fr-F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fontAlgn="base"/>
            <a:r>
              <a:rPr lang="fr-FR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1. 👀 Ce que voit l’utilisateur :</a:t>
            </a:r>
          </a:p>
          <a:p>
            <a:pPr fontAlgn="base"/>
            <a:endParaRPr lang="fr-F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fontAlgn="base"/>
            <a:r>
              <a:rPr lang="fr-F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Son environnement (amis, famille, collègues, réseaux sociaux</a:t>
            </a:r>
            <a:r>
              <a:rPr lang="fr-FR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…)</a:t>
            </a:r>
            <a:endParaRPr lang="fr-F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fontAlgn="base"/>
            <a:r>
              <a:rPr lang="fr-F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Les offres, publicités ou solutions existantes qu’il observe</a:t>
            </a:r>
            <a:r>
              <a:rPr lang="fr-F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r>
              <a:rPr lang="fr-F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fr-F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fr-F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fontAlgn="base"/>
            <a:r>
              <a:rPr lang="fr-FR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 👂 Ce qu’il entend :</a:t>
            </a:r>
          </a:p>
          <a:p>
            <a:pPr fontAlgn="base"/>
            <a:endParaRPr lang="fr-F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fontAlgn="base"/>
            <a:r>
              <a:rPr lang="fr-F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 que disent les autres autour de lui (influence, conseils, critiques</a:t>
            </a:r>
            <a:r>
              <a:rPr lang="fr-FR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</a:t>
            </a:r>
            <a:endParaRPr lang="fr-F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fontAlgn="base"/>
            <a:r>
              <a:rPr lang="fr-F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Les médias, les leaders d’opinion, les tendances</a:t>
            </a:r>
            <a:r>
              <a:rPr lang="fr-F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r>
              <a:rPr lang="fr-F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fr-F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fr-F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fontAlgn="base"/>
            <a:r>
              <a:rPr lang="fr-FR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</a:t>
            </a:r>
            <a:r>
              <a:rPr lang="fr-FR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fr-FR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 qu’il pense et ressent :</a:t>
            </a:r>
          </a:p>
          <a:p>
            <a:pPr fontAlgn="base"/>
            <a:endParaRPr lang="fr-F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fontAlgn="base"/>
            <a:r>
              <a:rPr lang="fr-F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Ses émotions, ses inquiétudes, ses motivations profondes</a:t>
            </a:r>
            <a:r>
              <a:rPr lang="fr-F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fr-F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fontAlgn="base"/>
            <a:r>
              <a:rPr lang="fr-F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 qui lui importe vraiment (valeurs, désirs cachés</a:t>
            </a:r>
            <a:r>
              <a:rPr lang="fr-F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</a:t>
            </a:r>
            <a:r>
              <a:rPr lang="fr-F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fr-F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fr-F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fontAlgn="base"/>
            <a:endParaRPr lang="fr-F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61397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86862" y="703385"/>
            <a:ext cx="8229600" cy="4525963"/>
          </a:xfrm>
        </p:spPr>
        <p:txBody>
          <a:bodyPr>
            <a:normAutofit fontScale="62500" lnSpcReduction="20000"/>
          </a:bodyPr>
          <a:lstStyle/>
          <a:p>
            <a:pPr fontAlgn="base"/>
            <a:r>
              <a:rPr lang="fr-F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</a:t>
            </a:r>
            <a:r>
              <a:rPr lang="fr-FR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fr-FR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fr-FR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 qu’il dit et fait :</a:t>
            </a:r>
          </a:p>
          <a:p>
            <a:pPr marL="0" indent="0" fontAlgn="base">
              <a:buNone/>
            </a:pPr>
            <a:endParaRPr lang="fr-F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fontAlgn="base"/>
            <a:r>
              <a:rPr lang="fr-F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Son comportement visible, ses actions, ses habitudes</a:t>
            </a:r>
            <a:r>
              <a:rPr lang="fr-FR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fr-F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fontAlgn="base"/>
            <a:r>
              <a:rPr lang="fr-F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 qu’il exprime à propos du problème ou de la solution.</a:t>
            </a:r>
            <a:br>
              <a:rPr lang="fr-F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fr-F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fontAlgn="base"/>
            <a:r>
              <a:rPr lang="fr-FR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5. </a:t>
            </a:r>
            <a:r>
              <a:rPr lang="fr-FR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fr-FR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Ses douleurs (pains) :</a:t>
            </a:r>
          </a:p>
          <a:p>
            <a:pPr fontAlgn="base"/>
            <a:endParaRPr lang="fr-F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fontAlgn="base"/>
            <a:r>
              <a:rPr lang="fr-F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 qui le gêne, ce qu’il craint, ce qui l’empêche d’avancer</a:t>
            </a:r>
            <a:r>
              <a:rPr lang="fr-FR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fr-F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fontAlgn="base"/>
            <a:r>
              <a:rPr lang="fr-F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Les obstacles ou frustrations qu’il rencontre.</a:t>
            </a:r>
          </a:p>
          <a:p>
            <a:pPr marL="0" indent="0" fontAlgn="base">
              <a:buNone/>
            </a:pPr>
            <a:r>
              <a:rPr lang="fr-F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fr-F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fr-F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fontAlgn="base"/>
            <a:r>
              <a:rPr lang="fr-FR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6. </a:t>
            </a:r>
            <a:r>
              <a:rPr lang="fr-FR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Ses </a:t>
            </a:r>
            <a:r>
              <a:rPr lang="fr-FR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gains (gains) :</a:t>
            </a:r>
          </a:p>
          <a:p>
            <a:pPr marL="0" indent="0" fontAlgn="base">
              <a:buNone/>
            </a:pPr>
            <a:endParaRPr lang="fr-F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fontAlgn="base"/>
            <a:r>
              <a:rPr lang="fr-F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 qu’il veut atteindre, ses bénéfices souhaités, ses rêves</a:t>
            </a:r>
            <a:r>
              <a:rPr lang="fr-FR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fr-F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fontAlgn="base"/>
            <a:r>
              <a:rPr lang="fr-F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 qui le rendrait heureux ou lui simplifierait la vie.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39452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736</Words>
  <Application>Microsoft Office PowerPoint</Application>
  <PresentationFormat>Affichage à l'écran (4:3)</PresentationFormat>
  <Paragraphs>86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Tahoma</vt:lpstr>
      <vt:lpstr>Office Theme</vt:lpstr>
      <vt:lpstr>Présentation PowerPoint</vt:lpstr>
      <vt:lpstr>Définition de l’innovation</vt:lpstr>
      <vt:lpstr>La création de valeur</vt:lpstr>
      <vt:lpstr>Le processus d’innovation</vt:lpstr>
      <vt:lpstr>Présentation PowerPoint</vt:lpstr>
      <vt:lpstr>Présentation PowerPoint</vt:lpstr>
      <vt:lpstr>Présentation PowerPoint</vt:lpstr>
      <vt:lpstr>Lien entre Innovation et Design Thinking</vt:lpstr>
      <vt:lpstr>Les 5 étapes du design thinking</vt:lpstr>
      <vt:lpstr>Les principaux types d’innovation</vt:lpstr>
      <vt:lpstr>À retenir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DESKTOP</dc:creator>
  <cp:keywords/>
  <dc:description>generated using python-pptx</dc:description>
  <cp:lastModifiedBy>DESKTOP</cp:lastModifiedBy>
  <cp:revision>4</cp:revision>
  <dcterms:created xsi:type="dcterms:W3CDTF">2013-01-27T09:14:16Z</dcterms:created>
  <dcterms:modified xsi:type="dcterms:W3CDTF">2025-10-30T09:39:54Z</dcterms:modified>
  <cp:category/>
</cp:coreProperties>
</file>