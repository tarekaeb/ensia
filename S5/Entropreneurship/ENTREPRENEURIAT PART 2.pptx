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7" r:id="rId2"/>
    <p:sldId id="310" r:id="rId3"/>
    <p:sldId id="311" r:id="rId4"/>
    <p:sldId id="312" r:id="rId5"/>
    <p:sldId id="31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334" r:id="rId27"/>
    <p:sldId id="335" r:id="rId28"/>
    <p:sldId id="336" r:id="rId29"/>
    <p:sldId id="337" r:id="rId30"/>
    <p:sldId id="338" r:id="rId31"/>
    <p:sldId id="444" r:id="rId32"/>
    <p:sldId id="445" r:id="rId33"/>
    <p:sldId id="380" r:id="rId34"/>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296" y="-6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75A1AF-A6BE-470E-A3CC-2B944A29239D}" type="datetimeFigureOut">
              <a:rPr lang="fr-FR" smtClean="0"/>
              <a:t>19/11/2025</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125312-0DED-47C7-8811-754ED3E180F4}" type="slidenum">
              <a:rPr lang="fr-FR" smtClean="0"/>
              <a:t>‹N°›</a:t>
            </a:fld>
            <a:endParaRPr lang="fr-FR"/>
          </a:p>
        </p:txBody>
      </p:sp>
    </p:spTree>
    <p:extLst>
      <p:ext uri="{BB962C8B-B14F-4D97-AF65-F5344CB8AC3E}">
        <p14:creationId xmlns:p14="http://schemas.microsoft.com/office/powerpoint/2010/main" val="864175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B837EF7-EEBE-4EFC-9188-C350CB8D47E2}" type="slidenum">
              <a:rPr lang="fr-FR" smtClean="0"/>
              <a:t>2</a:t>
            </a:fld>
            <a:endParaRPr lang="fr-FR"/>
          </a:p>
        </p:txBody>
      </p:sp>
    </p:spTree>
    <p:extLst>
      <p:ext uri="{BB962C8B-B14F-4D97-AF65-F5344CB8AC3E}">
        <p14:creationId xmlns:p14="http://schemas.microsoft.com/office/powerpoint/2010/main" val="4015249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10"/>
          </p:nvPr>
        </p:nvSpPr>
        <p:spPr/>
        <p:txBody>
          <a:bodyPr/>
          <a:lstStyle/>
          <a:p>
            <a:fld id="{4B837EF7-EEBE-4EFC-9188-C350CB8D47E2}" type="slidenum">
              <a:rPr lang="fr-FR" smtClean="0"/>
              <a:t>3</a:t>
            </a:fld>
            <a:endParaRPr lang="fr-FR"/>
          </a:p>
        </p:txBody>
      </p:sp>
    </p:spTree>
    <p:extLst>
      <p:ext uri="{BB962C8B-B14F-4D97-AF65-F5344CB8AC3E}">
        <p14:creationId xmlns:p14="http://schemas.microsoft.com/office/powerpoint/2010/main" val="536382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B837EF7-EEBE-4EFC-9188-C350CB8D47E2}" type="slidenum">
              <a:rPr lang="fr-FR" smtClean="0"/>
              <a:t>4</a:t>
            </a:fld>
            <a:endParaRPr lang="fr-FR"/>
          </a:p>
        </p:txBody>
      </p:sp>
    </p:spTree>
    <p:extLst>
      <p:ext uri="{BB962C8B-B14F-4D97-AF65-F5344CB8AC3E}">
        <p14:creationId xmlns:p14="http://schemas.microsoft.com/office/powerpoint/2010/main" val="2163019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Cette forme d’innovation touche le management et la façon de piloter une entreprise</a:t>
            </a:r>
            <a:endParaRPr lang="fr-FR" dirty="0"/>
          </a:p>
        </p:txBody>
      </p:sp>
      <p:sp>
        <p:nvSpPr>
          <p:cNvPr id="4" name="Espace réservé du numéro de diapositive 3"/>
          <p:cNvSpPr>
            <a:spLocks noGrp="1"/>
          </p:cNvSpPr>
          <p:nvPr>
            <p:ph type="sldNum" sz="quarter" idx="10"/>
          </p:nvPr>
        </p:nvSpPr>
        <p:spPr/>
        <p:txBody>
          <a:bodyPr/>
          <a:lstStyle/>
          <a:p>
            <a:fld id="{4B837EF7-EEBE-4EFC-9188-C350CB8D47E2}" type="slidenum">
              <a:rPr lang="fr-FR" smtClean="0"/>
              <a:t>12</a:t>
            </a:fld>
            <a:endParaRPr lang="fr-FR"/>
          </a:p>
        </p:txBody>
      </p:sp>
    </p:spTree>
    <p:extLst>
      <p:ext uri="{BB962C8B-B14F-4D97-AF65-F5344CB8AC3E}">
        <p14:creationId xmlns:p14="http://schemas.microsoft.com/office/powerpoint/2010/main" val="1244175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Cette forme d’innovation touche le management et la façon de piloter une entreprise</a:t>
            </a:r>
            <a:endParaRPr lang="fr-FR" dirty="0"/>
          </a:p>
        </p:txBody>
      </p:sp>
      <p:sp>
        <p:nvSpPr>
          <p:cNvPr id="4" name="Espace réservé du numéro de diapositive 3"/>
          <p:cNvSpPr>
            <a:spLocks noGrp="1"/>
          </p:cNvSpPr>
          <p:nvPr>
            <p:ph type="sldNum" sz="quarter" idx="10"/>
          </p:nvPr>
        </p:nvSpPr>
        <p:spPr/>
        <p:txBody>
          <a:bodyPr/>
          <a:lstStyle/>
          <a:p>
            <a:fld id="{4B837EF7-EEBE-4EFC-9188-C350CB8D47E2}" type="slidenum">
              <a:rPr lang="fr-FR" smtClean="0"/>
              <a:t>13</a:t>
            </a:fld>
            <a:endParaRPr lang="fr-FR"/>
          </a:p>
        </p:txBody>
      </p:sp>
    </p:spTree>
    <p:extLst>
      <p:ext uri="{BB962C8B-B14F-4D97-AF65-F5344CB8AC3E}">
        <p14:creationId xmlns:p14="http://schemas.microsoft.com/office/powerpoint/2010/main" val="1244175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3000" y="685800"/>
            <a:ext cx="4572000" cy="3429000"/>
          </a:xfrm>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6E604625-0701-464A-BADC-8E8E529D8B2A}" type="slidenum">
              <a:rPr lang="fr-FR" smtClean="0"/>
              <a:t>14</a:t>
            </a:fld>
            <a:endParaRPr lang="fr-FR"/>
          </a:p>
        </p:txBody>
      </p:sp>
    </p:spTree>
    <p:extLst>
      <p:ext uri="{BB962C8B-B14F-4D97-AF65-F5344CB8AC3E}">
        <p14:creationId xmlns:p14="http://schemas.microsoft.com/office/powerpoint/2010/main" val="3877200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Apple acteur Simple à l’utilisation notamment avec son écran tactile</a:t>
            </a:r>
            <a:endParaRPr lang="fr-FR" dirty="0"/>
          </a:p>
        </p:txBody>
      </p:sp>
      <p:sp>
        <p:nvSpPr>
          <p:cNvPr id="4" name="Espace réservé du numéro de diapositive 3"/>
          <p:cNvSpPr>
            <a:spLocks noGrp="1"/>
          </p:cNvSpPr>
          <p:nvPr>
            <p:ph type="sldNum" sz="quarter" idx="10"/>
          </p:nvPr>
        </p:nvSpPr>
        <p:spPr/>
        <p:txBody>
          <a:bodyPr/>
          <a:lstStyle/>
          <a:p>
            <a:fld id="{4B837EF7-EEBE-4EFC-9188-C350CB8D47E2}" type="slidenum">
              <a:rPr lang="fr-FR" smtClean="0"/>
              <a:t>17</a:t>
            </a:fld>
            <a:endParaRPr lang="fr-FR"/>
          </a:p>
        </p:txBody>
      </p:sp>
    </p:spTree>
    <p:extLst>
      <p:ext uri="{BB962C8B-B14F-4D97-AF65-F5344CB8AC3E}">
        <p14:creationId xmlns:p14="http://schemas.microsoft.com/office/powerpoint/2010/main" val="2135651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3000" y="685800"/>
            <a:ext cx="4572000" cy="3429000"/>
          </a:xfrm>
        </p:spPr>
      </p:sp>
      <p:sp>
        <p:nvSpPr>
          <p:cNvPr id="3" name="Espace réservé des commentaires 2"/>
          <p:cNvSpPr>
            <a:spLocks noGrp="1"/>
          </p:cNvSpPr>
          <p:nvPr>
            <p:ph type="body" idx="1"/>
          </p:nvPr>
        </p:nvSpPr>
        <p:spPr/>
        <p:txBody>
          <a:bodyPr/>
          <a:lstStyle/>
          <a:p>
            <a:r>
              <a:rPr lang="fr-FR" b="1" i="0" dirty="0">
                <a:solidFill>
                  <a:srgbClr val="202124"/>
                </a:solidFill>
                <a:effectLst/>
                <a:latin typeface="arial"/>
              </a:rPr>
              <a:t>Photographie argentique</a:t>
            </a:r>
            <a:r>
              <a:rPr lang="fr-FR" b="1" i="0" baseline="0" dirty="0">
                <a:solidFill>
                  <a:srgbClr val="202124"/>
                </a:solidFill>
                <a:effectLst/>
                <a:latin typeface="arial"/>
              </a:rPr>
              <a:t> -</a:t>
            </a:r>
            <a:r>
              <a:rPr lang="fr-FR" b="1" i="0" dirty="0">
                <a:solidFill>
                  <a:srgbClr val="202124"/>
                </a:solidFill>
                <a:effectLst/>
                <a:latin typeface="arial"/>
              </a:rPr>
              <a:t>photographie numérique, ca cassette</a:t>
            </a:r>
            <a:r>
              <a:rPr lang="fr-FR" b="1" i="0" baseline="0" dirty="0">
                <a:solidFill>
                  <a:srgbClr val="202124"/>
                </a:solidFill>
                <a:effectLst/>
                <a:latin typeface="arial"/>
              </a:rPr>
              <a:t> et cd- </a:t>
            </a:r>
            <a:r>
              <a:rPr lang="fr-FR" b="1" i="0" dirty="0">
                <a:solidFill>
                  <a:srgbClr val="202124"/>
                </a:solidFill>
                <a:effectLst/>
                <a:latin typeface="arial"/>
              </a:rPr>
              <a:t>le MP3, </a:t>
            </a:r>
            <a:r>
              <a:rPr lang="fr-FR" b="1" i="0" dirty="0" err="1">
                <a:solidFill>
                  <a:srgbClr val="202124"/>
                </a:solidFill>
                <a:effectLst/>
                <a:latin typeface="arial"/>
              </a:rPr>
              <a:t>Nespresso</a:t>
            </a:r>
            <a:r>
              <a:rPr lang="fr-FR" b="1" i="0" dirty="0">
                <a:solidFill>
                  <a:srgbClr val="202124"/>
                </a:solidFill>
                <a:effectLst/>
                <a:latin typeface="arial"/>
              </a:rPr>
              <a:t>, téléphone fixe </a:t>
            </a:r>
            <a:r>
              <a:rPr lang="fr-FR" b="1" i="0" dirty="0">
                <a:solidFill>
                  <a:srgbClr val="202124"/>
                </a:solidFill>
                <a:effectLst/>
                <a:latin typeface="arial"/>
                <a:sym typeface="Wingdings" pitchFamily="2" charset="2"/>
              </a:rPr>
              <a:t> téléphone mobile</a:t>
            </a:r>
            <a:endParaRPr lang="fr-FR" dirty="0"/>
          </a:p>
        </p:txBody>
      </p:sp>
      <p:sp>
        <p:nvSpPr>
          <p:cNvPr id="4" name="Espace réservé du numéro de diapositive 3"/>
          <p:cNvSpPr>
            <a:spLocks noGrp="1"/>
          </p:cNvSpPr>
          <p:nvPr>
            <p:ph type="sldNum" sz="quarter" idx="10"/>
          </p:nvPr>
        </p:nvSpPr>
        <p:spPr/>
        <p:txBody>
          <a:bodyPr/>
          <a:lstStyle/>
          <a:p>
            <a:fld id="{6E604625-0701-464A-BADC-8E8E529D8B2A}" type="slidenum">
              <a:rPr lang="fr-FR" smtClean="0"/>
              <a:t>18</a:t>
            </a:fld>
            <a:endParaRPr lang="fr-FR"/>
          </a:p>
        </p:txBody>
      </p:sp>
    </p:spTree>
    <p:extLst>
      <p:ext uri="{BB962C8B-B14F-4D97-AF65-F5344CB8AC3E}">
        <p14:creationId xmlns:p14="http://schemas.microsoft.com/office/powerpoint/2010/main" val="1557100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1143000" y="685800"/>
            <a:ext cx="4572000" cy="3429000"/>
          </a:xfrm>
        </p:spPr>
      </p:sp>
      <p:sp>
        <p:nvSpPr>
          <p:cNvPr id="3" name="Espace réservé des commentaires 2"/>
          <p:cNvSpPr>
            <a:spLocks noGrp="1"/>
          </p:cNvSpPr>
          <p:nvPr>
            <p:ph type="body" idx="1"/>
          </p:nvPr>
        </p:nvSpPr>
        <p:spPr/>
        <p:txBody>
          <a:bodyPr/>
          <a:lstStyle/>
          <a:p>
            <a:r>
              <a:rPr lang="fr-FR" b="0" i="0" dirty="0">
                <a:solidFill>
                  <a:srgbClr val="323232"/>
                </a:solidFill>
                <a:effectLst/>
                <a:latin typeface="Alegreya"/>
              </a:rPr>
              <a:t>Quand un nouveau marché se crée, qu’une nouvelle catégorie de produits ou de services est mise en vente, les entreprises ont le choix entre deux types de comportement : pionnier ou suiveur. Est pionnière, l’entreprise qui est la première à vendre une nouvelle catégorie de produits ou services. Est suiveuse toute entreprise qui vend son produit ou son service sur le marché, après l’entreprise pionnière. Ce délai peut être très variable, allant de quelques jours à plusieurs </a:t>
            </a:r>
            <a:r>
              <a:rPr lang="fr-FR" b="0" i="0" dirty="0" err="1">
                <a:solidFill>
                  <a:srgbClr val="323232"/>
                </a:solidFill>
                <a:effectLst/>
                <a:latin typeface="Alegreya"/>
              </a:rPr>
              <a:t>années.Exemple</a:t>
            </a:r>
            <a:r>
              <a:rPr lang="fr-FR" b="0" i="0" dirty="0">
                <a:solidFill>
                  <a:srgbClr val="323232"/>
                </a:solidFill>
                <a:effectLst/>
                <a:latin typeface="Alegreya"/>
              </a:rPr>
              <a:t> : Pour le marché des baladeurs numériques MP3, l’entreprise française </a:t>
            </a:r>
            <a:r>
              <a:rPr lang="fr-FR" b="0" i="0" dirty="0" err="1">
                <a:solidFill>
                  <a:srgbClr val="323232"/>
                </a:solidFill>
                <a:effectLst/>
                <a:latin typeface="Alegreya"/>
              </a:rPr>
              <a:t>Archos</a:t>
            </a:r>
            <a:r>
              <a:rPr lang="fr-FR" b="0" i="0" dirty="0">
                <a:solidFill>
                  <a:srgbClr val="323232"/>
                </a:solidFill>
                <a:effectLst/>
                <a:latin typeface="Alegreya"/>
              </a:rPr>
              <a:t> avec son Jukebox studio 10 lancé en juillet 2000 est pionnière. Apple, suiveur précoce, est arrivé quelques mois après, en septembre 2001 avec son </a:t>
            </a:r>
            <a:r>
              <a:rPr lang="fr-FR" b="0" i="0" dirty="0" err="1">
                <a:solidFill>
                  <a:srgbClr val="323232"/>
                </a:solidFill>
                <a:effectLst/>
                <a:latin typeface="Alegreya"/>
              </a:rPr>
              <a:t>Ipod</a:t>
            </a:r>
            <a:r>
              <a:rPr lang="fr-FR" b="0" i="0" dirty="0">
                <a:solidFill>
                  <a:srgbClr val="323232"/>
                </a:solidFill>
                <a:effectLst/>
                <a:latin typeface="Alegreya"/>
              </a:rPr>
              <a:t>. Enfin, Sony, suiveur tardif, est entré sur le marché en 2004, une fois le marché de masse pénétré.</a:t>
            </a:r>
            <a:endParaRPr lang="fr-FR" b="0" i="0" dirty="0">
              <a:solidFill>
                <a:srgbClr val="262626"/>
              </a:solidFill>
              <a:effectLst/>
              <a:latin typeface="Source Sans Pro"/>
            </a:endParaRPr>
          </a:p>
          <a:p>
            <a:endParaRPr lang="fr-FR" b="0" i="0" dirty="0">
              <a:solidFill>
                <a:srgbClr val="262626"/>
              </a:solidFill>
              <a:effectLst/>
              <a:latin typeface="Source Sans Pro"/>
            </a:endParaRPr>
          </a:p>
          <a:p>
            <a:r>
              <a:rPr lang="fr-FR" b="0" i="0" dirty="0">
                <a:solidFill>
                  <a:srgbClr val="262626"/>
                </a:solidFill>
                <a:effectLst/>
                <a:latin typeface="Source Sans Pro"/>
              </a:rPr>
              <a:t>2-     Innover à tout va a d’ailleurs valu à Dyson quelques adaptations marketing. En France, notamment, où les habitudes de consommation ne sont pas les mêmes que dans les pays anglo-saxons. </a:t>
            </a:r>
            <a:r>
              <a:rPr lang="fr-FR" b="0" i="1" dirty="0">
                <a:solidFill>
                  <a:srgbClr val="262626"/>
                </a:solidFill>
                <a:effectLst/>
                <a:latin typeface="Source Sans Pro"/>
              </a:rPr>
              <a:t>« Par exemple, lorsque la marque a commencé à commercialiser ses aspirateurs ’</a:t>
            </a:r>
            <a:r>
              <a:rPr lang="fr-FR" b="0" i="1" dirty="0" err="1">
                <a:solidFill>
                  <a:srgbClr val="262626"/>
                </a:solidFill>
                <a:effectLst/>
                <a:latin typeface="Source Sans Pro"/>
              </a:rPr>
              <a:t>upright</a:t>
            </a:r>
            <a:r>
              <a:rPr lang="fr-FR" b="0" i="1" dirty="0">
                <a:solidFill>
                  <a:srgbClr val="262626"/>
                </a:solidFill>
                <a:effectLst/>
                <a:latin typeface="Source Sans Pro"/>
              </a:rPr>
              <a:t>’, que l’on pousse, les Français n'ont pas réellement adhéré au concept</a:t>
            </a:r>
            <a:r>
              <a:rPr lang="fr-FR" b="0" i="0" dirty="0">
                <a:solidFill>
                  <a:srgbClr val="262626"/>
                </a:solidFill>
                <a:effectLst/>
                <a:latin typeface="Source Sans Pro"/>
              </a:rPr>
              <a:t>, analyse Marie </a:t>
            </a:r>
            <a:r>
              <a:rPr lang="fr-FR" b="0" i="0" dirty="0" err="1">
                <a:solidFill>
                  <a:srgbClr val="262626"/>
                </a:solidFill>
                <a:effectLst/>
                <a:latin typeface="Source Sans Pro"/>
              </a:rPr>
              <a:t>Vendroux</a:t>
            </a:r>
            <a:r>
              <a:rPr lang="fr-FR" b="0" i="0" dirty="0">
                <a:solidFill>
                  <a:srgbClr val="262626"/>
                </a:solidFill>
                <a:effectLst/>
                <a:latin typeface="Source Sans Pro"/>
              </a:rPr>
              <a:t>. </a:t>
            </a:r>
            <a:r>
              <a:rPr lang="fr-FR" b="0" i="1" dirty="0">
                <a:solidFill>
                  <a:srgbClr val="262626"/>
                </a:solidFill>
                <a:effectLst/>
                <a:latin typeface="Source Sans Pro"/>
              </a:rPr>
              <a:t>Notamment car ils ont l’habitude de tirer leurs aspirateurs, plutôt que de les pousser.»</a:t>
            </a:r>
            <a:r>
              <a:rPr lang="fr-FR" b="0" i="0" dirty="0">
                <a:solidFill>
                  <a:srgbClr val="262626"/>
                </a:solidFill>
                <a:effectLst/>
                <a:latin typeface="Source Sans Pro"/>
              </a:rPr>
              <a:t> Et même si ce produit n'est pas une priorité pour la marque dans l'Hexagone, Dyson continue de commercialiser plusieurs modèles </a:t>
            </a:r>
            <a:r>
              <a:rPr lang="fr-FR" b="0" i="0" dirty="0" err="1">
                <a:solidFill>
                  <a:srgbClr val="262626"/>
                </a:solidFill>
                <a:effectLst/>
                <a:latin typeface="Source Sans Pro"/>
              </a:rPr>
              <a:t>upright</a:t>
            </a:r>
            <a:r>
              <a:rPr lang="fr-FR" b="0" i="0" dirty="0">
                <a:solidFill>
                  <a:srgbClr val="262626"/>
                </a:solidFill>
                <a:effectLst/>
                <a:latin typeface="Source Sans Pro"/>
              </a:rPr>
              <a:t>. </a:t>
            </a:r>
            <a:r>
              <a:rPr lang="fr-FR" b="0" i="1" dirty="0">
                <a:solidFill>
                  <a:srgbClr val="262626"/>
                </a:solidFill>
                <a:effectLst/>
                <a:latin typeface="Source Sans Pro"/>
              </a:rPr>
              <a:t>« Ils ont certes moins de succès que d'autres produits, plus en adéquation avec les attentes des consommateurs, mais ils s'écoulent normalement et la marque n'a jamais perdu d'argent sur ces modèles »</a:t>
            </a:r>
            <a:r>
              <a:rPr lang="fr-FR" b="0" i="0" dirty="0">
                <a:solidFill>
                  <a:srgbClr val="262626"/>
                </a:solidFill>
                <a:effectLst/>
                <a:latin typeface="Source Sans Pro"/>
              </a:rPr>
              <a:t>, assure Marie </a:t>
            </a:r>
            <a:r>
              <a:rPr lang="fr-FR" b="0" i="0" dirty="0" err="1">
                <a:solidFill>
                  <a:srgbClr val="262626"/>
                </a:solidFill>
                <a:effectLst/>
                <a:latin typeface="Source Sans Pro"/>
              </a:rPr>
              <a:t>Vendroux</a:t>
            </a:r>
            <a:r>
              <a:rPr lang="fr-FR" b="0" i="0" dirty="0">
                <a:solidFill>
                  <a:srgbClr val="262626"/>
                </a:solidFill>
                <a:effectLst/>
                <a:latin typeface="Source Sans Pro"/>
              </a:rPr>
              <a:t>.</a:t>
            </a:r>
            <a:endParaRPr lang="fr-FR" dirty="0"/>
          </a:p>
        </p:txBody>
      </p:sp>
      <p:sp>
        <p:nvSpPr>
          <p:cNvPr id="4" name="Espace réservé du numéro de diapositive 3"/>
          <p:cNvSpPr>
            <a:spLocks noGrp="1"/>
          </p:cNvSpPr>
          <p:nvPr>
            <p:ph type="sldNum" sz="quarter" idx="10"/>
          </p:nvPr>
        </p:nvSpPr>
        <p:spPr/>
        <p:txBody>
          <a:bodyPr/>
          <a:lstStyle/>
          <a:p>
            <a:fld id="{6E604625-0701-464A-BADC-8E8E529D8B2A}" type="slidenum">
              <a:rPr lang="fr-FR" smtClean="0"/>
              <a:t>21</a:t>
            </a:fld>
            <a:endParaRPr lang="fr-FR"/>
          </a:p>
        </p:txBody>
      </p:sp>
    </p:spTree>
    <p:extLst>
      <p:ext uri="{BB962C8B-B14F-4D97-AF65-F5344CB8AC3E}">
        <p14:creationId xmlns:p14="http://schemas.microsoft.com/office/powerpoint/2010/main" val="30924364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Puissance autonomie</a:t>
            </a:r>
            <a:endParaRPr lang="fr-FR" dirty="0"/>
          </a:p>
        </p:txBody>
      </p:sp>
      <p:sp>
        <p:nvSpPr>
          <p:cNvPr id="4" name="Espace réservé du numéro de diapositive 3"/>
          <p:cNvSpPr>
            <a:spLocks noGrp="1"/>
          </p:cNvSpPr>
          <p:nvPr>
            <p:ph type="sldNum" sz="quarter" idx="10"/>
          </p:nvPr>
        </p:nvSpPr>
        <p:spPr/>
        <p:txBody>
          <a:bodyPr/>
          <a:lstStyle/>
          <a:p>
            <a:fld id="{4B837EF7-EEBE-4EFC-9188-C350CB8D47E2}" type="slidenum">
              <a:rPr lang="fr-FR" smtClean="0"/>
              <a:t>25</a:t>
            </a:fld>
            <a:endParaRPr lang="fr-FR"/>
          </a:p>
        </p:txBody>
      </p:sp>
    </p:spTree>
    <p:extLst>
      <p:ext uri="{BB962C8B-B14F-4D97-AF65-F5344CB8AC3E}">
        <p14:creationId xmlns:p14="http://schemas.microsoft.com/office/powerpoint/2010/main" val="18630948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err="1" smtClean="0"/>
              <a:t>Autonime</a:t>
            </a:r>
            <a:r>
              <a:rPr lang="fr-FR" dirty="0" smtClean="0"/>
              <a:t> de la batterie, qualité appareil photo, capacité de stockage</a:t>
            </a:r>
            <a:endParaRPr lang="fr-FR" dirty="0"/>
          </a:p>
        </p:txBody>
      </p:sp>
      <p:sp>
        <p:nvSpPr>
          <p:cNvPr id="4" name="Espace réservé du numéro de diapositive 3"/>
          <p:cNvSpPr>
            <a:spLocks noGrp="1"/>
          </p:cNvSpPr>
          <p:nvPr>
            <p:ph type="sldNum" sz="quarter" idx="10"/>
          </p:nvPr>
        </p:nvSpPr>
        <p:spPr/>
        <p:txBody>
          <a:bodyPr/>
          <a:lstStyle/>
          <a:p>
            <a:fld id="{4B837EF7-EEBE-4EFC-9188-C350CB8D47E2}" type="slidenum">
              <a:rPr lang="fr-FR" smtClean="0"/>
              <a:t>26</a:t>
            </a:fld>
            <a:endParaRPr lang="fr-FR"/>
          </a:p>
        </p:txBody>
      </p:sp>
    </p:spTree>
    <p:extLst>
      <p:ext uri="{BB962C8B-B14F-4D97-AF65-F5344CB8AC3E}">
        <p14:creationId xmlns:p14="http://schemas.microsoft.com/office/powerpoint/2010/main" val="18052988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9144000" cy="4572000"/>
          </a:xfrm>
          <a:prstGeom prst="rect">
            <a:avLst/>
          </a:prstGeom>
        </p:spPr>
      </p:pic>
      <p:sp>
        <p:nvSpPr>
          <p:cNvPr id="4" name="Date Placeholder 3"/>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5" name="Footer Placeholder 4"/>
          <p:cNvSpPr>
            <a:spLocks noGrp="1"/>
          </p:cNvSpPr>
          <p:nvPr>
            <p:ph type="ftr" sz="quarter" idx="11"/>
          </p:nvPr>
        </p:nvSpPr>
        <p:spPr/>
        <p:txBody>
          <a:bodyPr/>
          <a:lstStyle/>
          <a:p>
            <a:endParaRPr lang="fr-FR">
              <a:solidFill>
                <a:srgbClr val="FFFFFF"/>
              </a:solidFill>
            </a:endParaRPr>
          </a:p>
        </p:txBody>
      </p:sp>
      <p:sp>
        <p:nvSpPr>
          <p:cNvPr id="6" name="Slide Number Placeholder 5"/>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
        <p:nvSpPr>
          <p:cNvPr id="3" name="Subtitle 2"/>
          <p:cNvSpPr>
            <a:spLocks noGrp="1"/>
          </p:cNvSpPr>
          <p:nvPr>
            <p:ph type="subTitle" idx="1"/>
          </p:nvPr>
        </p:nvSpPr>
        <p:spPr>
          <a:xfrm>
            <a:off x="1219200" y="3886200"/>
            <a:ext cx="64008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en-US" dirty="0"/>
          </a:p>
        </p:txBody>
      </p:sp>
      <p:sp>
        <p:nvSpPr>
          <p:cNvPr id="2" name="Title 1"/>
          <p:cNvSpPr>
            <a:spLocks noGrp="1"/>
          </p:cNvSpPr>
          <p:nvPr>
            <p:ph type="ctrTitle"/>
          </p:nvPr>
        </p:nvSpPr>
        <p:spPr>
          <a:xfrm>
            <a:off x="685800" y="2007888"/>
            <a:ext cx="7772400" cy="1470025"/>
          </a:xfrm>
        </p:spPr>
        <p:txBody>
          <a:bodyPr/>
          <a:lstStyle>
            <a:lvl1pPr algn="ctr">
              <a:defRPr sz="3200"/>
            </a:lvl1pPr>
          </a:lstStyle>
          <a:p>
            <a:r>
              <a:rPr lang="fr-FR" smtClean="0"/>
              <a:t>Modifiez le style du titre</a:t>
            </a:r>
            <a:endParaRPr lang="en-US" dirty="0"/>
          </a:p>
        </p:txBody>
      </p:sp>
    </p:spTree>
    <p:extLst>
      <p:ext uri="{BB962C8B-B14F-4D97-AF65-F5344CB8AC3E}">
        <p14:creationId xmlns:p14="http://schemas.microsoft.com/office/powerpoint/2010/main" val="2409221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fr-FR" smtClean="0"/>
              <a:t>Modifiez le style du titre</a:t>
            </a:r>
            <a:endParaRPr lang="en-US" dirty="0"/>
          </a:p>
        </p:txBody>
      </p:sp>
      <p:sp>
        <p:nvSpPr>
          <p:cNvPr id="4" name="Date Placeholder 3"/>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5" name="Footer Placeholder 4"/>
          <p:cNvSpPr>
            <a:spLocks noGrp="1"/>
          </p:cNvSpPr>
          <p:nvPr>
            <p:ph type="ftr" sz="quarter" idx="11"/>
          </p:nvPr>
        </p:nvSpPr>
        <p:spPr/>
        <p:txBody>
          <a:bodyPr/>
          <a:lstStyle/>
          <a:p>
            <a:endParaRPr lang="fr-FR">
              <a:solidFill>
                <a:srgbClr val="FFFFFF"/>
              </a:solidFill>
            </a:endParaRPr>
          </a:p>
        </p:txBody>
      </p:sp>
      <p:sp>
        <p:nvSpPr>
          <p:cNvPr id="6" name="Slide Number Placeholder 5"/>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
        <p:nvSpPr>
          <p:cNvPr id="8" name="Content Placeholder 7"/>
          <p:cNvSpPr>
            <a:spLocks noGrp="1"/>
          </p:cNvSpPr>
          <p:nvPr>
            <p:ph sz="quarter" idx="13"/>
          </p:nvPr>
        </p:nvSpPr>
        <p:spPr>
          <a:xfrm>
            <a:off x="609600" y="1600200"/>
            <a:ext cx="7924800" cy="4114800"/>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Tree>
    <p:extLst>
      <p:ext uri="{BB962C8B-B14F-4D97-AF65-F5344CB8AC3E}">
        <p14:creationId xmlns:p14="http://schemas.microsoft.com/office/powerpoint/2010/main" val="573421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62525"/>
            <a:ext cx="7885113" cy="1362075"/>
          </a:xfrm>
        </p:spPr>
        <p:txBody>
          <a:bodyPr anchor="t"/>
          <a:lstStyle>
            <a:lvl1pPr algn="l">
              <a:defRPr sz="3200" b="0" i="0" cap="all" baseline="0"/>
            </a:lvl1pPr>
          </a:lstStyle>
          <a:p>
            <a:r>
              <a:rPr lang="fr-FR" smtClean="0"/>
              <a:t>Modifiez le style du titre</a:t>
            </a:r>
            <a:endParaRPr lang="en-US" dirty="0"/>
          </a:p>
        </p:txBody>
      </p:sp>
      <p:sp>
        <p:nvSpPr>
          <p:cNvPr id="3" name="Text Placeholder 2"/>
          <p:cNvSpPr>
            <a:spLocks noGrp="1"/>
          </p:cNvSpPr>
          <p:nvPr>
            <p:ph type="body" idx="1"/>
          </p:nvPr>
        </p:nvSpPr>
        <p:spPr>
          <a:xfrm>
            <a:off x="609600" y="3462338"/>
            <a:ext cx="7885113"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Date Placeholder 3"/>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5" name="Footer Placeholder 4"/>
          <p:cNvSpPr>
            <a:spLocks noGrp="1"/>
          </p:cNvSpPr>
          <p:nvPr>
            <p:ph type="ftr" sz="quarter" idx="11"/>
          </p:nvPr>
        </p:nvSpPr>
        <p:spPr/>
        <p:txBody>
          <a:bodyPr/>
          <a:lstStyle/>
          <a:p>
            <a:endParaRPr lang="fr-FR">
              <a:solidFill>
                <a:srgbClr val="FFFFFF"/>
              </a:solidFill>
            </a:endParaRPr>
          </a:p>
        </p:txBody>
      </p:sp>
      <p:sp>
        <p:nvSpPr>
          <p:cNvPr id="6" name="Slide Number Placeholder 5"/>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4010537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609600" y="1600200"/>
            <a:ext cx="37338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smtClean="0"/>
          </a:p>
        </p:txBody>
      </p:sp>
      <p:sp>
        <p:nvSpPr>
          <p:cNvPr id="13" name="Content Placeholder 12"/>
          <p:cNvSpPr>
            <a:spLocks noGrp="1"/>
          </p:cNvSpPr>
          <p:nvPr>
            <p:ph sz="quarter" idx="14"/>
          </p:nvPr>
        </p:nvSpPr>
        <p:spPr>
          <a:xfrm>
            <a:off x="4800600" y="1600200"/>
            <a:ext cx="37338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smtClean="0"/>
          </a:p>
        </p:txBody>
      </p:sp>
      <p:sp>
        <p:nvSpPr>
          <p:cNvPr id="2" name="Title 1"/>
          <p:cNvSpPr>
            <a:spLocks noGrp="1"/>
          </p:cNvSpPr>
          <p:nvPr>
            <p:ph type="title"/>
          </p:nvPr>
        </p:nvSpPr>
        <p:spPr>
          <a:xfrm>
            <a:off x="609600" y="274638"/>
            <a:ext cx="7924800" cy="1143000"/>
          </a:xfrm>
        </p:spPr>
        <p:txBody>
          <a:bodyPr/>
          <a:lstStyle/>
          <a:p>
            <a:r>
              <a:rPr lang="fr-FR" smtClean="0"/>
              <a:t>Modifiez le style du titre</a:t>
            </a:r>
            <a:endParaRPr lang="en-US" dirty="0"/>
          </a:p>
        </p:txBody>
      </p:sp>
      <p:sp>
        <p:nvSpPr>
          <p:cNvPr id="5" name="Date Placeholder 4"/>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6" name="Footer Placeholder 5"/>
          <p:cNvSpPr>
            <a:spLocks noGrp="1"/>
          </p:cNvSpPr>
          <p:nvPr>
            <p:ph type="ftr" sz="quarter" idx="11"/>
          </p:nvPr>
        </p:nvSpPr>
        <p:spPr/>
        <p:txBody>
          <a:bodyPr/>
          <a:lstStyle/>
          <a:p>
            <a:endParaRPr lang="fr-FR">
              <a:solidFill>
                <a:srgbClr val="FFFFFF"/>
              </a:solidFill>
            </a:endParaRPr>
          </a:p>
        </p:txBody>
      </p:sp>
      <p:sp>
        <p:nvSpPr>
          <p:cNvPr id="7" name="Slide Number Placeholder 6"/>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249374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4800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smtClean="0"/>
          </a:p>
        </p:txBody>
      </p:sp>
      <p:sp>
        <p:nvSpPr>
          <p:cNvPr id="11" name="Content Placeholder 10"/>
          <p:cNvSpPr>
            <a:spLocks noGrp="1"/>
          </p:cNvSpPr>
          <p:nvPr>
            <p:ph sz="quarter" idx="13"/>
          </p:nvPr>
        </p:nvSpPr>
        <p:spPr>
          <a:xfrm>
            <a:off x="609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smtClean="0"/>
          </a:p>
        </p:txBody>
      </p:sp>
      <p:sp>
        <p:nvSpPr>
          <p:cNvPr id="2" name="Title 1"/>
          <p:cNvSpPr>
            <a:spLocks noGrp="1"/>
          </p:cNvSpPr>
          <p:nvPr>
            <p:ph type="title"/>
          </p:nvPr>
        </p:nvSpPr>
        <p:spPr>
          <a:xfrm>
            <a:off x="609600" y="274638"/>
            <a:ext cx="7924800" cy="1143000"/>
          </a:xfrm>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609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5" name="Text Placeholder 4"/>
          <p:cNvSpPr>
            <a:spLocks noGrp="1"/>
          </p:cNvSpPr>
          <p:nvPr>
            <p:ph type="body" sz="quarter" idx="3"/>
          </p:nvPr>
        </p:nvSpPr>
        <p:spPr>
          <a:xfrm>
            <a:off x="4800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7" name="Date Placeholder 6"/>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8" name="Footer Placeholder 7"/>
          <p:cNvSpPr>
            <a:spLocks noGrp="1"/>
          </p:cNvSpPr>
          <p:nvPr>
            <p:ph type="ftr" sz="quarter" idx="11"/>
          </p:nvPr>
        </p:nvSpPr>
        <p:spPr/>
        <p:txBody>
          <a:bodyPr/>
          <a:lstStyle/>
          <a:p>
            <a:endParaRPr lang="fr-FR">
              <a:solidFill>
                <a:srgbClr val="FFFFFF"/>
              </a:solidFill>
            </a:endParaRPr>
          </a:p>
        </p:txBody>
      </p:sp>
      <p:sp>
        <p:nvSpPr>
          <p:cNvPr id="9" name="Slide Number Placeholder 8"/>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842479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4" name="Footer Placeholder 3"/>
          <p:cNvSpPr>
            <a:spLocks noGrp="1"/>
          </p:cNvSpPr>
          <p:nvPr>
            <p:ph type="ftr" sz="quarter" idx="11"/>
          </p:nvPr>
        </p:nvSpPr>
        <p:spPr/>
        <p:txBody>
          <a:bodyPr/>
          <a:lstStyle/>
          <a:p>
            <a:endParaRPr lang="fr-FR">
              <a:solidFill>
                <a:srgbClr val="FFFFFF"/>
              </a:solidFill>
            </a:endParaRPr>
          </a:p>
        </p:txBody>
      </p:sp>
      <p:sp>
        <p:nvSpPr>
          <p:cNvPr id="5" name="Slide Number Placeholder 4"/>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809977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3" name="Footer Placeholder 2"/>
          <p:cNvSpPr>
            <a:spLocks noGrp="1"/>
          </p:cNvSpPr>
          <p:nvPr>
            <p:ph type="ftr" sz="quarter" idx="11"/>
          </p:nvPr>
        </p:nvSpPr>
        <p:spPr/>
        <p:txBody>
          <a:bodyPr/>
          <a:lstStyle/>
          <a:p>
            <a:endParaRPr lang="fr-FR">
              <a:solidFill>
                <a:srgbClr val="FFFFFF"/>
              </a:solidFill>
            </a:endParaRPr>
          </a:p>
        </p:txBody>
      </p:sp>
      <p:sp>
        <p:nvSpPr>
          <p:cNvPr id="4" name="Slide Number Placeholder 3"/>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541953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3962400" y="1447800"/>
            <a:ext cx="4648200" cy="4267200"/>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2" name="Title 1"/>
          <p:cNvSpPr>
            <a:spLocks noGrp="1"/>
          </p:cNvSpPr>
          <p:nvPr>
            <p:ph type="title"/>
          </p:nvPr>
        </p:nvSpPr>
        <p:spPr>
          <a:xfrm>
            <a:off x="612648" y="1447800"/>
            <a:ext cx="2971800" cy="1097280"/>
          </a:xfrm>
        </p:spPr>
        <p:txBody>
          <a:bodyPr anchor="b"/>
          <a:lstStyle>
            <a:lvl1pPr algn="l">
              <a:defRPr sz="1800" b="0" i="0" cap="none" baseline="0">
                <a:solidFill>
                  <a:schemeClr val="tx2"/>
                </a:solidFill>
              </a:defRPr>
            </a:lvl1pPr>
          </a:lstStyle>
          <a:p>
            <a:r>
              <a:rPr lang="fr-FR" smtClean="0"/>
              <a:t>Modifiez le style du titre</a:t>
            </a:r>
            <a:endParaRPr lang="en-US" dirty="0"/>
          </a:p>
        </p:txBody>
      </p:sp>
      <p:sp>
        <p:nvSpPr>
          <p:cNvPr id="4" name="Text Placeholder 3"/>
          <p:cNvSpPr>
            <a:spLocks noGrp="1"/>
          </p:cNvSpPr>
          <p:nvPr>
            <p:ph type="body" sz="half" idx="2"/>
          </p:nvPr>
        </p:nvSpPr>
        <p:spPr>
          <a:xfrm>
            <a:off x="612648" y="2547891"/>
            <a:ext cx="29718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6" name="Footer Placeholder 5"/>
          <p:cNvSpPr>
            <a:spLocks noGrp="1"/>
          </p:cNvSpPr>
          <p:nvPr>
            <p:ph type="ftr" sz="quarter" idx="11"/>
          </p:nvPr>
        </p:nvSpPr>
        <p:spPr/>
        <p:txBody>
          <a:bodyPr/>
          <a:lstStyle/>
          <a:p>
            <a:endParaRPr lang="fr-FR">
              <a:solidFill>
                <a:srgbClr val="FFFFFF"/>
              </a:solidFill>
            </a:endParaRPr>
          </a:p>
        </p:txBody>
      </p:sp>
      <p:sp>
        <p:nvSpPr>
          <p:cNvPr id="7" name="Slide Number Placeholder 6"/>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1713485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9144000" cy="6858000"/>
          </a:xfrm>
          <a:prstGeom prst="rect">
            <a:avLst/>
          </a:prstGeom>
        </p:spPr>
      </p:pic>
      <p:sp>
        <p:nvSpPr>
          <p:cNvPr id="2" name="Title 1"/>
          <p:cNvSpPr>
            <a:spLocks noGrp="1"/>
          </p:cNvSpPr>
          <p:nvPr>
            <p:ph type="title"/>
          </p:nvPr>
        </p:nvSpPr>
        <p:spPr>
          <a:xfrm>
            <a:off x="609600" y="1447800"/>
            <a:ext cx="2971800" cy="1097280"/>
          </a:xfrm>
        </p:spPr>
        <p:txBody>
          <a:bodyPr anchor="b"/>
          <a:lstStyle>
            <a:lvl1pPr algn="l">
              <a:defRPr sz="1800" b="0" i="0" cap="none" baseline="0">
                <a:solidFill>
                  <a:schemeClr val="tx2"/>
                </a:solidFill>
              </a:defRPr>
            </a:lvl1pPr>
          </a:lstStyle>
          <a:p>
            <a:r>
              <a:rPr lang="fr-FR" smtClean="0"/>
              <a:t>Modifiez le style du titre</a:t>
            </a:r>
            <a:endParaRPr lang="en-US" dirty="0"/>
          </a:p>
        </p:txBody>
      </p:sp>
      <p:sp>
        <p:nvSpPr>
          <p:cNvPr id="3" name="Picture Placeholder 2"/>
          <p:cNvSpPr>
            <a:spLocks noGrp="1"/>
          </p:cNvSpPr>
          <p:nvPr>
            <p:ph type="pic" idx="1"/>
          </p:nvPr>
        </p:nvSpPr>
        <p:spPr>
          <a:xfrm>
            <a:off x="4657344" y="1447800"/>
            <a:ext cx="3419856"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609600" y="2547890"/>
            <a:ext cx="29718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Date Placeholder 4"/>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6" name="Footer Placeholder 5"/>
          <p:cNvSpPr>
            <a:spLocks noGrp="1"/>
          </p:cNvSpPr>
          <p:nvPr>
            <p:ph type="ftr" sz="quarter" idx="11"/>
          </p:nvPr>
        </p:nvSpPr>
        <p:spPr/>
        <p:txBody>
          <a:bodyPr/>
          <a:lstStyle/>
          <a:p>
            <a:endParaRPr lang="fr-FR">
              <a:solidFill>
                <a:srgbClr val="FFFFFF"/>
              </a:solidFill>
            </a:endParaRPr>
          </a:p>
        </p:txBody>
      </p:sp>
      <p:sp>
        <p:nvSpPr>
          <p:cNvPr id="7" name="Slide Number Placeholder 6"/>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1438283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Date Placeholder 3"/>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5" name="Footer Placeholder 4"/>
          <p:cNvSpPr>
            <a:spLocks noGrp="1"/>
          </p:cNvSpPr>
          <p:nvPr>
            <p:ph type="ftr" sz="quarter" idx="11"/>
          </p:nvPr>
        </p:nvSpPr>
        <p:spPr/>
        <p:txBody>
          <a:bodyPr/>
          <a:lstStyle/>
          <a:p>
            <a:endParaRPr lang="fr-FR">
              <a:solidFill>
                <a:srgbClr val="FFFFFF"/>
              </a:solidFill>
            </a:endParaRPr>
          </a:p>
        </p:txBody>
      </p:sp>
      <p:sp>
        <p:nvSpPr>
          <p:cNvPr id="6" name="Slide Number Placeholder 5"/>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3007799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Date Placeholder 3"/>
          <p:cNvSpPr>
            <a:spLocks noGrp="1"/>
          </p:cNvSpPr>
          <p:nvPr>
            <p:ph type="dt" sz="half" idx="10"/>
          </p:nvPr>
        </p:nvSpPr>
        <p:spPr/>
        <p:txBody>
          <a:body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5" name="Footer Placeholder 4"/>
          <p:cNvSpPr>
            <a:spLocks noGrp="1"/>
          </p:cNvSpPr>
          <p:nvPr>
            <p:ph type="ftr" sz="quarter" idx="11"/>
          </p:nvPr>
        </p:nvSpPr>
        <p:spPr/>
        <p:txBody>
          <a:bodyPr/>
          <a:lstStyle/>
          <a:p>
            <a:endParaRPr lang="fr-FR">
              <a:solidFill>
                <a:srgbClr val="FFFFFF"/>
              </a:solidFill>
            </a:endParaRPr>
          </a:p>
        </p:txBody>
      </p:sp>
      <p:sp>
        <p:nvSpPr>
          <p:cNvPr id="6" name="Slide Number Placeholder 5"/>
          <p:cNvSpPr>
            <a:spLocks noGrp="1"/>
          </p:cNvSpPr>
          <p:nvPr>
            <p:ph type="sldNum" sz="quarter" idx="12"/>
          </p:nvPr>
        </p:nvSpPr>
        <p:spPr/>
        <p:txBody>
          <a:body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2815244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609600" y="274638"/>
            <a:ext cx="7924800" cy="1143000"/>
          </a:xfrm>
          <a:prstGeom prst="rect">
            <a:avLst/>
          </a:prstGeom>
        </p:spPr>
        <p:txBody>
          <a:bodyPr vert="horz" lIns="91440" tIns="45720" rIns="91440" bIns="45720" rtlCol="0" anchor="b" anchorCtr="0">
            <a:noAutofit/>
          </a:bodyPr>
          <a:lstStyle/>
          <a:p>
            <a:r>
              <a:rPr lang="fr-FR" smtClean="0"/>
              <a:t>Modifiez le style du titre</a:t>
            </a:r>
            <a:endParaRPr lang="en-US" dirty="0"/>
          </a:p>
        </p:txBody>
      </p:sp>
      <p:sp>
        <p:nvSpPr>
          <p:cNvPr id="3" name="Text Placeholder 2"/>
          <p:cNvSpPr>
            <a:spLocks noGrp="1"/>
          </p:cNvSpPr>
          <p:nvPr>
            <p:ph type="body" idx="1"/>
          </p:nvPr>
        </p:nvSpPr>
        <p:spPr>
          <a:xfrm>
            <a:off x="609600" y="1600200"/>
            <a:ext cx="7924800" cy="452596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smtClean="0"/>
          </a:p>
        </p:txBody>
      </p:sp>
      <p:sp>
        <p:nvSpPr>
          <p:cNvPr id="4" name="Date Placeholder 3"/>
          <p:cNvSpPr>
            <a:spLocks noGrp="1"/>
          </p:cNvSpPr>
          <p:nvPr>
            <p:ph type="dt" sz="half" idx="2"/>
          </p:nvPr>
        </p:nvSpPr>
        <p:spPr>
          <a:xfrm>
            <a:off x="5715000" y="6356350"/>
            <a:ext cx="1524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F775510E-D5A6-4DD7-AC07-CB6632C6D2AB}" type="datetimeFigureOut">
              <a:rPr lang="fr-FR" smtClean="0">
                <a:solidFill>
                  <a:srgbClr val="FFFFFF"/>
                </a:solidFill>
              </a:rPr>
              <a:pPr/>
              <a:t>19/11/2025</a:t>
            </a:fld>
            <a:endParaRPr lang="fr-FR">
              <a:solidFill>
                <a:srgbClr val="FFFFFF"/>
              </a:solidFill>
            </a:endParaRPr>
          </a:p>
        </p:txBody>
      </p:sp>
      <p:sp>
        <p:nvSpPr>
          <p:cNvPr id="5" name="Footer Placeholder 4"/>
          <p:cNvSpPr>
            <a:spLocks noGrp="1"/>
          </p:cNvSpPr>
          <p:nvPr>
            <p:ph type="ftr" sz="quarter" idx="3"/>
          </p:nvPr>
        </p:nvSpPr>
        <p:spPr>
          <a:xfrm>
            <a:off x="609600" y="6356350"/>
            <a:ext cx="28956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fr-FR">
              <a:solidFill>
                <a:srgbClr val="FFFFFF"/>
              </a:solidFill>
            </a:endParaRPr>
          </a:p>
        </p:txBody>
      </p:sp>
      <p:sp>
        <p:nvSpPr>
          <p:cNvPr id="6" name="Slide Number Placeholder 5"/>
          <p:cNvSpPr>
            <a:spLocks noGrp="1"/>
          </p:cNvSpPr>
          <p:nvPr>
            <p:ph type="sldNum" sz="quarter" idx="4"/>
          </p:nvPr>
        </p:nvSpPr>
        <p:spPr>
          <a:xfrm>
            <a:off x="7543800" y="6356350"/>
            <a:ext cx="990600" cy="365125"/>
          </a:xfrm>
          <a:prstGeom prst="rect">
            <a:avLst/>
          </a:prstGeom>
        </p:spPr>
        <p:txBody>
          <a:bodyPr vert="horz" lIns="91440" tIns="45720" rIns="91440" bIns="45720" rtlCol="0" anchor="ctr"/>
          <a:lstStyle>
            <a:lvl1pPr algn="r">
              <a:defRPr sz="1100" baseline="0">
                <a:solidFill>
                  <a:schemeClr val="tx1"/>
                </a:solidFill>
              </a:defRPr>
            </a:lvl1pPr>
          </a:lstStyle>
          <a:p>
            <a:fld id="{32B1EC8A-F649-48AB-BC1D-7C1AFBBB04AE}" type="slidenum">
              <a:rPr lang="fr-FR" smtClean="0">
                <a:solidFill>
                  <a:srgbClr val="FFFFFF"/>
                </a:solidFill>
              </a:rPr>
              <a:pPr/>
              <a:t>‹N°›</a:t>
            </a:fld>
            <a:endParaRPr lang="fr-FR">
              <a:solidFill>
                <a:srgbClr val="FFFFFF"/>
              </a:solidFill>
            </a:endParaRPr>
          </a:p>
        </p:txBody>
      </p:sp>
    </p:spTree>
    <p:extLst>
      <p:ext uri="{BB962C8B-B14F-4D97-AF65-F5344CB8AC3E}">
        <p14:creationId xmlns:p14="http://schemas.microsoft.com/office/powerpoint/2010/main" val="272527168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1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jpeg"/></Relationships>
</file>

<file path=ppt/slides/_rels/slide2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1814959"/>
            <a:ext cx="7772400" cy="1470025"/>
          </a:xfrm>
        </p:spPr>
        <p:txBody>
          <a:bodyPr/>
          <a:lstStyle/>
          <a:p>
            <a:r>
              <a:rPr lang="fr-FR" sz="4400" b="1" u="sng"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Arial Black" pitchFamily="34" charset="0"/>
              </a:rPr>
              <a:t>ENTREPRENEURIAT</a:t>
            </a:r>
            <a:endParaRPr lang="fr-FR" sz="4400" b="1" u="sng"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latin typeface="Arial Black" pitchFamily="34" charset="0"/>
            </a:endParaRPr>
          </a:p>
        </p:txBody>
      </p:sp>
      <p:sp>
        <p:nvSpPr>
          <p:cNvPr id="6" name="Sous-titre 2"/>
          <p:cNvSpPr txBox="1">
            <a:spLocks/>
          </p:cNvSpPr>
          <p:nvPr/>
        </p:nvSpPr>
        <p:spPr>
          <a:xfrm>
            <a:off x="4211960" y="6293604"/>
            <a:ext cx="4773596" cy="422710"/>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fr-FR" dirty="0" smtClean="0">
                <a:solidFill>
                  <a:srgbClr val="FFFFFF">
                    <a:tint val="75000"/>
                  </a:srgbClr>
                </a:solidFill>
              </a:rPr>
              <a:t>Dr BRAHITI </a:t>
            </a:r>
            <a:r>
              <a:rPr lang="fr-FR" dirty="0" err="1" smtClean="0">
                <a:solidFill>
                  <a:srgbClr val="FFFFFF">
                    <a:tint val="75000"/>
                  </a:srgbClr>
                </a:solidFill>
              </a:rPr>
              <a:t>Ibtissem</a:t>
            </a:r>
            <a:endParaRPr lang="fr-FR" dirty="0">
              <a:solidFill>
                <a:srgbClr val="FFFFFF">
                  <a:tint val="75000"/>
                </a:srgbClr>
              </a:solidFill>
            </a:endParaRPr>
          </a:p>
        </p:txBody>
      </p:sp>
      <p:grpSp>
        <p:nvGrpSpPr>
          <p:cNvPr id="4" name="Groupe 3"/>
          <p:cNvGrpSpPr/>
          <p:nvPr/>
        </p:nvGrpSpPr>
        <p:grpSpPr>
          <a:xfrm>
            <a:off x="1495700" y="3767580"/>
            <a:ext cx="6120680" cy="1821659"/>
            <a:chOff x="611560" y="2996952"/>
            <a:chExt cx="7963984" cy="2808312"/>
          </a:xfrm>
        </p:grpSpPr>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3341" y="2996952"/>
              <a:ext cx="5122203"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3253345"/>
              <a:ext cx="1990725" cy="229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Flèche courbée vers le bas 8"/>
            <p:cNvSpPr/>
            <p:nvPr/>
          </p:nvSpPr>
          <p:spPr>
            <a:xfrm rot="215597">
              <a:off x="2331766" y="3137021"/>
              <a:ext cx="2543794" cy="844649"/>
            </a:xfrm>
            <a:prstGeom prst="curved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fr-FR">
                <a:solidFill>
                  <a:srgbClr val="FFFFFF"/>
                </a:solidFill>
              </a:endParaRPr>
            </a:p>
          </p:txBody>
        </p:sp>
      </p:grpSp>
      <p:pic>
        <p:nvPicPr>
          <p:cNvPr id="1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7384"/>
            <a:ext cx="9144000" cy="1988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8692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Nouveau logo et nouvelles ambitions pour BlaBlaCar - Stratégie Retail &gt;  Retail - EcommerceMag.f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337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1988840"/>
            <a:ext cx="3935078" cy="1307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AutoShape 2" descr="BlaBlaCar. Un nouveau mode de vie - Vivre et espére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319" y="3717032"/>
            <a:ext cx="222885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39186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8144" y="332656"/>
            <a:ext cx="2996440" cy="2996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4" descr="Starbucks, on a besoin de couvercles nitro réutilisables pour les gobelets  froids réutilisables ! : r/starbuc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5" name="AutoShape 6" descr="Starbucks, on a besoin de couvercles nitro réutilisables pour les gobelets  froids réutilisables ! : r/starbuck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6" name="AutoShape 9" descr="Logo de 'Starbucks Coffee' sur une vitrine dans le centre de Prague.  Emplacements Starbucks dans le monde entier servent des boissons chaudes et  froides et toutes sortes de café Photo Stock -"/>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34826"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27" y="7937"/>
            <a:ext cx="2562225" cy="179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AutoShape 2" descr="https://about.starbucks.com/uploads/sites/13/2024/04/20240408_PA054_Sustainability-Cup-In-Store_FY24_Q2_018-1.jp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13" y="2420888"/>
            <a:ext cx="3533775" cy="287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1551" y="3573016"/>
            <a:ext cx="4314825" cy="311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68541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solidFill>
                  <a:srgbClr val="FFC000"/>
                </a:solidFill>
              </a:rPr>
              <a:t>Innovation Vs Invention </a:t>
            </a:r>
            <a:endParaRPr lang="fr-FR" dirty="0">
              <a:solidFill>
                <a:srgbClr val="FFC000"/>
              </a:solidFill>
            </a:endParaRPr>
          </a:p>
        </p:txBody>
      </p:sp>
      <p:sp>
        <p:nvSpPr>
          <p:cNvPr id="3" name="Espace réservé du contenu 2"/>
          <p:cNvSpPr>
            <a:spLocks noGrp="1"/>
          </p:cNvSpPr>
          <p:nvPr>
            <p:ph sz="quarter" idx="13"/>
          </p:nvPr>
        </p:nvSpPr>
        <p:spPr/>
        <p:txBody>
          <a:bodyPr>
            <a:normAutofit/>
          </a:bodyPr>
          <a:lstStyle/>
          <a:p>
            <a:r>
              <a:rPr lang="fr-FR" sz="2400" dirty="0" smtClean="0"/>
              <a:t>L’innovation s’inscrit dans la mesure ou elle s’inscrit dans une perspective applicative qui rencontre un marché.</a:t>
            </a:r>
            <a:endParaRPr lang="fr-FR" sz="2400" dirty="0"/>
          </a:p>
        </p:txBody>
      </p:sp>
      <p:sp>
        <p:nvSpPr>
          <p:cNvPr id="4" name="AutoShape 2" descr="Amazon dévoile son premier véhicule sans conducteur | Cafétec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3928" y="2506196"/>
            <a:ext cx="4608512" cy="2362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AutoShape 5" descr="Voiture autonome : prêts à rouler sans volant et sans pédales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434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375" y="3428999"/>
            <a:ext cx="3188891" cy="2277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99588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solidFill>
                  <a:srgbClr val="FFC000"/>
                </a:solidFill>
              </a:rPr>
              <a:t>FONDEMENTS DE L’INNOVATION </a:t>
            </a:r>
            <a:br>
              <a:rPr lang="fr-FR" dirty="0" smtClean="0">
                <a:solidFill>
                  <a:srgbClr val="FFC000"/>
                </a:solidFill>
              </a:rPr>
            </a:br>
            <a:r>
              <a:rPr lang="fr-FR" sz="2000" dirty="0" smtClean="0">
                <a:solidFill>
                  <a:srgbClr val="FFC000"/>
                </a:solidFill>
              </a:rPr>
              <a:t>la pensée </a:t>
            </a:r>
            <a:r>
              <a:rPr lang="fr-FR" sz="2000" dirty="0" err="1" smtClean="0">
                <a:solidFill>
                  <a:srgbClr val="FFC000"/>
                </a:solidFill>
              </a:rPr>
              <a:t>shumpétrienne</a:t>
            </a:r>
            <a:endParaRPr lang="fr-FR" sz="2000" dirty="0">
              <a:solidFill>
                <a:srgbClr val="FFC000"/>
              </a:solidFill>
            </a:endParaRPr>
          </a:p>
        </p:txBody>
      </p:sp>
      <p:sp>
        <p:nvSpPr>
          <p:cNvPr id="3" name="Espace réservé du contenu 2"/>
          <p:cNvSpPr>
            <a:spLocks noGrp="1"/>
          </p:cNvSpPr>
          <p:nvPr>
            <p:ph sz="quarter" idx="13"/>
          </p:nvPr>
        </p:nvSpPr>
        <p:spPr/>
        <p:txBody>
          <a:bodyPr/>
          <a:lstStyle/>
          <a:p>
            <a:r>
              <a:rPr lang="fr-FR" dirty="0" smtClean="0"/>
              <a:t>L’innovation est à la fois source de croissance et facteur de crise </a:t>
            </a:r>
            <a:endParaRPr lang="fr-FR"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245" y="2060848"/>
            <a:ext cx="6895153"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4797152"/>
            <a:ext cx="3848100" cy="195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08884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C000"/>
                </a:solidFill>
              </a:rPr>
              <a:t>Formes d’innovation </a:t>
            </a:r>
            <a:endParaRPr lang="fr-FR" dirty="0">
              <a:solidFill>
                <a:srgbClr val="FFC000"/>
              </a:solidFill>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867563"/>
            <a:ext cx="7920880" cy="3793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04454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C000"/>
                </a:solidFill>
              </a:rPr>
              <a:t>Innovation produit</a:t>
            </a:r>
            <a:endParaRPr lang="fr-FR" dirty="0">
              <a:solidFill>
                <a:srgbClr val="FFC000"/>
              </a:solidFill>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541072"/>
            <a:ext cx="7632848" cy="4002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969085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C000"/>
                </a:solidFill>
              </a:rPr>
              <a:t>Innovation service</a:t>
            </a:r>
            <a:endParaRPr lang="fr-FR" dirty="0">
              <a:solidFill>
                <a:srgbClr val="FFC000"/>
              </a:solidFill>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576388"/>
            <a:ext cx="7241803" cy="4088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11528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23664" y="274638"/>
            <a:ext cx="7924800" cy="1143000"/>
          </a:xfrm>
        </p:spPr>
        <p:txBody>
          <a:bodyPr/>
          <a:lstStyle/>
          <a:p>
            <a:r>
              <a:rPr lang="fr-FR" dirty="0" smtClean="0">
                <a:solidFill>
                  <a:srgbClr val="FFC000"/>
                </a:solidFill>
              </a:rPr>
              <a:t>Innovation de procédé</a:t>
            </a:r>
            <a:endParaRPr lang="fr-FR" dirty="0">
              <a:solidFill>
                <a:srgbClr val="FFC000"/>
              </a:solidFill>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252" y="1504950"/>
            <a:ext cx="7275140" cy="4222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22727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11696" y="274638"/>
            <a:ext cx="7924800" cy="1143000"/>
          </a:xfrm>
        </p:spPr>
        <p:txBody>
          <a:bodyPr/>
          <a:lstStyle/>
          <a:p>
            <a:r>
              <a:rPr lang="fr-FR" dirty="0" smtClean="0">
                <a:solidFill>
                  <a:srgbClr val="FFC000"/>
                </a:solidFill>
              </a:rPr>
              <a:t>Innovation marketing</a:t>
            </a:r>
            <a:endParaRPr lang="fr-FR" dirty="0">
              <a:solidFill>
                <a:srgbClr val="FFC000"/>
              </a:solidFill>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490663"/>
            <a:ext cx="6696744" cy="456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72531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solidFill>
                  <a:srgbClr val="FFC000"/>
                </a:solidFill>
              </a:rPr>
              <a:t>Innovation </a:t>
            </a:r>
            <a:r>
              <a:rPr lang="fr-FR" dirty="0" smtClean="0">
                <a:solidFill>
                  <a:srgbClr val="FFC000"/>
                </a:solidFill>
              </a:rPr>
              <a:t>marketing</a:t>
            </a:r>
            <a:endParaRPr lang="fr-FR"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1" y="1628774"/>
            <a:ext cx="7098928" cy="4071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4" descr="Poisson d'avril! - Idiom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127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1686406"/>
            <a:ext cx="4824536" cy="2894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4364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solidFill>
                  <a:srgbClr val="FFC000"/>
                </a:solidFill>
              </a:rPr>
              <a:t>Innovation organisationnelle</a:t>
            </a:r>
            <a:endParaRPr lang="fr-FR" dirty="0">
              <a:solidFill>
                <a:srgbClr val="FFC000"/>
              </a:solidFill>
            </a:endParaRP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732481"/>
            <a:ext cx="6480719" cy="3852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99541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dirty="0" smtClean="0">
                <a:solidFill>
                  <a:srgbClr val="FFC000"/>
                </a:solidFill>
              </a:rPr>
              <a:t>Innovation organisationnelle</a:t>
            </a:r>
            <a:endParaRPr lang="fr-FR" dirty="0">
              <a:solidFill>
                <a:srgbClr val="FFC000"/>
              </a:solidFill>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1927" y="1574074"/>
            <a:ext cx="6398425" cy="3583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57283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320040"/>
            <a:ext cx="7239000" cy="804704"/>
          </a:xfrm>
        </p:spPr>
        <p:txBody>
          <a:bodyPr/>
          <a:lstStyle/>
          <a:p>
            <a:pPr algn="ctr"/>
            <a:r>
              <a:rPr lang="fr-FR" dirty="0">
                <a:solidFill>
                  <a:srgbClr val="FFC000"/>
                </a:solidFill>
              </a:rPr>
              <a:t>Les formes d’innovation </a:t>
            </a:r>
          </a:p>
        </p:txBody>
      </p:sp>
      <p:sp>
        <p:nvSpPr>
          <p:cNvPr id="3" name="Espace réservé du contenu 2"/>
          <p:cNvSpPr>
            <a:spLocks noGrp="1"/>
          </p:cNvSpPr>
          <p:nvPr>
            <p:ph idx="4294967295"/>
          </p:nvPr>
        </p:nvSpPr>
        <p:spPr>
          <a:xfrm>
            <a:off x="1061571" y="1772816"/>
            <a:ext cx="7272808" cy="3982224"/>
          </a:xfrm>
          <a:prstGeom prst="rect">
            <a:avLst/>
          </a:prstGeom>
        </p:spPr>
        <p:txBody>
          <a:bodyPr>
            <a:normAutofit fontScale="92500"/>
          </a:bodyPr>
          <a:lstStyle/>
          <a:p>
            <a:pPr>
              <a:lnSpc>
                <a:spcPct val="150000"/>
              </a:lnSpc>
              <a:buFont typeface="Courier New" pitchFamily="49" charset="0"/>
              <a:buChar char="o"/>
            </a:pPr>
            <a:r>
              <a:rPr lang="fr-FR" sz="2400" dirty="0"/>
              <a:t>L’innovation de rupture </a:t>
            </a:r>
            <a:r>
              <a:rPr lang="fr-FR" sz="1800" i="1" dirty="0"/>
              <a:t>« first </a:t>
            </a:r>
            <a:r>
              <a:rPr lang="fr-FR" sz="1800" i="1" dirty="0" err="1"/>
              <a:t>mover</a:t>
            </a:r>
            <a:r>
              <a:rPr lang="fr-FR" sz="1800" i="1" dirty="0"/>
              <a:t> »</a:t>
            </a:r>
          </a:p>
          <a:p>
            <a:pPr>
              <a:lnSpc>
                <a:spcPct val="150000"/>
              </a:lnSpc>
              <a:buFont typeface="Courier New" pitchFamily="49" charset="0"/>
              <a:buChar char="o"/>
            </a:pPr>
            <a:r>
              <a:rPr lang="fr-FR" sz="2400" dirty="0"/>
              <a:t>L’imitation d’une innovation de rupture </a:t>
            </a:r>
            <a:r>
              <a:rPr lang="fr-FR" sz="1800" i="1" dirty="0"/>
              <a:t>« suiveur »</a:t>
            </a:r>
          </a:p>
          <a:p>
            <a:pPr>
              <a:lnSpc>
                <a:spcPct val="150000"/>
              </a:lnSpc>
              <a:buFont typeface="Courier New" pitchFamily="49" charset="0"/>
              <a:buChar char="o"/>
            </a:pPr>
            <a:r>
              <a:rPr lang="fr-FR" sz="2400" dirty="0"/>
              <a:t>La modification d’une innovation de rupture ;</a:t>
            </a:r>
          </a:p>
          <a:p>
            <a:pPr>
              <a:lnSpc>
                <a:spcPct val="150000"/>
              </a:lnSpc>
              <a:buFont typeface="Courier New" pitchFamily="49" charset="0"/>
              <a:buChar char="o"/>
            </a:pPr>
            <a:r>
              <a:rPr lang="fr-FR" sz="2400" dirty="0"/>
              <a:t> Innovation incrémentale ;</a:t>
            </a:r>
          </a:p>
          <a:p>
            <a:pPr>
              <a:lnSpc>
                <a:spcPct val="150000"/>
              </a:lnSpc>
              <a:buFont typeface="Courier New" pitchFamily="49" charset="0"/>
              <a:buChar char="o"/>
            </a:pPr>
            <a:r>
              <a:rPr lang="fr-FR" sz="2400" dirty="0"/>
              <a:t>Imitation d'une innovation incrémentale ; </a:t>
            </a:r>
          </a:p>
          <a:p>
            <a:pPr>
              <a:lnSpc>
                <a:spcPct val="150000"/>
              </a:lnSpc>
              <a:buFont typeface="Courier New" pitchFamily="49" charset="0"/>
              <a:buChar char="o"/>
            </a:pPr>
            <a:r>
              <a:rPr lang="fr-FR" sz="2400" dirty="0"/>
              <a:t>Modification d’une innovation incrémentale</a:t>
            </a:r>
          </a:p>
          <a:p>
            <a:endParaRPr lang="fr-FR" sz="2400" dirty="0"/>
          </a:p>
        </p:txBody>
      </p:sp>
      <p:sp>
        <p:nvSpPr>
          <p:cNvPr id="4" name="ZoneTexte 3"/>
          <p:cNvSpPr txBox="1"/>
          <p:nvPr/>
        </p:nvSpPr>
        <p:spPr>
          <a:xfrm>
            <a:off x="395536" y="1772816"/>
            <a:ext cx="553998" cy="3096344"/>
          </a:xfrm>
          <a:prstGeom prst="rect">
            <a:avLst/>
          </a:prstGeom>
          <a:noFill/>
        </p:spPr>
        <p:txBody>
          <a:bodyPr vert="vert270"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r>
              <a:rPr lang="fr-FR" sz="2400"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rPr>
              <a:t>Nouveauté </a:t>
            </a:r>
          </a:p>
        </p:txBody>
      </p:sp>
      <p:cxnSp>
        <p:nvCxnSpPr>
          <p:cNvPr id="6" name="Connecteur droit avec flèche 5"/>
          <p:cNvCxnSpPr/>
          <p:nvPr/>
        </p:nvCxnSpPr>
        <p:spPr>
          <a:xfrm flipV="1">
            <a:off x="1061569" y="1988842"/>
            <a:ext cx="0" cy="3384377"/>
          </a:xfrm>
          <a:prstGeom prst="straightConnector1">
            <a:avLst/>
          </a:prstGeom>
          <a:ln>
            <a:tailEnd type="arrow"/>
          </a:ln>
        </p:spPr>
        <p:style>
          <a:lnRef idx="2">
            <a:schemeClr val="accent5"/>
          </a:lnRef>
          <a:fillRef idx="0">
            <a:schemeClr val="accent5"/>
          </a:fillRef>
          <a:effectRef idx="1">
            <a:schemeClr val="accent5"/>
          </a:effectRef>
          <a:fontRef idx="minor">
            <a:schemeClr val="tx1"/>
          </a:fontRef>
        </p:style>
      </p:cxnSp>
      <p:sp>
        <p:nvSpPr>
          <p:cNvPr id="5" name="AutoShape 2" descr="Diététique: le yaourt, l'allié de notre microbiot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00" y="44624"/>
            <a:ext cx="2699792"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35207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088" y="1124744"/>
            <a:ext cx="7743825" cy="416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80026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descr="Nokia Asha 210 : un téléphone low-cost à 79 euro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5066" y="1340767"/>
            <a:ext cx="3777054" cy="2513459"/>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1052736"/>
            <a:ext cx="5353050" cy="531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21647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Logo nokia Banque de photographies et d'images à haute résolution - Alamy"/>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3" name="AutoShape 4" descr="Logo nokia Banque de photographies et d'images à haute résolution - Alamy"/>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126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3937" y="3178218"/>
            <a:ext cx="2085975"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0407" y="3193449"/>
            <a:ext cx="3623921" cy="704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3606" y="836712"/>
            <a:ext cx="4182610" cy="234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47233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xit" presetSubtype="4" fill="hold" nodeType="clickEffect">
                                  <p:stCondLst>
                                    <p:cond delay="0"/>
                                  </p:stCondLst>
                                  <p:childTnLst>
                                    <p:anim calcmode="lin" valueType="num">
                                      <p:cBhvr additive="base">
                                        <p:cTn id="10" dur="1000"/>
                                        <p:tgtEl>
                                          <p:spTgt spid="11269"/>
                                        </p:tgtEl>
                                        <p:attrNameLst>
                                          <p:attrName>ppt_x</p:attrName>
                                        </p:attrNameLst>
                                      </p:cBhvr>
                                      <p:tavLst>
                                        <p:tav tm="0">
                                          <p:val>
                                            <p:strVal val="ppt_x"/>
                                          </p:val>
                                        </p:tav>
                                        <p:tav tm="100000">
                                          <p:val>
                                            <p:strVal val="ppt_x"/>
                                          </p:val>
                                        </p:tav>
                                      </p:tavLst>
                                    </p:anim>
                                    <p:anim calcmode="lin" valueType="num">
                                      <p:cBhvr additive="base">
                                        <p:cTn id="11" dur="1000"/>
                                        <p:tgtEl>
                                          <p:spTgt spid="11269"/>
                                        </p:tgtEl>
                                        <p:attrNameLst>
                                          <p:attrName>ppt_y</p:attrName>
                                        </p:attrNameLst>
                                      </p:cBhvr>
                                      <p:tavLst>
                                        <p:tav tm="0">
                                          <p:val>
                                            <p:strVal val="ppt_y"/>
                                          </p:val>
                                        </p:tav>
                                        <p:tav tm="100000">
                                          <p:val>
                                            <p:strVal val="1+ppt_h/2"/>
                                          </p:val>
                                        </p:tav>
                                      </p:tavLst>
                                    </p:anim>
                                    <p:set>
                                      <p:cBhvr>
                                        <p:cTn id="12" dur="1" fill="hold">
                                          <p:stCondLst>
                                            <p:cond delay="999"/>
                                          </p:stCondLst>
                                        </p:cTn>
                                        <p:tgtEl>
                                          <p:spTgt spid="11269"/>
                                        </p:tgtEl>
                                        <p:attrNameLst>
                                          <p:attrName>style.visibility</p:attrName>
                                        </p:attrNameLst>
                                      </p:cBhvr>
                                      <p:to>
                                        <p:strVal val="hidden"/>
                                      </p:to>
                                    </p:set>
                                  </p:childTnLst>
                                </p:cTn>
                              </p:par>
                              <p:par>
                                <p:cTn id="13" presetID="2" presetClass="exit" presetSubtype="4" fill="hold" nodeType="withEffect">
                                  <p:stCondLst>
                                    <p:cond delay="0"/>
                                  </p:stCondLst>
                                  <p:childTnLst>
                                    <p:anim calcmode="lin" valueType="num">
                                      <p:cBhvr additive="base">
                                        <p:cTn id="14" dur="1000"/>
                                        <p:tgtEl>
                                          <p:spTgt spid="11270"/>
                                        </p:tgtEl>
                                        <p:attrNameLst>
                                          <p:attrName>ppt_x</p:attrName>
                                        </p:attrNameLst>
                                      </p:cBhvr>
                                      <p:tavLst>
                                        <p:tav tm="0">
                                          <p:val>
                                            <p:strVal val="ppt_x"/>
                                          </p:val>
                                        </p:tav>
                                        <p:tav tm="100000">
                                          <p:val>
                                            <p:strVal val="ppt_x"/>
                                          </p:val>
                                        </p:tav>
                                      </p:tavLst>
                                    </p:anim>
                                    <p:anim calcmode="lin" valueType="num">
                                      <p:cBhvr additive="base">
                                        <p:cTn id="15" dur="1000"/>
                                        <p:tgtEl>
                                          <p:spTgt spid="11270"/>
                                        </p:tgtEl>
                                        <p:attrNameLst>
                                          <p:attrName>ppt_y</p:attrName>
                                        </p:attrNameLst>
                                      </p:cBhvr>
                                      <p:tavLst>
                                        <p:tav tm="0">
                                          <p:val>
                                            <p:strVal val="ppt_y"/>
                                          </p:val>
                                        </p:tav>
                                        <p:tav tm="100000">
                                          <p:val>
                                            <p:strVal val="1+ppt_h/2"/>
                                          </p:val>
                                        </p:tav>
                                      </p:tavLst>
                                    </p:anim>
                                    <p:set>
                                      <p:cBhvr>
                                        <p:cTn id="16" dur="1" fill="hold">
                                          <p:stCondLst>
                                            <p:cond delay="999"/>
                                          </p:stCondLst>
                                        </p:cTn>
                                        <p:tgtEl>
                                          <p:spTgt spid="11270"/>
                                        </p:tgtEl>
                                        <p:attrNameLst>
                                          <p:attrName>style.visibility</p:attrName>
                                        </p:attrNameLst>
                                      </p:cBhvr>
                                      <p:to>
                                        <p:strVal val="hidden"/>
                                      </p:to>
                                    </p:set>
                                  </p:childTnLst>
                                </p:cTn>
                              </p:par>
                              <p:par>
                                <p:cTn id="17" presetID="42" presetClass="path" presetSubtype="0" accel="50000" decel="50000" fill="hold" nodeType="withEffect">
                                  <p:stCondLst>
                                    <p:cond delay="0"/>
                                  </p:stCondLst>
                                  <p:childTnLst>
                                    <p:animMotion origin="layout" path="M 0 0 L 0 0.25 E" pathEditMode="relative" ptsTypes="">
                                      <p:cBhvr>
                                        <p:cTn id="18" dur="2000" fill="hold"/>
                                        <p:tgtEl>
                                          <p:spTgt spid="1127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320040"/>
            <a:ext cx="7239000" cy="948720"/>
          </a:xfrm>
        </p:spPr>
        <p:txBody>
          <a:bodyPr/>
          <a:lstStyle/>
          <a:p>
            <a:pPr algn="ctr"/>
            <a:r>
              <a:rPr lang="fr-FR" dirty="0">
                <a:solidFill>
                  <a:srgbClr val="FFC000"/>
                </a:solidFill>
              </a:rPr>
              <a:t>1- L’innovation de rupture </a:t>
            </a:r>
          </a:p>
        </p:txBody>
      </p:sp>
      <p:sp>
        <p:nvSpPr>
          <p:cNvPr id="4" name="Rectangle à coins arrondis 3"/>
          <p:cNvSpPr/>
          <p:nvPr/>
        </p:nvSpPr>
        <p:spPr>
          <a:xfrm>
            <a:off x="467544" y="1700808"/>
            <a:ext cx="7272808" cy="13681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i="1" dirty="0">
                <a:solidFill>
                  <a:schemeClr val="bg1"/>
                </a:solidFill>
                <a:latin typeface="Arial"/>
              </a:rPr>
              <a:t>« Introduction dans un marché d'un produit, processus ou service </a:t>
            </a:r>
            <a:r>
              <a:rPr lang="fr-FR" sz="2000" b="1" i="1" u="sng" dirty="0">
                <a:solidFill>
                  <a:schemeClr val="bg1"/>
                </a:solidFill>
                <a:latin typeface="Arial"/>
              </a:rPr>
              <a:t>complètement nouveau </a:t>
            </a:r>
            <a:r>
              <a:rPr lang="fr-FR" sz="2000" b="1" i="1" dirty="0">
                <a:solidFill>
                  <a:schemeClr val="bg1"/>
                </a:solidFill>
                <a:latin typeface="Arial"/>
              </a:rPr>
              <a:t> »</a:t>
            </a:r>
            <a:endParaRPr lang="fr-FR" sz="2000" b="1" i="1" dirty="0">
              <a:solidFill>
                <a:schemeClr val="bg1"/>
              </a:solidFill>
            </a:endParaRPr>
          </a:p>
        </p:txBody>
      </p:sp>
      <p:pic>
        <p:nvPicPr>
          <p:cNvPr id="1026" name="Picture 2" descr="Débuter en photo argentique : appareil, pellicule et développemen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3933056"/>
            <a:ext cx="3722966" cy="1944216"/>
          </a:xfrm>
          <a:prstGeom prst="rect">
            <a:avLst/>
          </a:prstGeom>
          <a:noFill/>
          <a:extLst>
            <a:ext uri="{909E8E84-426E-40DD-AFC4-6F175D3DCCD1}">
              <a14:hiddenFill xmlns:a14="http://schemas.microsoft.com/office/drawing/2010/main">
                <a:solidFill>
                  <a:srgbClr val="FFFFFF"/>
                </a:solidFill>
              </a14:hiddenFill>
            </a:ext>
          </a:extLst>
        </p:spPr>
      </p:pic>
      <p:sp>
        <p:nvSpPr>
          <p:cNvPr id="5" name="Flèche droite 4"/>
          <p:cNvSpPr/>
          <p:nvPr/>
        </p:nvSpPr>
        <p:spPr>
          <a:xfrm>
            <a:off x="4103949" y="4185084"/>
            <a:ext cx="468052" cy="12961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28" name="Picture 4" descr="Faits marquant de la photographie numérique timeline | Timetoas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2576" y="3510716"/>
            <a:ext cx="3295808" cy="2644887"/>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p:cNvSpPr txBox="1"/>
          <p:nvPr/>
        </p:nvSpPr>
        <p:spPr>
          <a:xfrm>
            <a:off x="179512" y="6021288"/>
            <a:ext cx="4158462" cy="369332"/>
          </a:xfrm>
          <a:prstGeom prst="rect">
            <a:avLst/>
          </a:prstGeom>
          <a:noFill/>
        </p:spPr>
        <p:txBody>
          <a:bodyPr wrap="square" rtlCol="0">
            <a:spAutoFit/>
          </a:bodyPr>
          <a:lstStyle/>
          <a:p>
            <a:r>
              <a:rPr lang="fr-FR" dirty="0"/>
              <a:t>Steven </a:t>
            </a:r>
            <a:r>
              <a:rPr lang="fr-FR" dirty="0" err="1"/>
              <a:t>Sasson</a:t>
            </a:r>
            <a:r>
              <a:rPr lang="fr-FR" dirty="0"/>
              <a:t> / Kodak /1975/3,6kg</a:t>
            </a:r>
          </a:p>
        </p:txBody>
      </p:sp>
      <p:sp>
        <p:nvSpPr>
          <p:cNvPr id="8" name="ZoneTexte 7"/>
          <p:cNvSpPr txBox="1"/>
          <p:nvPr/>
        </p:nvSpPr>
        <p:spPr>
          <a:xfrm>
            <a:off x="1286635" y="6390620"/>
            <a:ext cx="1944216" cy="369332"/>
          </a:xfrm>
          <a:prstGeom prst="rect">
            <a:avLst/>
          </a:prstGeom>
          <a:noFill/>
        </p:spPr>
        <p:txBody>
          <a:bodyPr wrap="square" rtlCol="0">
            <a:spAutoFit/>
          </a:bodyPr>
          <a:lstStyle/>
          <a:p>
            <a:r>
              <a:rPr lang="fr-FR" b="1" dirty="0">
                <a:solidFill>
                  <a:srgbClr val="FF0000"/>
                </a:solidFill>
              </a:rPr>
              <a:t>L’effet kodak !</a:t>
            </a:r>
          </a:p>
        </p:txBody>
      </p:sp>
    </p:spTree>
    <p:extLst>
      <p:ext uri="{BB962C8B-B14F-4D97-AF65-F5344CB8AC3E}">
        <p14:creationId xmlns:p14="http://schemas.microsoft.com/office/powerpoint/2010/main" val="95099667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FR" sz="2800" dirty="0">
                <a:solidFill>
                  <a:srgbClr val="FFC000"/>
                </a:solidFill>
              </a:rPr>
              <a:t>Suite : innovation de rupture</a:t>
            </a:r>
          </a:p>
        </p:txBody>
      </p:sp>
      <p:pic>
        <p:nvPicPr>
          <p:cNvPr id="6146" name="Picture 2" descr="Innovation : comment réinventer votre activité et suivre les tendances de  votre marché ? | Entreprise sans fau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9" y="3046107"/>
            <a:ext cx="8626576" cy="17846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263083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FR" sz="2800" dirty="0">
                <a:solidFill>
                  <a:srgbClr val="FFC000"/>
                </a:solidFill>
              </a:rPr>
              <a:t>Suite : innovation de rupture</a:t>
            </a:r>
          </a:p>
        </p:txBody>
      </p:sp>
      <p:sp>
        <p:nvSpPr>
          <p:cNvPr id="3" name="AutoShape 2" descr="Netflix Review | PCMa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4" name="AutoShape 4" descr="Netflix Review | PCMa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331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7576" y="1768770"/>
            <a:ext cx="2953048" cy="2211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AutoShape 8" descr="Amazon eGift Card - Amazon Logo (Animated) : Amazon.fr: Boutique cartes  cadeaux"/>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6" name="AutoShape 10" descr="Amazon eGift Card - Amazon Logo (Animated) : Amazon.fr: Boutique cartes  cadeaux"/>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3323"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112" y="1916832"/>
            <a:ext cx="2898322" cy="1512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24"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4221088"/>
            <a:ext cx="2736304" cy="1038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084572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solidFill>
                  <a:srgbClr val="FFC000"/>
                </a:solidFill>
              </a:rPr>
              <a:t>2- L’imitation d’une innovation de rupture </a:t>
            </a:r>
          </a:p>
        </p:txBody>
      </p:sp>
      <p:sp>
        <p:nvSpPr>
          <p:cNvPr id="3" name="Espace réservé du contenu 2"/>
          <p:cNvSpPr>
            <a:spLocks noGrp="1"/>
          </p:cNvSpPr>
          <p:nvPr>
            <p:ph idx="4294967295"/>
          </p:nvPr>
        </p:nvSpPr>
        <p:spPr>
          <a:xfrm>
            <a:off x="457200" y="3501008"/>
            <a:ext cx="7239000" cy="2954728"/>
          </a:xfrm>
          <a:prstGeom prst="rect">
            <a:avLst/>
          </a:prstGeom>
        </p:spPr>
        <p:txBody>
          <a:bodyPr/>
          <a:lstStyle/>
          <a:p>
            <a:pPr marL="0" indent="0">
              <a:buNone/>
            </a:pPr>
            <a:endParaRPr lang="fr-FR" dirty="0"/>
          </a:p>
          <a:p>
            <a:endParaRPr lang="fr-FR" dirty="0"/>
          </a:p>
          <a:p>
            <a:endParaRPr lang="fr-FR" dirty="0"/>
          </a:p>
        </p:txBody>
      </p:sp>
      <p:sp>
        <p:nvSpPr>
          <p:cNvPr id="4" name="Rectangle à coins arrondis 3"/>
          <p:cNvSpPr/>
          <p:nvPr/>
        </p:nvSpPr>
        <p:spPr>
          <a:xfrm>
            <a:off x="467544" y="1700808"/>
            <a:ext cx="7272808" cy="13681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i="1" dirty="0">
                <a:solidFill>
                  <a:prstClr val="white"/>
                </a:solidFill>
                <a:latin typeface="Arial"/>
              </a:rPr>
              <a:t>« </a:t>
            </a:r>
            <a:r>
              <a:rPr lang="fr-FR" b="1" i="1" dirty="0"/>
              <a:t>Adoption d'une innovation de rupture par un autre entrepreneur qui se comporte comme un </a:t>
            </a:r>
            <a:r>
              <a:rPr lang="fr-FR" sz="2000" b="1" i="1" u="sng" dirty="0"/>
              <a:t>suiveur</a:t>
            </a:r>
            <a:r>
              <a:rPr lang="fr-FR" sz="2000" b="1" dirty="0"/>
              <a:t> </a:t>
            </a:r>
            <a:r>
              <a:rPr lang="fr-FR" sz="2000" b="1" dirty="0">
                <a:solidFill>
                  <a:prstClr val="white"/>
                </a:solidFill>
                <a:latin typeface="Arial"/>
              </a:rPr>
              <a:t>»</a:t>
            </a:r>
            <a:endParaRPr lang="fr-FR" b="1" dirty="0">
              <a:solidFill>
                <a:prstClr val="white"/>
              </a:solidFill>
            </a:endParaRPr>
          </a:p>
        </p:txBody>
      </p:sp>
      <p:sp>
        <p:nvSpPr>
          <p:cNvPr id="5" name="AutoShape 2" descr="iPod nano et shuffle : retour sur seize ans de révolution musicale par App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6" name="AutoShape 4" descr="iPod nano et shuffle : retour sur seize ans de révolution musicale par Apple"/>
          <p:cNvSpPr>
            <a:spLocks noChangeAspect="1" noChangeArrowheads="1"/>
          </p:cNvSpPr>
          <p:nvPr/>
        </p:nvSpPr>
        <p:spPr bwMode="auto">
          <a:xfrm>
            <a:off x="307975" y="7941"/>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 name="Flèche droite 6"/>
          <p:cNvSpPr/>
          <p:nvPr/>
        </p:nvSpPr>
        <p:spPr>
          <a:xfrm>
            <a:off x="2771800" y="4077076"/>
            <a:ext cx="612068" cy="13009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611562" y="6093300"/>
            <a:ext cx="2196435" cy="646331"/>
          </a:xfrm>
          <a:prstGeom prst="rect">
            <a:avLst/>
          </a:prstGeom>
        </p:spPr>
        <p:txBody>
          <a:bodyPr wrap="none">
            <a:spAutoFit/>
          </a:bodyPr>
          <a:lstStyle/>
          <a:p>
            <a:r>
              <a:rPr lang="fr-FR" dirty="0"/>
              <a:t>Jukebox studio 10</a:t>
            </a:r>
          </a:p>
          <a:p>
            <a:r>
              <a:rPr lang="fr-FR" dirty="0"/>
              <a:t>ARCHOS / </a:t>
            </a:r>
            <a:r>
              <a:rPr lang="fr-FR" dirty="0" err="1"/>
              <a:t>Juil</a:t>
            </a:r>
            <a:r>
              <a:rPr lang="fr-FR" dirty="0"/>
              <a:t> 2000</a:t>
            </a:r>
          </a:p>
        </p:txBody>
      </p:sp>
      <p:sp>
        <p:nvSpPr>
          <p:cNvPr id="9" name="ZoneTexte 8"/>
          <p:cNvSpPr txBox="1"/>
          <p:nvPr/>
        </p:nvSpPr>
        <p:spPr>
          <a:xfrm>
            <a:off x="3828135" y="6031741"/>
            <a:ext cx="2808312" cy="369332"/>
          </a:xfrm>
          <a:prstGeom prst="rect">
            <a:avLst/>
          </a:prstGeom>
          <a:noFill/>
        </p:spPr>
        <p:txBody>
          <a:bodyPr wrap="square" rtlCol="0">
            <a:spAutoFit/>
          </a:bodyPr>
          <a:lstStyle/>
          <a:p>
            <a:r>
              <a:rPr lang="fr-FR" dirty="0" smtClean="0"/>
              <a:t>  </a:t>
            </a:r>
            <a:r>
              <a:rPr lang="fr-FR" dirty="0" err="1" smtClean="0"/>
              <a:t>Ipod</a:t>
            </a:r>
            <a:r>
              <a:rPr lang="fr-FR" dirty="0" smtClean="0"/>
              <a:t> Sep </a:t>
            </a:r>
            <a:r>
              <a:rPr lang="fr-FR" dirty="0"/>
              <a:t>2001</a:t>
            </a:r>
          </a:p>
        </p:txBody>
      </p:sp>
      <p:sp>
        <p:nvSpPr>
          <p:cNvPr id="10" name="ZoneTexte 9"/>
          <p:cNvSpPr txBox="1"/>
          <p:nvPr/>
        </p:nvSpPr>
        <p:spPr>
          <a:xfrm>
            <a:off x="7308304" y="6165304"/>
            <a:ext cx="1541250" cy="369332"/>
          </a:xfrm>
          <a:prstGeom prst="rect">
            <a:avLst/>
          </a:prstGeom>
          <a:noFill/>
        </p:spPr>
        <p:txBody>
          <a:bodyPr wrap="square" rtlCol="0">
            <a:spAutoFit/>
          </a:bodyPr>
          <a:lstStyle/>
          <a:p>
            <a:r>
              <a:rPr lang="fr-FR" dirty="0"/>
              <a:t>Sony 2004</a:t>
            </a:r>
          </a:p>
        </p:txBody>
      </p:sp>
      <p:pic>
        <p:nvPicPr>
          <p:cNvPr id="205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912" y="3568810"/>
            <a:ext cx="1912278" cy="2164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Flèche droite 13"/>
          <p:cNvSpPr/>
          <p:nvPr/>
        </p:nvSpPr>
        <p:spPr>
          <a:xfrm>
            <a:off x="5796136" y="3933060"/>
            <a:ext cx="612068" cy="13009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AutoShape 10" descr="Sony unveils colour 'iPod killer' • The Register"/>
          <p:cNvSpPr>
            <a:spLocks noChangeAspect="1" noChangeArrowheads="1"/>
          </p:cNvSpPr>
          <p:nvPr/>
        </p:nvSpPr>
        <p:spPr bwMode="auto">
          <a:xfrm>
            <a:off x="460375" y="160341"/>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205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88224" y="3573020"/>
            <a:ext cx="2381250" cy="202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12" y="3330952"/>
            <a:ext cx="2275944" cy="2472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ZoneTexte 11"/>
          <p:cNvSpPr txBox="1"/>
          <p:nvPr/>
        </p:nvSpPr>
        <p:spPr>
          <a:xfrm>
            <a:off x="3923928" y="6401073"/>
            <a:ext cx="2268253" cy="338554"/>
          </a:xfrm>
          <a:prstGeom prst="rect">
            <a:avLst/>
          </a:prstGeom>
          <a:noFill/>
        </p:spPr>
        <p:txBody>
          <a:bodyPr wrap="square" rtlCol="0">
            <a:spAutoFit/>
          </a:bodyPr>
          <a:lstStyle/>
          <a:p>
            <a:r>
              <a:rPr lang="fr-FR" sz="1600" dirty="0"/>
              <a:t>APPLE / Suiveur rapide</a:t>
            </a:r>
          </a:p>
        </p:txBody>
      </p:sp>
      <p:sp>
        <p:nvSpPr>
          <p:cNvPr id="13" name="ZoneTexte 12"/>
          <p:cNvSpPr txBox="1"/>
          <p:nvPr/>
        </p:nvSpPr>
        <p:spPr>
          <a:xfrm>
            <a:off x="3563888" y="3140968"/>
            <a:ext cx="2448271" cy="369332"/>
          </a:xfrm>
          <a:prstGeom prst="rect">
            <a:avLst/>
          </a:prstGeom>
          <a:noFill/>
        </p:spPr>
        <p:txBody>
          <a:bodyPr wrap="square" rtlCol="0">
            <a:spAutoFit/>
          </a:bodyPr>
          <a:lstStyle/>
          <a:p>
            <a:r>
              <a:rPr lang="fr-FR" dirty="0" smtClean="0"/>
              <a:t>Baladeur numérique MP3</a:t>
            </a:r>
            <a:endParaRPr lang="fr-FR" dirty="0"/>
          </a:p>
        </p:txBody>
      </p:sp>
    </p:spTree>
    <p:extLst>
      <p:ext uri="{BB962C8B-B14F-4D97-AF65-F5344CB8AC3E}">
        <p14:creationId xmlns:p14="http://schemas.microsoft.com/office/powerpoint/2010/main" val="19586500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2025964"/>
            <a:ext cx="3463553" cy="2495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Flèche droite 4"/>
          <p:cNvSpPr/>
          <p:nvPr/>
        </p:nvSpPr>
        <p:spPr>
          <a:xfrm>
            <a:off x="4283968" y="2924944"/>
            <a:ext cx="504056" cy="10801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AutoShape 4" descr="Yassir — Wikipéd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43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2774" y="2752945"/>
            <a:ext cx="3295650" cy="139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re 1"/>
          <p:cNvSpPr txBox="1">
            <a:spLocks/>
          </p:cNvSpPr>
          <p:nvPr/>
        </p:nvSpPr>
        <p:spPr>
          <a:xfrm>
            <a:off x="609600" y="274638"/>
            <a:ext cx="7924800" cy="1143000"/>
          </a:xfrm>
          <a:prstGeom prst="rect">
            <a:avLst/>
          </a:prstGeom>
        </p:spPr>
        <p:txBody>
          <a:bodyPr>
            <a:normAutofit/>
          </a:bodyPr>
          <a:lst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r"/>
            <a:r>
              <a:rPr lang="fr-FR" sz="3200" dirty="0" smtClean="0">
                <a:solidFill>
                  <a:srgbClr val="FFC000"/>
                </a:solidFill>
              </a:rPr>
              <a:t>2- L’imitation d’une innovation de rupture  (suite) </a:t>
            </a:r>
            <a:endParaRPr lang="fr-FR" sz="3200" dirty="0">
              <a:solidFill>
                <a:srgbClr val="FFC000"/>
              </a:solidFill>
            </a:endParaRPr>
          </a:p>
        </p:txBody>
      </p:sp>
    </p:spTree>
    <p:extLst>
      <p:ext uri="{BB962C8B-B14F-4D97-AF65-F5344CB8AC3E}">
        <p14:creationId xmlns:p14="http://schemas.microsoft.com/office/powerpoint/2010/main" val="10604260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320040"/>
            <a:ext cx="7239000" cy="588680"/>
          </a:xfrm>
        </p:spPr>
        <p:txBody>
          <a:bodyPr>
            <a:normAutofit fontScale="90000"/>
          </a:bodyPr>
          <a:lstStyle/>
          <a:p>
            <a:pPr algn="ctr"/>
            <a:r>
              <a:rPr lang="fr-FR" sz="2800" dirty="0">
                <a:solidFill>
                  <a:srgbClr val="FFC000"/>
                </a:solidFill>
              </a:rPr>
              <a:t>LE pionnier </a:t>
            </a:r>
            <a:r>
              <a:rPr lang="fr-FR" sz="2800" dirty="0" smtClean="0">
                <a:solidFill>
                  <a:srgbClr val="FFC000"/>
                </a:solidFill>
              </a:rPr>
              <a:t> </a:t>
            </a:r>
            <a:r>
              <a:rPr lang="fr-FR" sz="3600" dirty="0" smtClean="0">
                <a:solidFill>
                  <a:srgbClr val="FFC000"/>
                </a:solidFill>
              </a:rPr>
              <a:t>Vs</a:t>
            </a:r>
            <a:r>
              <a:rPr lang="fr-FR" sz="2800" dirty="0" smtClean="0">
                <a:solidFill>
                  <a:srgbClr val="FFC000"/>
                </a:solidFill>
              </a:rPr>
              <a:t>  </a:t>
            </a:r>
            <a:r>
              <a:rPr lang="fr-FR" sz="2800" dirty="0">
                <a:solidFill>
                  <a:srgbClr val="FFC000"/>
                </a:solidFill>
              </a:rPr>
              <a:t>suiveur </a:t>
            </a:r>
          </a:p>
        </p:txBody>
      </p:sp>
      <p:sp>
        <p:nvSpPr>
          <p:cNvPr id="3" name="Espace réservé du contenu 2"/>
          <p:cNvSpPr>
            <a:spLocks noGrp="1"/>
          </p:cNvSpPr>
          <p:nvPr>
            <p:ph idx="4294967295"/>
          </p:nvPr>
        </p:nvSpPr>
        <p:spPr>
          <a:xfrm>
            <a:off x="251521" y="1484784"/>
            <a:ext cx="3744416" cy="4970952"/>
          </a:xfrm>
          <a:prstGeom prst="rect">
            <a:avLst/>
          </a:prstGeom>
        </p:spPr>
        <p:txBody>
          <a:bodyPr>
            <a:normAutofit fontScale="70000" lnSpcReduction="20000"/>
          </a:bodyPr>
          <a:lstStyle/>
          <a:p>
            <a:pPr marL="0" indent="0" algn="ctr">
              <a:buNone/>
            </a:pPr>
            <a:r>
              <a:rPr lang="fr-FR" sz="2800" b="1" u="sng"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PIONNIER</a:t>
            </a:r>
            <a:r>
              <a:rPr lang="fr-FR" sz="2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p>
          <a:p>
            <a:pPr marL="0" indent="0" algn="ctr">
              <a:buNone/>
            </a:pPr>
            <a:endParaRPr lang="fr-FR" dirty="0"/>
          </a:p>
          <a:p>
            <a:pPr marL="0" indent="0" algn="ctr">
              <a:buNone/>
            </a:pPr>
            <a:r>
              <a:rPr lang="fr-FR" b="1" dirty="0">
                <a:solidFill>
                  <a:srgbClr val="FF0000"/>
                </a:solidFill>
              </a:rPr>
              <a:t>Avantages</a:t>
            </a:r>
          </a:p>
          <a:p>
            <a:pPr marL="0" indent="0">
              <a:buNone/>
            </a:pPr>
            <a:endParaRPr lang="fr-FR" sz="2000" dirty="0"/>
          </a:p>
          <a:p>
            <a:pPr>
              <a:buFont typeface="Wingdings" pitchFamily="2" charset="2"/>
              <a:buChar char="ü"/>
            </a:pPr>
            <a:r>
              <a:rPr lang="fr-FR" sz="2000" b="1" i="1" dirty="0"/>
              <a:t>Préemption de ressources </a:t>
            </a:r>
          </a:p>
          <a:p>
            <a:pPr>
              <a:buFont typeface="Wingdings" pitchFamily="2" charset="2"/>
              <a:buChar char="ü"/>
            </a:pPr>
            <a:r>
              <a:rPr lang="fr-FR" sz="2000" b="1" i="1" dirty="0"/>
              <a:t>Autorisation administratives</a:t>
            </a:r>
          </a:p>
          <a:p>
            <a:pPr>
              <a:buFont typeface="Wingdings" pitchFamily="2" charset="2"/>
              <a:buChar char="ü"/>
            </a:pPr>
            <a:r>
              <a:rPr lang="fr-FR" sz="2000" b="1" i="1" dirty="0"/>
              <a:t>Emplacement géographique </a:t>
            </a:r>
          </a:p>
          <a:p>
            <a:pPr>
              <a:buFont typeface="Wingdings" pitchFamily="2" charset="2"/>
              <a:buChar char="ü"/>
            </a:pPr>
            <a:r>
              <a:rPr lang="fr-FR" sz="2000" b="1" i="1" dirty="0"/>
              <a:t>Brevetage </a:t>
            </a:r>
          </a:p>
          <a:p>
            <a:pPr>
              <a:buFont typeface="Wingdings" pitchFamily="2" charset="2"/>
              <a:buChar char="ü"/>
            </a:pPr>
            <a:r>
              <a:rPr lang="fr-FR" sz="2000" b="1" i="1" dirty="0"/>
              <a:t>Expérience et image</a:t>
            </a:r>
          </a:p>
          <a:p>
            <a:pPr marL="0" indent="0">
              <a:buNone/>
            </a:pPr>
            <a:endParaRPr lang="fr-FR" sz="2000" dirty="0"/>
          </a:p>
          <a:p>
            <a:pPr marL="0" indent="0">
              <a:buNone/>
            </a:pPr>
            <a:endParaRPr lang="fr-FR" sz="2000" dirty="0"/>
          </a:p>
          <a:p>
            <a:pPr marL="0" indent="0" algn="ctr">
              <a:buNone/>
            </a:pPr>
            <a:r>
              <a:rPr lang="fr-FR" sz="2800" b="1" dirty="0">
                <a:solidFill>
                  <a:srgbClr val="FF0000"/>
                </a:solidFill>
              </a:rPr>
              <a:t>Limites</a:t>
            </a:r>
            <a:r>
              <a:rPr lang="fr-FR" b="1" dirty="0">
                <a:solidFill>
                  <a:srgbClr val="FF0000"/>
                </a:solidFill>
              </a:rPr>
              <a:t> </a:t>
            </a:r>
          </a:p>
          <a:p>
            <a:pPr marL="0" indent="0">
              <a:buNone/>
            </a:pPr>
            <a:endParaRPr lang="fr-FR" sz="2000" dirty="0"/>
          </a:p>
          <a:p>
            <a:pPr>
              <a:buFont typeface="Courier New" pitchFamily="49" charset="0"/>
              <a:buChar char="o"/>
            </a:pPr>
            <a:r>
              <a:rPr lang="fr-FR" sz="2000" b="1" i="1" dirty="0"/>
              <a:t>Rentabiliser ses efforts RD</a:t>
            </a:r>
          </a:p>
          <a:p>
            <a:pPr>
              <a:buFont typeface="Courier New" pitchFamily="49" charset="0"/>
              <a:buChar char="o"/>
            </a:pPr>
            <a:r>
              <a:rPr lang="fr-FR" sz="2000" b="1" i="1" dirty="0" err="1"/>
              <a:t>Boulversement</a:t>
            </a:r>
            <a:r>
              <a:rPr lang="fr-FR" sz="2000" b="1" i="1" dirty="0"/>
              <a:t> du BM </a:t>
            </a:r>
          </a:p>
          <a:p>
            <a:pPr>
              <a:buFont typeface="Courier New" pitchFamily="49" charset="0"/>
              <a:buChar char="o"/>
            </a:pPr>
            <a:r>
              <a:rPr lang="fr-FR" sz="2000" b="1" i="1" dirty="0"/>
              <a:t>Résistance du marché</a:t>
            </a:r>
          </a:p>
        </p:txBody>
      </p:sp>
      <p:sp>
        <p:nvSpPr>
          <p:cNvPr id="6" name="Espace réservé du contenu 2"/>
          <p:cNvSpPr txBox="1">
            <a:spLocks/>
          </p:cNvSpPr>
          <p:nvPr/>
        </p:nvSpPr>
        <p:spPr>
          <a:xfrm>
            <a:off x="4211960" y="1340768"/>
            <a:ext cx="3888432" cy="5328592"/>
          </a:xfrm>
          <a:prstGeom prst="rect">
            <a:avLst/>
          </a:prstGeom>
        </p:spPr>
        <p:txBody>
          <a:bodyPr vert="horz">
            <a:normAutofit lnSpcReduction="10000"/>
          </a:bodyPr>
          <a:lst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a:lstStyle>
          <a:p>
            <a:pPr marL="0" indent="0" algn="ctr">
              <a:buFont typeface="Wingdings 2"/>
              <a:buNone/>
            </a:pPr>
            <a:r>
              <a:rPr lang="fr-FR" sz="2800" b="1" u="sng"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SUIVEUR</a:t>
            </a:r>
          </a:p>
          <a:p>
            <a:pPr marL="0" indent="0" algn="ctr">
              <a:buFont typeface="Wingdings 2"/>
              <a:buNone/>
            </a:pPr>
            <a:endParaRPr lang="fr-FR" dirty="0"/>
          </a:p>
          <a:p>
            <a:pPr marL="0" lvl="0" indent="0" algn="ctr">
              <a:buClr>
                <a:srgbClr val="B13F9A"/>
              </a:buClr>
              <a:buNone/>
            </a:pPr>
            <a:r>
              <a:rPr lang="fr-FR" b="1" dirty="0">
                <a:solidFill>
                  <a:srgbClr val="FF0000"/>
                </a:solidFill>
              </a:rPr>
              <a:t>Avantages</a:t>
            </a:r>
          </a:p>
          <a:p>
            <a:pPr marL="0" lvl="0" indent="0" algn="ctr">
              <a:buClr>
                <a:srgbClr val="B13F9A"/>
              </a:buClr>
              <a:buNone/>
            </a:pPr>
            <a:endParaRPr lang="fr-FR" b="1" dirty="0">
              <a:solidFill>
                <a:srgbClr val="FF0000"/>
              </a:solidFill>
            </a:endParaRPr>
          </a:p>
          <a:p>
            <a:pPr lvl="0">
              <a:buClr>
                <a:srgbClr val="B13F9A"/>
              </a:buClr>
              <a:buFont typeface="Wingdings" pitchFamily="2" charset="2"/>
              <a:buChar char="ü"/>
            </a:pPr>
            <a:r>
              <a:rPr lang="fr-FR" sz="1800" b="1" i="1" dirty="0">
                <a:solidFill>
                  <a:prstClr val="black"/>
                </a:solidFill>
              </a:rPr>
              <a:t>Coût R&amp;D plus bas </a:t>
            </a:r>
          </a:p>
          <a:p>
            <a:pPr lvl="0">
              <a:buClr>
                <a:srgbClr val="B13F9A"/>
              </a:buClr>
              <a:buFont typeface="Wingdings" pitchFamily="2" charset="2"/>
              <a:buChar char="ü"/>
            </a:pPr>
            <a:r>
              <a:rPr lang="fr-FR" sz="1800" b="1" i="1" dirty="0">
                <a:solidFill>
                  <a:prstClr val="black"/>
                </a:solidFill>
              </a:rPr>
              <a:t>Effet d’apprentissage  !</a:t>
            </a:r>
          </a:p>
          <a:p>
            <a:pPr lvl="0">
              <a:buClr>
                <a:srgbClr val="B13F9A"/>
              </a:buClr>
              <a:buFont typeface="Wingdings" pitchFamily="2" charset="2"/>
              <a:buChar char="ü"/>
            </a:pPr>
            <a:r>
              <a:rPr lang="fr-FR" sz="1800" b="1" i="1" dirty="0">
                <a:solidFill>
                  <a:prstClr val="black"/>
                </a:solidFill>
              </a:rPr>
              <a:t>Moins de risque marketing  </a:t>
            </a:r>
          </a:p>
          <a:p>
            <a:pPr marL="0" lvl="0" indent="0">
              <a:buClr>
                <a:srgbClr val="B13F9A"/>
              </a:buClr>
              <a:buNone/>
            </a:pPr>
            <a:r>
              <a:rPr lang="fr-FR" sz="2000" b="1" dirty="0">
                <a:solidFill>
                  <a:srgbClr val="FFC000"/>
                </a:solidFill>
                <a:sym typeface="Wingdings" pitchFamily="2" charset="2"/>
              </a:rPr>
              <a:t> Stratégie des grands groupes : le rachat de start-up</a:t>
            </a:r>
            <a:endParaRPr lang="fr-FR" sz="2000" b="1" dirty="0">
              <a:solidFill>
                <a:srgbClr val="FFC000"/>
              </a:solidFill>
            </a:endParaRPr>
          </a:p>
          <a:p>
            <a:pPr marL="0" lvl="0" indent="0" algn="ctr">
              <a:buClr>
                <a:srgbClr val="B13F9A"/>
              </a:buClr>
              <a:buNone/>
            </a:pPr>
            <a:endParaRPr lang="fr-FR" b="1" dirty="0">
              <a:solidFill>
                <a:srgbClr val="FF0000"/>
              </a:solidFill>
            </a:endParaRPr>
          </a:p>
          <a:p>
            <a:pPr marL="0" lvl="0" indent="0" algn="ctr">
              <a:buClr>
                <a:srgbClr val="B13F9A"/>
              </a:buClr>
              <a:buNone/>
            </a:pPr>
            <a:r>
              <a:rPr lang="fr-FR" b="1" dirty="0">
                <a:solidFill>
                  <a:srgbClr val="FF0000"/>
                </a:solidFill>
              </a:rPr>
              <a:t>Limites </a:t>
            </a:r>
          </a:p>
          <a:p>
            <a:pPr marL="0" lvl="0" indent="0" algn="ctr">
              <a:buClr>
                <a:srgbClr val="B13F9A"/>
              </a:buClr>
              <a:buNone/>
            </a:pPr>
            <a:endParaRPr lang="fr-FR" sz="2000" dirty="0">
              <a:solidFill>
                <a:prstClr val="black"/>
              </a:solidFill>
            </a:endParaRPr>
          </a:p>
          <a:p>
            <a:pPr lvl="0">
              <a:buClr>
                <a:srgbClr val="B13F9A"/>
              </a:buClr>
              <a:buFont typeface="Courier New" pitchFamily="49" charset="0"/>
              <a:buChar char="o"/>
            </a:pPr>
            <a:r>
              <a:rPr lang="fr-FR" sz="1900" b="1" i="1" dirty="0">
                <a:solidFill>
                  <a:prstClr val="black"/>
                </a:solidFill>
              </a:rPr>
              <a:t>Manquer les avantages du pionnier ! </a:t>
            </a:r>
          </a:p>
          <a:p>
            <a:pPr marL="0" lvl="0" indent="0" algn="ctr">
              <a:buClr>
                <a:srgbClr val="B13F9A"/>
              </a:buClr>
              <a:buNone/>
            </a:pPr>
            <a:endParaRPr lang="fr-FR" b="1" dirty="0">
              <a:solidFill>
                <a:srgbClr val="FF0000"/>
              </a:solidFill>
            </a:endParaRPr>
          </a:p>
          <a:p>
            <a:pPr marL="0" lvl="0" indent="0" algn="ctr">
              <a:buClr>
                <a:srgbClr val="B13F9A"/>
              </a:buClr>
              <a:buNone/>
            </a:pPr>
            <a:endParaRPr lang="fr-FR" b="1" dirty="0">
              <a:solidFill>
                <a:srgbClr val="FF0000"/>
              </a:solidFill>
            </a:endParaRPr>
          </a:p>
        </p:txBody>
      </p:sp>
      <p:cxnSp>
        <p:nvCxnSpPr>
          <p:cNvPr id="8" name="Connecteur droit 7"/>
          <p:cNvCxnSpPr/>
          <p:nvPr/>
        </p:nvCxnSpPr>
        <p:spPr>
          <a:xfrm>
            <a:off x="4067944" y="1484784"/>
            <a:ext cx="0" cy="5184576"/>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7778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ctr"/>
            <a:r>
              <a:rPr lang="fr-FR" sz="3200" dirty="0">
                <a:solidFill>
                  <a:srgbClr val="FFC000"/>
                </a:solidFill>
              </a:rPr>
              <a:t>3- Modification d’une innovation de rupture </a:t>
            </a:r>
          </a:p>
        </p:txBody>
      </p:sp>
      <p:sp>
        <p:nvSpPr>
          <p:cNvPr id="3" name="Espace réservé du contenu 2"/>
          <p:cNvSpPr>
            <a:spLocks noGrp="1"/>
          </p:cNvSpPr>
          <p:nvPr>
            <p:ph idx="4294967295"/>
          </p:nvPr>
        </p:nvSpPr>
        <p:spPr>
          <a:xfrm>
            <a:off x="457200" y="3501008"/>
            <a:ext cx="7239000" cy="2954728"/>
          </a:xfrm>
          <a:prstGeom prst="rect">
            <a:avLst/>
          </a:prstGeom>
        </p:spPr>
        <p:txBody>
          <a:bodyPr/>
          <a:lstStyle/>
          <a:p>
            <a:endParaRPr lang="fr-FR" dirty="0"/>
          </a:p>
          <a:p>
            <a:endParaRPr lang="fr-FR" dirty="0"/>
          </a:p>
        </p:txBody>
      </p:sp>
      <p:sp>
        <p:nvSpPr>
          <p:cNvPr id="4" name="Rectangle à coins arrondis 3"/>
          <p:cNvSpPr/>
          <p:nvPr/>
        </p:nvSpPr>
        <p:spPr>
          <a:xfrm>
            <a:off x="467544" y="1700808"/>
            <a:ext cx="7272808" cy="13681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i="1" dirty="0">
                <a:solidFill>
                  <a:prstClr val="white"/>
                </a:solidFill>
                <a:latin typeface="Arial"/>
              </a:rPr>
              <a:t>« </a:t>
            </a:r>
            <a:r>
              <a:rPr lang="fr-FR" sz="2000" b="1" i="1" dirty="0"/>
              <a:t>Adoption d'une innovation de rupture avec des modifications, plus ou moins importantes </a:t>
            </a:r>
            <a:r>
              <a:rPr lang="fr-FR" sz="2000" b="1" i="1" dirty="0">
                <a:solidFill>
                  <a:prstClr val="white"/>
                </a:solidFill>
                <a:latin typeface="Arial"/>
              </a:rPr>
              <a:t>»</a:t>
            </a:r>
            <a:endParaRPr lang="fr-FR" sz="2000" b="1" i="1" dirty="0">
              <a:solidFill>
                <a:prstClr val="white"/>
              </a:solidFill>
            </a:endParaRPr>
          </a:p>
        </p:txBody>
      </p:sp>
      <p:sp>
        <p:nvSpPr>
          <p:cNvPr id="6" name="AutoShape 2" descr="Fact checking – Non, un aspirateur-traîneau n'est pas forcément plus  performant qu'un aspirateur-balai - Les Numériqu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45752"/>
            <a:ext cx="3350244" cy="2945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lèche droite 6"/>
          <p:cNvSpPr/>
          <p:nvPr/>
        </p:nvSpPr>
        <p:spPr>
          <a:xfrm>
            <a:off x="3923928" y="4797152"/>
            <a:ext cx="504056" cy="10801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AutoShape 5" descr="Aspirateur balai BOSCH BBHF214R 2 en 1 14,4V Rouge - Aspirateur BUT"/>
          <p:cNvSpPr>
            <a:spLocks noChangeAspect="1" noChangeArrowheads="1"/>
          </p:cNvSpPr>
          <p:nvPr/>
        </p:nvSpPr>
        <p:spPr bwMode="auto">
          <a:xfrm>
            <a:off x="307975" y="7941"/>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5127"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67109" y="3305472"/>
            <a:ext cx="1699419" cy="3507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164293" y="3322532"/>
            <a:ext cx="1406924" cy="523220"/>
          </a:xfrm>
          <a:prstGeom prst="rect">
            <a:avLst/>
          </a:prstGeom>
        </p:spPr>
        <p:txBody>
          <a:bodyPr wrap="none">
            <a:spAutoFit/>
          </a:bodyPr>
          <a:lstStyle/>
          <a:p>
            <a:r>
              <a:rPr lang="fr-FR" sz="1400" dirty="0"/>
              <a:t>William Hoover</a:t>
            </a:r>
          </a:p>
          <a:p>
            <a:pPr algn="ctr"/>
            <a:r>
              <a:rPr lang="fr-FR" sz="1400" dirty="0"/>
              <a:t>Brevet 1908</a:t>
            </a:r>
          </a:p>
        </p:txBody>
      </p:sp>
      <p:sp>
        <p:nvSpPr>
          <p:cNvPr id="10" name="ZoneTexte 9"/>
          <p:cNvSpPr txBox="1"/>
          <p:nvPr/>
        </p:nvSpPr>
        <p:spPr>
          <a:xfrm>
            <a:off x="3347865" y="3322532"/>
            <a:ext cx="1872208" cy="646331"/>
          </a:xfrm>
          <a:prstGeom prst="rect">
            <a:avLst/>
          </a:prstGeom>
          <a:noFill/>
        </p:spPr>
        <p:txBody>
          <a:bodyPr wrap="square" rtlCol="0">
            <a:spAutoFit/>
          </a:bodyPr>
          <a:lstStyle/>
          <a:p>
            <a:r>
              <a:rPr lang="fr-FR" dirty="0">
                <a:solidFill>
                  <a:srgbClr val="FF0000"/>
                </a:solidFill>
              </a:rPr>
              <a:t>La stratégie de </a:t>
            </a:r>
            <a:r>
              <a:rPr lang="fr-FR" i="1" dirty="0">
                <a:solidFill>
                  <a:srgbClr val="FF0000"/>
                </a:solidFill>
              </a:rPr>
              <a:t>challenger</a:t>
            </a:r>
          </a:p>
        </p:txBody>
      </p:sp>
      <p:sp>
        <p:nvSpPr>
          <p:cNvPr id="11" name="ZoneTexte 10"/>
          <p:cNvSpPr txBox="1"/>
          <p:nvPr/>
        </p:nvSpPr>
        <p:spPr>
          <a:xfrm>
            <a:off x="7409389" y="3968627"/>
            <a:ext cx="1080120" cy="369332"/>
          </a:xfrm>
          <a:prstGeom prst="rect">
            <a:avLst/>
          </a:prstGeom>
          <a:noFill/>
        </p:spPr>
        <p:txBody>
          <a:bodyPr wrap="square" rtlCol="0">
            <a:spAutoFit/>
          </a:bodyPr>
          <a:lstStyle/>
          <a:p>
            <a:r>
              <a:rPr lang="fr-FR" dirty="0"/>
              <a:t>Dyson</a:t>
            </a:r>
          </a:p>
        </p:txBody>
      </p:sp>
    </p:spTree>
    <p:extLst>
      <p:ext uri="{BB962C8B-B14F-4D97-AF65-F5344CB8AC3E}">
        <p14:creationId xmlns:p14="http://schemas.microsoft.com/office/powerpoint/2010/main" val="219056770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320040"/>
            <a:ext cx="7239000" cy="516672"/>
          </a:xfrm>
        </p:spPr>
        <p:txBody>
          <a:bodyPr>
            <a:normAutofit fontScale="90000"/>
          </a:bodyPr>
          <a:lstStyle/>
          <a:p>
            <a:pPr algn="ctr"/>
            <a:r>
              <a:rPr lang="fr-FR" sz="3200" dirty="0">
                <a:solidFill>
                  <a:srgbClr val="FFC000"/>
                </a:solidFill>
              </a:rPr>
              <a:t>4- Innovation incrémentale </a:t>
            </a:r>
          </a:p>
        </p:txBody>
      </p:sp>
      <p:sp>
        <p:nvSpPr>
          <p:cNvPr id="3" name="Espace réservé du contenu 2"/>
          <p:cNvSpPr>
            <a:spLocks noGrp="1"/>
          </p:cNvSpPr>
          <p:nvPr>
            <p:ph idx="4294967295"/>
          </p:nvPr>
        </p:nvSpPr>
        <p:spPr>
          <a:xfrm>
            <a:off x="457200" y="3501008"/>
            <a:ext cx="7239000" cy="2954728"/>
          </a:xfrm>
          <a:prstGeom prst="rect">
            <a:avLst/>
          </a:prstGeom>
        </p:spPr>
        <p:txBody>
          <a:bodyPr/>
          <a:lstStyle/>
          <a:p>
            <a:pPr marL="0" indent="0">
              <a:buNone/>
            </a:pPr>
            <a:r>
              <a:rPr lang="fr-FR" dirty="0"/>
              <a:t> </a:t>
            </a:r>
          </a:p>
          <a:p>
            <a:endParaRPr lang="fr-FR" dirty="0"/>
          </a:p>
          <a:p>
            <a:endParaRPr lang="fr-FR" dirty="0"/>
          </a:p>
        </p:txBody>
      </p:sp>
      <p:sp>
        <p:nvSpPr>
          <p:cNvPr id="4" name="Rectangle à coins arrondis 3"/>
          <p:cNvSpPr/>
          <p:nvPr/>
        </p:nvSpPr>
        <p:spPr>
          <a:xfrm>
            <a:off x="460377" y="1052736"/>
            <a:ext cx="7272808" cy="13681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i="1" dirty="0">
                <a:solidFill>
                  <a:prstClr val="white"/>
                </a:solidFill>
                <a:latin typeface="Arial"/>
              </a:rPr>
              <a:t>« </a:t>
            </a:r>
            <a:r>
              <a:rPr lang="fr-FR" sz="2000" b="1" i="1" dirty="0">
                <a:solidFill>
                  <a:prstClr val="white"/>
                </a:solidFill>
              </a:rPr>
              <a:t>Innovation, créatrice de valeur, à partir de petites adaptations et modifications apportées à des produits, services ou processus existants  »</a:t>
            </a:r>
          </a:p>
        </p:txBody>
      </p:sp>
      <p:pic>
        <p:nvPicPr>
          <p:cNvPr id="4102" name="Picture 6" descr="http://tpe.bart.free.fr/evolution/image/Les%20evolutions%20de%20l'aspirateur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8" y="2996952"/>
            <a:ext cx="2131406" cy="2131406"/>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http://tpe.bart.free.fr/evolution/image/Les%20evolutions%20de%20l'aspirateur2.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080" y="2708920"/>
            <a:ext cx="2761557" cy="244827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987826" y="5445224"/>
            <a:ext cx="2045059" cy="369332"/>
          </a:xfrm>
          <a:prstGeom prst="rect">
            <a:avLst/>
          </a:prstGeom>
        </p:spPr>
        <p:txBody>
          <a:bodyPr wrap="square">
            <a:spAutoFit/>
          </a:bodyPr>
          <a:lstStyle/>
          <a:p>
            <a:r>
              <a:rPr lang="fr-FR" dirty="0"/>
              <a:t>Hoover </a:t>
            </a:r>
            <a:r>
              <a:rPr lang="fr-FR" dirty="0" smtClean="0"/>
              <a:t>1936</a:t>
            </a:r>
            <a:endParaRPr lang="fr-FR" dirty="0"/>
          </a:p>
        </p:txBody>
      </p:sp>
      <p:sp>
        <p:nvSpPr>
          <p:cNvPr id="7" name="AutoShape 10" descr="Comment bien choisir un Aspirateur - ToutesLesInfos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107"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576" y="3342113"/>
            <a:ext cx="2619375"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ZoneTexte 7"/>
          <p:cNvSpPr txBox="1"/>
          <p:nvPr/>
        </p:nvSpPr>
        <p:spPr>
          <a:xfrm>
            <a:off x="460376" y="5373218"/>
            <a:ext cx="1879377" cy="646331"/>
          </a:xfrm>
          <a:prstGeom prst="rect">
            <a:avLst/>
          </a:prstGeom>
          <a:noFill/>
        </p:spPr>
        <p:txBody>
          <a:bodyPr wrap="square" rtlCol="0">
            <a:spAutoFit/>
          </a:bodyPr>
          <a:lstStyle/>
          <a:p>
            <a:r>
              <a:rPr lang="fr-FR" dirty="0"/>
              <a:t>1920 William Hoover  </a:t>
            </a:r>
            <a:r>
              <a:rPr lang="fr-FR" dirty="0" smtClean="0"/>
              <a:t>Aspirateur</a:t>
            </a:r>
            <a:endParaRPr lang="fr-FR" dirty="0"/>
          </a:p>
        </p:txBody>
      </p:sp>
      <p:sp>
        <p:nvSpPr>
          <p:cNvPr id="9" name="Rectangle 8"/>
          <p:cNvSpPr/>
          <p:nvPr/>
        </p:nvSpPr>
        <p:spPr>
          <a:xfrm>
            <a:off x="5436097" y="5301210"/>
            <a:ext cx="2617541" cy="369332"/>
          </a:xfrm>
          <a:prstGeom prst="rect">
            <a:avLst/>
          </a:prstGeom>
        </p:spPr>
        <p:txBody>
          <a:bodyPr wrap="square">
            <a:spAutoFit/>
          </a:bodyPr>
          <a:lstStyle/>
          <a:p>
            <a:r>
              <a:rPr lang="fr-FR" dirty="0"/>
              <a:t>En 1983 James </a:t>
            </a:r>
            <a:r>
              <a:rPr lang="fr-FR" dirty="0" smtClean="0"/>
              <a:t>Dison</a:t>
            </a:r>
            <a:endParaRPr lang="fr-FR" dirty="0"/>
          </a:p>
        </p:txBody>
      </p:sp>
    </p:spTree>
    <p:extLst>
      <p:ext uri="{BB962C8B-B14F-4D97-AF65-F5344CB8AC3E}">
        <p14:creationId xmlns:p14="http://schemas.microsoft.com/office/powerpoint/2010/main" val="41828263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320040"/>
            <a:ext cx="7239000" cy="516672"/>
          </a:xfrm>
        </p:spPr>
        <p:txBody>
          <a:bodyPr>
            <a:normAutofit fontScale="90000"/>
          </a:bodyPr>
          <a:lstStyle/>
          <a:p>
            <a:pPr algn="ctr"/>
            <a:r>
              <a:rPr lang="fr-FR" sz="3200" dirty="0">
                <a:solidFill>
                  <a:srgbClr val="FFC000"/>
                </a:solidFill>
              </a:rPr>
              <a:t>4- Innovation incrémentale </a:t>
            </a:r>
          </a:p>
        </p:txBody>
      </p:sp>
      <p:sp>
        <p:nvSpPr>
          <p:cNvPr id="3" name="Espace réservé du contenu 2"/>
          <p:cNvSpPr>
            <a:spLocks noGrp="1"/>
          </p:cNvSpPr>
          <p:nvPr>
            <p:ph idx="4294967295"/>
          </p:nvPr>
        </p:nvSpPr>
        <p:spPr>
          <a:xfrm>
            <a:off x="457200" y="3501008"/>
            <a:ext cx="7239000" cy="2954728"/>
          </a:xfrm>
          <a:prstGeom prst="rect">
            <a:avLst/>
          </a:prstGeom>
        </p:spPr>
        <p:txBody>
          <a:bodyPr/>
          <a:lstStyle/>
          <a:p>
            <a:pPr marL="0" indent="0">
              <a:buNone/>
            </a:pPr>
            <a:r>
              <a:rPr lang="fr-FR" dirty="0"/>
              <a:t> </a:t>
            </a:r>
          </a:p>
          <a:p>
            <a:endParaRPr lang="fr-FR" dirty="0"/>
          </a:p>
          <a:p>
            <a:endParaRPr lang="fr-FR" dirty="0"/>
          </a:p>
        </p:txBody>
      </p:sp>
      <p:sp>
        <p:nvSpPr>
          <p:cNvPr id="4" name="Rectangle à coins arrondis 3"/>
          <p:cNvSpPr/>
          <p:nvPr/>
        </p:nvSpPr>
        <p:spPr>
          <a:xfrm>
            <a:off x="460377" y="1052736"/>
            <a:ext cx="7272808" cy="13681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i="1" dirty="0">
                <a:solidFill>
                  <a:prstClr val="white"/>
                </a:solidFill>
                <a:latin typeface="Arial"/>
              </a:rPr>
              <a:t>« </a:t>
            </a:r>
            <a:r>
              <a:rPr lang="fr-FR" sz="2000" b="1" i="1" dirty="0">
                <a:solidFill>
                  <a:prstClr val="white"/>
                </a:solidFill>
              </a:rPr>
              <a:t>Innovation, créatrice de valeur, à partir de petites adaptations et modifications apportées à des produits, services ou processus existants  »</a:t>
            </a:r>
          </a:p>
        </p:txBody>
      </p:sp>
      <p:sp>
        <p:nvSpPr>
          <p:cNvPr id="7" name="AutoShape 10" descr="Comment bien choisir un Aspirateur - ToutesLesInfos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15362" name="Picture 2" descr="Entreprise sans fautes: Innovation : comment réinventer votre activité et  suivre les tendances de votre marché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22" y="2780928"/>
            <a:ext cx="8862366" cy="2819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56317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Apple innovation sa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827239"/>
            <a:ext cx="5112568" cy="28009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509383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320040"/>
            <a:ext cx="7239000" cy="1092736"/>
          </a:xfrm>
        </p:spPr>
        <p:txBody>
          <a:bodyPr>
            <a:normAutofit/>
          </a:bodyPr>
          <a:lstStyle/>
          <a:p>
            <a:pPr algn="ctr"/>
            <a:r>
              <a:rPr lang="fr-FR" sz="3200" dirty="0">
                <a:solidFill>
                  <a:srgbClr val="FFC000"/>
                </a:solidFill>
              </a:rPr>
              <a:t>5- Imitation d'une innovation incrémentale</a:t>
            </a:r>
          </a:p>
        </p:txBody>
      </p:sp>
      <p:sp>
        <p:nvSpPr>
          <p:cNvPr id="3" name="Espace réservé du contenu 2"/>
          <p:cNvSpPr>
            <a:spLocks noGrp="1"/>
          </p:cNvSpPr>
          <p:nvPr>
            <p:ph idx="4294967295"/>
          </p:nvPr>
        </p:nvSpPr>
        <p:spPr>
          <a:xfrm>
            <a:off x="457200" y="3501008"/>
            <a:ext cx="7239000" cy="2954728"/>
          </a:xfrm>
          <a:prstGeom prst="rect">
            <a:avLst/>
          </a:prstGeom>
        </p:spPr>
        <p:txBody>
          <a:bodyPr/>
          <a:lstStyle/>
          <a:p>
            <a:pPr marL="0" indent="0">
              <a:buNone/>
            </a:pPr>
            <a:endParaRPr lang="fr-FR" dirty="0"/>
          </a:p>
          <a:p>
            <a:endParaRPr lang="fr-FR" dirty="0"/>
          </a:p>
        </p:txBody>
      </p:sp>
      <p:sp>
        <p:nvSpPr>
          <p:cNvPr id="4" name="Rectangle à coins arrondis 3"/>
          <p:cNvSpPr/>
          <p:nvPr/>
        </p:nvSpPr>
        <p:spPr>
          <a:xfrm>
            <a:off x="467544" y="1556792"/>
            <a:ext cx="7272808" cy="12241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prstClr val="white"/>
                </a:solidFill>
                <a:latin typeface="Arial"/>
              </a:rPr>
              <a:t>« </a:t>
            </a:r>
            <a:r>
              <a:rPr lang="fr-FR" b="1" dirty="0">
                <a:solidFill>
                  <a:prstClr val="white"/>
                </a:solidFill>
              </a:rPr>
              <a:t>Adoption d'une innovation incrémentale par un suiveur </a:t>
            </a:r>
            <a:r>
              <a:rPr lang="fr-FR" b="1" dirty="0">
                <a:solidFill>
                  <a:prstClr val="white"/>
                </a:solidFill>
                <a:latin typeface="Arial"/>
              </a:rPr>
              <a:t>»</a:t>
            </a:r>
            <a:endParaRPr lang="fr-FR" b="1" dirty="0">
              <a:solidFill>
                <a:prstClr val="white"/>
              </a:solidFill>
            </a:endParaRPr>
          </a:p>
        </p:txBody>
      </p:sp>
      <p:sp>
        <p:nvSpPr>
          <p:cNvPr id="5" name="AutoShape 2" descr="Quels sont les 4 principaux types d'innovation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380" y="3645024"/>
            <a:ext cx="241935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155577" y="6093300"/>
            <a:ext cx="2904257" cy="584775"/>
          </a:xfrm>
          <a:prstGeom prst="rect">
            <a:avLst/>
          </a:prstGeom>
          <a:noFill/>
        </p:spPr>
        <p:txBody>
          <a:bodyPr wrap="square" rtlCol="0">
            <a:spAutoFit/>
          </a:bodyPr>
          <a:lstStyle/>
          <a:p>
            <a:r>
              <a:rPr lang="fr-FR" sz="1600" dirty="0"/>
              <a:t>Renault Espace</a:t>
            </a:r>
          </a:p>
          <a:p>
            <a:r>
              <a:rPr lang="fr-FR" sz="1600" dirty="0"/>
              <a:t>1984 </a:t>
            </a:r>
            <a:r>
              <a:rPr lang="fr-FR" sz="1600" dirty="0">
                <a:sym typeface="Wingdings" pitchFamily="2" charset="2"/>
              </a:rPr>
              <a:t> 9 voitures vendues ! </a:t>
            </a:r>
            <a:endParaRPr lang="fr-FR" sz="1600" dirty="0"/>
          </a:p>
        </p:txBody>
      </p:sp>
      <p:sp>
        <p:nvSpPr>
          <p:cNvPr id="7" name="Flèche droite 6"/>
          <p:cNvSpPr/>
          <p:nvPr/>
        </p:nvSpPr>
        <p:spPr>
          <a:xfrm>
            <a:off x="3275856" y="4437112"/>
            <a:ext cx="576064" cy="14177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AutoShape 6" descr="Old faithful | Chrysler, Chrysler voyager, Mini van"/>
          <p:cNvSpPr>
            <a:spLocks noChangeAspect="1" noChangeArrowheads="1"/>
          </p:cNvSpPr>
          <p:nvPr/>
        </p:nvSpPr>
        <p:spPr bwMode="auto">
          <a:xfrm>
            <a:off x="307975" y="7941"/>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307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4323" y="2924944"/>
            <a:ext cx="3038475"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080" y="4509120"/>
            <a:ext cx="28575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ZoneTexte 8"/>
          <p:cNvSpPr txBox="1"/>
          <p:nvPr/>
        </p:nvSpPr>
        <p:spPr>
          <a:xfrm>
            <a:off x="3059834" y="3429004"/>
            <a:ext cx="1494491" cy="584775"/>
          </a:xfrm>
          <a:prstGeom prst="rect">
            <a:avLst/>
          </a:prstGeom>
          <a:noFill/>
        </p:spPr>
        <p:txBody>
          <a:bodyPr wrap="square" rtlCol="0">
            <a:spAutoFit/>
          </a:bodyPr>
          <a:lstStyle/>
          <a:p>
            <a:r>
              <a:rPr lang="fr-FR" sz="1600" dirty="0"/>
              <a:t>Chrysler voyageur 1984</a:t>
            </a:r>
          </a:p>
        </p:txBody>
      </p:sp>
      <p:sp>
        <p:nvSpPr>
          <p:cNvPr id="14" name="ZoneTexte 13"/>
          <p:cNvSpPr txBox="1"/>
          <p:nvPr/>
        </p:nvSpPr>
        <p:spPr>
          <a:xfrm>
            <a:off x="3851922" y="5368864"/>
            <a:ext cx="1494491" cy="584775"/>
          </a:xfrm>
          <a:prstGeom prst="rect">
            <a:avLst/>
          </a:prstGeom>
          <a:noFill/>
        </p:spPr>
        <p:txBody>
          <a:bodyPr wrap="square" rtlCol="0">
            <a:spAutoFit/>
          </a:bodyPr>
          <a:lstStyle/>
          <a:p>
            <a:r>
              <a:rPr lang="fr-FR" sz="1600" dirty="0"/>
              <a:t>Peugeot 806</a:t>
            </a:r>
          </a:p>
          <a:p>
            <a:r>
              <a:rPr lang="fr-FR" sz="1600" dirty="0"/>
              <a:t>1994</a:t>
            </a:r>
          </a:p>
        </p:txBody>
      </p:sp>
      <p:sp>
        <p:nvSpPr>
          <p:cNvPr id="10" name="Rectangle 9"/>
          <p:cNvSpPr/>
          <p:nvPr/>
        </p:nvSpPr>
        <p:spPr>
          <a:xfrm>
            <a:off x="4103950" y="6237316"/>
            <a:ext cx="3887924" cy="584775"/>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r"/>
            <a:r>
              <a:rPr lang="fr-FR" sz="1600" dirty="0"/>
              <a:t>Citroën Evasion en 1994, Volkswagen Sharan et Ford </a:t>
            </a:r>
            <a:r>
              <a:rPr lang="fr-FR" sz="1600" dirty="0" err="1"/>
              <a:t>Galaxy</a:t>
            </a:r>
            <a:r>
              <a:rPr lang="fr-FR" sz="1600" dirty="0"/>
              <a:t> en 1995...)</a:t>
            </a:r>
          </a:p>
        </p:txBody>
      </p:sp>
      <p:sp>
        <p:nvSpPr>
          <p:cNvPr id="11" name="Croix 10"/>
          <p:cNvSpPr/>
          <p:nvPr/>
        </p:nvSpPr>
        <p:spPr>
          <a:xfrm>
            <a:off x="3707906" y="6381328"/>
            <a:ext cx="296871" cy="292388"/>
          </a:xfrm>
          <a:prstGeom prst="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9164479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320040"/>
            <a:ext cx="7239000" cy="1092736"/>
          </a:xfrm>
        </p:spPr>
        <p:txBody>
          <a:bodyPr>
            <a:normAutofit/>
          </a:bodyPr>
          <a:lstStyle/>
          <a:p>
            <a:pPr algn="ctr"/>
            <a:r>
              <a:rPr lang="fr-FR" sz="3200" dirty="0">
                <a:solidFill>
                  <a:srgbClr val="FFC000"/>
                </a:solidFill>
              </a:rPr>
              <a:t>6- Modification d'une innovation incrémentale</a:t>
            </a:r>
          </a:p>
        </p:txBody>
      </p:sp>
      <p:sp>
        <p:nvSpPr>
          <p:cNvPr id="3" name="Espace réservé du contenu 2"/>
          <p:cNvSpPr>
            <a:spLocks noGrp="1"/>
          </p:cNvSpPr>
          <p:nvPr>
            <p:ph idx="4294967295"/>
          </p:nvPr>
        </p:nvSpPr>
        <p:spPr>
          <a:xfrm>
            <a:off x="457200" y="3501008"/>
            <a:ext cx="7239000" cy="2954728"/>
          </a:xfrm>
          <a:prstGeom prst="rect">
            <a:avLst/>
          </a:prstGeom>
        </p:spPr>
        <p:txBody>
          <a:bodyPr/>
          <a:lstStyle/>
          <a:p>
            <a:pPr marL="0" indent="0">
              <a:buNone/>
            </a:pPr>
            <a:r>
              <a:rPr lang="fr-FR" dirty="0"/>
              <a:t>Un hypermarché propose la livraison à domicile</a:t>
            </a:r>
          </a:p>
          <a:p>
            <a:pPr marL="0" indent="0">
              <a:buNone/>
            </a:pPr>
            <a:endParaRPr lang="fr-FR" dirty="0"/>
          </a:p>
          <a:p>
            <a:pPr marL="0" indent="0">
              <a:buNone/>
            </a:pPr>
            <a:endParaRPr lang="fr-FR" dirty="0"/>
          </a:p>
          <a:p>
            <a:pPr marL="0" indent="0">
              <a:buNone/>
            </a:pPr>
            <a:r>
              <a:rPr lang="fr-FR" dirty="0"/>
              <a:t>Un autre hypermarché propose la livraison sur un point relais </a:t>
            </a:r>
          </a:p>
          <a:p>
            <a:endParaRPr lang="fr-FR" dirty="0"/>
          </a:p>
        </p:txBody>
      </p:sp>
      <p:sp>
        <p:nvSpPr>
          <p:cNvPr id="4" name="Rectangle à coins arrondis 3"/>
          <p:cNvSpPr/>
          <p:nvPr/>
        </p:nvSpPr>
        <p:spPr>
          <a:xfrm>
            <a:off x="467544" y="1700808"/>
            <a:ext cx="7272808" cy="13681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prstClr val="white"/>
                </a:solidFill>
                <a:latin typeface="Arial"/>
              </a:rPr>
              <a:t>« </a:t>
            </a:r>
            <a:r>
              <a:rPr lang="fr-FR" b="1" dirty="0">
                <a:solidFill>
                  <a:prstClr val="white"/>
                </a:solidFill>
              </a:rPr>
              <a:t>Adoption d'une innovation incrémentale avec des</a:t>
            </a:r>
          </a:p>
          <a:p>
            <a:pPr algn="ctr"/>
            <a:r>
              <a:rPr lang="fr-FR" b="1" dirty="0">
                <a:solidFill>
                  <a:prstClr val="white"/>
                </a:solidFill>
              </a:rPr>
              <a:t>modifications, plus ou moins importantes </a:t>
            </a:r>
            <a:r>
              <a:rPr lang="fr-FR" b="1" dirty="0">
                <a:solidFill>
                  <a:prstClr val="white"/>
                </a:solidFill>
                <a:latin typeface="Arial"/>
              </a:rPr>
              <a:t>»</a:t>
            </a:r>
            <a:endParaRPr lang="fr-FR" b="1" dirty="0">
              <a:solidFill>
                <a:prstClr val="white"/>
              </a:solidFill>
            </a:endParaRPr>
          </a:p>
        </p:txBody>
      </p:sp>
      <p:sp>
        <p:nvSpPr>
          <p:cNvPr id="5" name="Flèche vers le bas 4"/>
          <p:cNvSpPr/>
          <p:nvPr/>
        </p:nvSpPr>
        <p:spPr>
          <a:xfrm>
            <a:off x="3815916" y="4104787"/>
            <a:ext cx="576064" cy="64807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9040942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3"/>
          </p:nvPr>
        </p:nvSpPr>
        <p:spPr/>
        <p:txBody>
          <a:bodyPr/>
          <a:lstStyle/>
          <a:p>
            <a:endParaRPr lang="fr-F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248486"/>
            <a:ext cx="8352928" cy="6348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79873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 PROCESSUS D’INNOVATION </a:t>
            </a:r>
            <a:endParaRPr lang="fr-FR" dirty="0"/>
          </a:p>
        </p:txBody>
      </p:sp>
      <p:graphicFrame>
        <p:nvGraphicFramePr>
          <p:cNvPr id="4" name="Espace réservé du contenu 3"/>
          <p:cNvGraphicFramePr>
            <a:graphicFrameLocks noGrp="1"/>
          </p:cNvGraphicFramePr>
          <p:nvPr>
            <p:ph sz="quarter" idx="13"/>
            <p:extLst>
              <p:ext uri="{D42A27DB-BD31-4B8C-83A1-F6EECF244321}">
                <p14:modId xmlns:p14="http://schemas.microsoft.com/office/powerpoint/2010/main" val="941278151"/>
              </p:ext>
            </p:extLst>
          </p:nvPr>
        </p:nvGraphicFramePr>
        <p:xfrm>
          <a:off x="609600" y="1600200"/>
          <a:ext cx="7924800" cy="2661920"/>
        </p:xfrm>
        <a:graphic>
          <a:graphicData uri="http://schemas.openxmlformats.org/drawingml/2006/table">
            <a:tbl>
              <a:tblPr firstRow="1" bandRow="1">
                <a:tableStyleId>{5C22544A-7EE6-4342-B048-85BDC9FD1C3A}</a:tableStyleId>
              </a:tblPr>
              <a:tblGrid>
                <a:gridCol w="2641600"/>
                <a:gridCol w="2641600"/>
                <a:gridCol w="2641600"/>
              </a:tblGrid>
              <a:tr h="370840">
                <a:tc>
                  <a:txBody>
                    <a:bodyPr/>
                    <a:lstStyle/>
                    <a:p>
                      <a:r>
                        <a:rPr lang="fr-FR" dirty="0" smtClean="0"/>
                        <a:t>Étape </a:t>
                      </a:r>
                      <a:endParaRPr lang="fr-FR" dirty="0"/>
                    </a:p>
                  </a:txBody>
                  <a:tcPr/>
                </a:tc>
                <a:tc>
                  <a:txBody>
                    <a:bodyPr/>
                    <a:lstStyle/>
                    <a:p>
                      <a:r>
                        <a:rPr lang="fr-FR" dirty="0" smtClean="0"/>
                        <a:t>Description </a:t>
                      </a:r>
                      <a:endParaRPr lang="fr-FR" dirty="0"/>
                    </a:p>
                  </a:txBody>
                  <a:tcPr/>
                </a:tc>
                <a:tc>
                  <a:txBody>
                    <a:bodyPr/>
                    <a:lstStyle/>
                    <a:p>
                      <a:r>
                        <a:rPr lang="fr-FR" dirty="0" smtClean="0"/>
                        <a:t>exemple</a:t>
                      </a:r>
                      <a:endParaRPr lang="fr-FR" dirty="0"/>
                    </a:p>
                  </a:txBody>
                  <a:tcPr/>
                </a:tc>
              </a:tr>
              <a:tr h="370840">
                <a:tc>
                  <a:txBody>
                    <a:bodyPr/>
                    <a:lstStyle/>
                    <a:p>
                      <a:r>
                        <a:rPr lang="fr-FR" dirty="0" smtClean="0"/>
                        <a:t>Inspiration </a:t>
                      </a:r>
                      <a:endParaRPr lang="fr-FR" dirty="0"/>
                    </a:p>
                  </a:txBody>
                  <a:tcPr/>
                </a:tc>
                <a:tc>
                  <a:txBody>
                    <a:bodyPr/>
                    <a:lstStyle/>
                    <a:p>
                      <a:r>
                        <a:rPr lang="fr-FR" dirty="0" smtClean="0"/>
                        <a:t>Observation</a:t>
                      </a:r>
                      <a:r>
                        <a:rPr lang="fr-FR" baseline="0" dirty="0" smtClean="0"/>
                        <a:t> d’un besoin ou problème</a:t>
                      </a:r>
                      <a:endParaRPr lang="fr-FR" dirty="0"/>
                    </a:p>
                  </a:txBody>
                  <a:tcPr/>
                </a:tc>
                <a:tc>
                  <a:txBody>
                    <a:bodyPr/>
                    <a:lstStyle/>
                    <a:p>
                      <a:r>
                        <a:rPr lang="fr-FR" dirty="0" smtClean="0"/>
                        <a:t>Manque</a:t>
                      </a:r>
                      <a:r>
                        <a:rPr lang="fr-FR" baseline="0" dirty="0" smtClean="0"/>
                        <a:t> de suivi médical à distance</a:t>
                      </a:r>
                      <a:endParaRPr lang="fr-FR" dirty="0"/>
                    </a:p>
                  </a:txBody>
                  <a:tcPr/>
                </a:tc>
              </a:tr>
              <a:tr h="370840">
                <a:tc>
                  <a:txBody>
                    <a:bodyPr/>
                    <a:lstStyle/>
                    <a:p>
                      <a:r>
                        <a:rPr lang="fr-FR" dirty="0" smtClean="0"/>
                        <a:t>Idéation </a:t>
                      </a:r>
                    </a:p>
                  </a:txBody>
                  <a:tcPr/>
                </a:tc>
                <a:tc>
                  <a:txBody>
                    <a:bodyPr/>
                    <a:lstStyle/>
                    <a:p>
                      <a:r>
                        <a:rPr lang="fr-FR" dirty="0" smtClean="0"/>
                        <a:t>Recherche de</a:t>
                      </a:r>
                      <a:r>
                        <a:rPr lang="fr-FR" baseline="0" dirty="0" smtClean="0"/>
                        <a:t> solutions possibles</a:t>
                      </a:r>
                      <a:endParaRPr lang="fr-FR" dirty="0"/>
                    </a:p>
                  </a:txBody>
                  <a:tcPr/>
                </a:tc>
                <a:tc>
                  <a:txBody>
                    <a:bodyPr/>
                    <a:lstStyle/>
                    <a:p>
                      <a:r>
                        <a:rPr lang="fr-FR" dirty="0" smtClean="0"/>
                        <a:t>Application mobile santé</a:t>
                      </a:r>
                      <a:endParaRPr lang="fr-FR" dirty="0"/>
                    </a:p>
                  </a:txBody>
                  <a:tcPr/>
                </a:tc>
              </a:tr>
              <a:tr h="370840">
                <a:tc>
                  <a:txBody>
                    <a:bodyPr/>
                    <a:lstStyle/>
                    <a:p>
                      <a:r>
                        <a:rPr lang="fr-FR" dirty="0" smtClean="0"/>
                        <a:t>Implémentation </a:t>
                      </a:r>
                      <a:endParaRPr lang="fr-FR" dirty="0"/>
                    </a:p>
                  </a:txBody>
                  <a:tcPr/>
                </a:tc>
                <a:tc>
                  <a:txBody>
                    <a:bodyPr/>
                    <a:lstStyle/>
                    <a:p>
                      <a:r>
                        <a:rPr lang="fr-FR" dirty="0" smtClean="0"/>
                        <a:t>Développement du prototype</a:t>
                      </a:r>
                      <a:endParaRPr lang="fr-FR" dirty="0"/>
                    </a:p>
                  </a:txBody>
                  <a:tcPr/>
                </a:tc>
                <a:tc>
                  <a:txBody>
                    <a:bodyPr/>
                    <a:lstStyle/>
                    <a:p>
                      <a:r>
                        <a:rPr lang="fr-FR" dirty="0" smtClean="0"/>
                        <a:t>Création de l’application</a:t>
                      </a:r>
                      <a:r>
                        <a:rPr lang="fr-FR" baseline="0" dirty="0" smtClean="0"/>
                        <a:t> </a:t>
                      </a:r>
                      <a:endParaRPr lang="fr-FR" dirty="0"/>
                    </a:p>
                  </a:txBody>
                  <a:tcPr/>
                </a:tc>
              </a:tr>
              <a:tr h="370840">
                <a:tc>
                  <a:txBody>
                    <a:bodyPr/>
                    <a:lstStyle/>
                    <a:p>
                      <a:r>
                        <a:rPr lang="fr-FR" dirty="0" smtClean="0"/>
                        <a:t>Diffusion </a:t>
                      </a:r>
                      <a:endParaRPr lang="fr-FR" dirty="0"/>
                    </a:p>
                  </a:txBody>
                  <a:tcPr/>
                </a:tc>
                <a:tc>
                  <a:txBody>
                    <a:bodyPr/>
                    <a:lstStyle/>
                    <a:p>
                      <a:r>
                        <a:rPr lang="fr-FR" dirty="0" smtClean="0"/>
                        <a:t>Mise</a:t>
                      </a:r>
                      <a:r>
                        <a:rPr lang="fr-FR" baseline="0" dirty="0" smtClean="0"/>
                        <a:t> sur le marché et adoption </a:t>
                      </a:r>
                      <a:endParaRPr lang="fr-FR" dirty="0"/>
                    </a:p>
                  </a:txBody>
                  <a:tcPr/>
                </a:tc>
                <a:tc>
                  <a:txBody>
                    <a:bodyPr/>
                    <a:lstStyle/>
                    <a:p>
                      <a:r>
                        <a:rPr lang="fr-FR" dirty="0" smtClean="0"/>
                        <a:t>Téléconsultation </a:t>
                      </a:r>
                      <a:r>
                        <a:rPr lang="fr-FR" dirty="0" err="1" smtClean="0"/>
                        <a:t>dénéralisée</a:t>
                      </a:r>
                      <a:endParaRPr lang="fr-FR" dirty="0"/>
                    </a:p>
                  </a:txBody>
                  <a:tcPr/>
                </a:tc>
              </a:tr>
            </a:tbl>
          </a:graphicData>
        </a:graphic>
      </p:graphicFrame>
    </p:spTree>
    <p:extLst>
      <p:ext uri="{BB962C8B-B14F-4D97-AF65-F5344CB8AC3E}">
        <p14:creationId xmlns:p14="http://schemas.microsoft.com/office/powerpoint/2010/main" val="3620169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Création de valeur </a:t>
            </a:r>
            <a:endParaRPr lang="fr-FR" dirty="0"/>
          </a:p>
        </p:txBody>
      </p:sp>
      <p:sp>
        <p:nvSpPr>
          <p:cNvPr id="3" name="Espace réservé du contenu 2"/>
          <p:cNvSpPr>
            <a:spLocks noGrp="1"/>
          </p:cNvSpPr>
          <p:nvPr>
            <p:ph sz="quarter" idx="13"/>
          </p:nvPr>
        </p:nvSpPr>
        <p:spPr>
          <a:xfrm>
            <a:off x="467544" y="2132856"/>
            <a:ext cx="7924800" cy="4114800"/>
          </a:xfrm>
        </p:spPr>
        <p:txBody>
          <a:bodyPr>
            <a:normAutofit/>
          </a:bodyPr>
          <a:lstStyle/>
          <a:p>
            <a:r>
              <a:rPr lang="fr-FR" sz="2000" dirty="0" smtClean="0"/>
              <a:t>Créer de la valeur, c’est proposer un produit ou un service qui améliore la vie des utilisateurs plus qu’il ne coûte à produire.</a:t>
            </a:r>
          </a:p>
          <a:p>
            <a:pPr marL="0" indent="0">
              <a:buNone/>
            </a:pPr>
            <a:r>
              <a:rPr lang="fr-FR" sz="2000" dirty="0" smtClean="0"/>
              <a:t>La valeur peut être </a:t>
            </a:r>
          </a:p>
          <a:p>
            <a:r>
              <a:rPr lang="fr-FR" sz="2000" dirty="0" smtClean="0"/>
              <a:t>Économique: rentabilité, chiffre d’affaires</a:t>
            </a:r>
          </a:p>
          <a:p>
            <a:r>
              <a:rPr lang="fr-FR" sz="2000" dirty="0" smtClean="0"/>
              <a:t>Sociale: impact sur la société, inclusion </a:t>
            </a:r>
          </a:p>
          <a:p>
            <a:r>
              <a:rPr lang="fr-FR" sz="2000" dirty="0" smtClean="0"/>
              <a:t>Environnementale: réduction de pollution, recyclage</a:t>
            </a:r>
            <a:endParaRPr lang="fr-FR" sz="2000" dirty="0"/>
          </a:p>
          <a:p>
            <a:endParaRPr lang="fr-FR" sz="2000" dirty="0" smtClean="0"/>
          </a:p>
          <a:p>
            <a:endParaRPr lang="fr-FR" sz="2000" dirty="0"/>
          </a:p>
        </p:txBody>
      </p:sp>
    </p:spTree>
    <p:extLst>
      <p:ext uri="{BB962C8B-B14F-4D97-AF65-F5344CB8AC3E}">
        <p14:creationId xmlns:p14="http://schemas.microsoft.com/office/powerpoint/2010/main" val="2485246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Imag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88" y="1117226"/>
            <a:ext cx="9052812" cy="5740774"/>
          </a:xfrm>
          <a:prstGeom prst="rect">
            <a:avLst/>
          </a:prstGeom>
        </p:spPr>
      </p:pic>
      <p:sp>
        <p:nvSpPr>
          <p:cNvPr id="3" name="Rectangle 2"/>
          <p:cNvSpPr/>
          <p:nvPr/>
        </p:nvSpPr>
        <p:spPr>
          <a:xfrm>
            <a:off x="539552" y="260648"/>
            <a:ext cx="8208912" cy="677108"/>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fr-FR" sz="3800" b="1" i="0" u="none" strike="noStrike" kern="0" cap="all" spc="0" normalizeH="0" baseline="0" noProof="0" dirty="0">
                <a:ln w="500">
                  <a:solidFill>
                    <a:srgbClr val="B13F9A">
                      <a:shade val="20000"/>
                      <a:satMod val="120000"/>
                    </a:srgbClr>
                  </a:solidFill>
                </a:ln>
                <a:gradFill>
                  <a:gsLst>
                    <a:gs pos="0">
                      <a:srgbClr val="F9B639">
                        <a:tint val="13000"/>
                      </a:srgbClr>
                    </a:gs>
                    <a:gs pos="10000">
                      <a:srgbClr val="F9B639">
                        <a:tint val="20000"/>
                      </a:srgbClr>
                    </a:gs>
                    <a:gs pos="49000">
                      <a:srgbClr val="F9B639">
                        <a:tint val="70000"/>
                      </a:srgbClr>
                    </a:gs>
                    <a:gs pos="50000">
                      <a:srgbClr val="F9B639">
                        <a:tint val="97000"/>
                      </a:srgbClr>
                    </a:gs>
                    <a:gs pos="100000">
                      <a:srgbClr val="F9B639">
                        <a:tint val="20000"/>
                      </a:srgbClr>
                    </a:gs>
                  </a:gsLst>
                  <a:lin ang="5400000" scaled="1"/>
                </a:gradFill>
                <a:effectLst/>
                <a:uLnTx/>
                <a:uFillTx/>
                <a:latin typeface="Trebuchet MS"/>
                <a:ea typeface="+mj-ea"/>
                <a:cs typeface="+mj-cs"/>
              </a:rPr>
              <a:t>L’idéation </a:t>
            </a:r>
            <a:r>
              <a:rPr kumimoji="0" lang="fr-FR" sz="3800" b="1" i="0" u="none" strike="noStrike" kern="0" cap="all" spc="0" normalizeH="0" baseline="0" noProof="0" dirty="0">
                <a:ln w="500">
                  <a:solidFill>
                    <a:srgbClr val="B13F9A">
                      <a:shade val="20000"/>
                      <a:satMod val="120000"/>
                    </a:srgbClr>
                  </a:solidFill>
                </a:ln>
                <a:gradFill>
                  <a:gsLst>
                    <a:gs pos="0">
                      <a:srgbClr val="F9B639">
                        <a:tint val="13000"/>
                      </a:srgbClr>
                    </a:gs>
                    <a:gs pos="10000">
                      <a:srgbClr val="F9B639">
                        <a:tint val="20000"/>
                      </a:srgbClr>
                    </a:gs>
                    <a:gs pos="49000">
                      <a:srgbClr val="F9B639">
                        <a:tint val="70000"/>
                      </a:srgbClr>
                    </a:gs>
                    <a:gs pos="50000">
                      <a:srgbClr val="F9B639">
                        <a:tint val="97000"/>
                      </a:srgbClr>
                    </a:gs>
                    <a:gs pos="100000">
                      <a:srgbClr val="F9B639">
                        <a:tint val="20000"/>
                      </a:srgbClr>
                    </a:gs>
                  </a:gsLst>
                  <a:lin ang="5400000" scaled="1"/>
                </a:gradFill>
                <a:effectLst/>
                <a:uLnTx/>
                <a:uFillTx/>
                <a:latin typeface="Trebuchet MS"/>
                <a:ea typeface="+mj-ea"/>
                <a:cs typeface="+mj-cs"/>
                <a:sym typeface="Wingdings" pitchFamily="2" charset="2"/>
              </a:rPr>
              <a:t> le</a:t>
            </a:r>
            <a:r>
              <a:rPr kumimoji="0" lang="fr-FR" sz="3800" b="1" i="0" u="none" strike="noStrike" kern="0" cap="all" spc="0" normalizeH="0" baseline="0" noProof="0" dirty="0">
                <a:ln w="500">
                  <a:solidFill>
                    <a:srgbClr val="B13F9A">
                      <a:shade val="20000"/>
                      <a:satMod val="120000"/>
                    </a:srgbClr>
                  </a:solidFill>
                </a:ln>
                <a:gradFill>
                  <a:gsLst>
                    <a:gs pos="0">
                      <a:srgbClr val="F9B639">
                        <a:tint val="13000"/>
                      </a:srgbClr>
                    </a:gs>
                    <a:gs pos="10000">
                      <a:srgbClr val="F9B639">
                        <a:tint val="20000"/>
                      </a:srgbClr>
                    </a:gs>
                    <a:gs pos="49000">
                      <a:srgbClr val="F9B639">
                        <a:tint val="70000"/>
                      </a:srgbClr>
                    </a:gs>
                    <a:gs pos="50000">
                      <a:srgbClr val="F9B639">
                        <a:tint val="97000"/>
                      </a:srgbClr>
                    </a:gs>
                    <a:gs pos="100000">
                      <a:srgbClr val="F9B639">
                        <a:tint val="20000"/>
                      </a:srgbClr>
                    </a:gs>
                  </a:gsLst>
                  <a:lin ang="5400000" scaled="1"/>
                </a:gradFill>
                <a:effectLst/>
                <a:uLnTx/>
                <a:uFillTx/>
                <a:latin typeface="Trebuchet MS"/>
                <a:ea typeface="+mj-ea"/>
                <a:cs typeface="+mj-cs"/>
              </a:rPr>
              <a:t> DESIGN THINKING </a:t>
            </a:r>
            <a:endParaRPr kumimoji="0" lang="fr-FR" sz="18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40628024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629</TotalTime>
  <Words>485</Words>
  <Application>Microsoft Office PowerPoint</Application>
  <PresentationFormat>Affichage à l'écran (4:3)</PresentationFormat>
  <Paragraphs>140</Paragraphs>
  <Slides>33</Slides>
  <Notes>11</Notes>
  <HiddenSlides>2</HiddenSlides>
  <MMClips>0</MMClips>
  <ScaleCrop>false</ScaleCrop>
  <HeadingPairs>
    <vt:vector size="4" baseType="variant">
      <vt:variant>
        <vt:lpstr>Thème</vt:lpstr>
      </vt:variant>
      <vt:variant>
        <vt:i4>1</vt:i4>
      </vt:variant>
      <vt:variant>
        <vt:lpstr>Titres des diapositives</vt:lpstr>
      </vt:variant>
      <vt:variant>
        <vt:i4>33</vt:i4>
      </vt:variant>
    </vt:vector>
  </HeadingPairs>
  <TitlesOfParts>
    <vt:vector size="34" baseType="lpstr">
      <vt:lpstr>Horizon</vt:lpstr>
      <vt:lpstr>ENTREPRENEURIAT</vt:lpstr>
      <vt:lpstr>Présentation PowerPoint</vt:lpstr>
      <vt:lpstr>Présentation PowerPoint</vt:lpstr>
      <vt:lpstr>Innovation Vs Invention </vt:lpstr>
      <vt:lpstr>FONDEMENTS DE L’INNOVATION  la pensée shumpétrienne</vt:lpstr>
      <vt:lpstr>Formes d’innovation </vt:lpstr>
      <vt:lpstr>Innovation produit</vt:lpstr>
      <vt:lpstr>Innovation service</vt:lpstr>
      <vt:lpstr>Innovation de procédé</vt:lpstr>
      <vt:lpstr>Innovation marketing</vt:lpstr>
      <vt:lpstr>Innovation marketing</vt:lpstr>
      <vt:lpstr>Innovation organisationnelle</vt:lpstr>
      <vt:lpstr>Innovation organisationnelle</vt:lpstr>
      <vt:lpstr>Les formes d’innovation </vt:lpstr>
      <vt:lpstr>Présentation PowerPoint</vt:lpstr>
      <vt:lpstr>Présentation PowerPoint</vt:lpstr>
      <vt:lpstr>Présentation PowerPoint</vt:lpstr>
      <vt:lpstr>1- L’innovation de rupture </vt:lpstr>
      <vt:lpstr>Suite : innovation de rupture</vt:lpstr>
      <vt:lpstr>Suite : innovation de rupture</vt:lpstr>
      <vt:lpstr>2- L’imitation d’une innovation de rupture </vt:lpstr>
      <vt:lpstr>Présentation PowerPoint</vt:lpstr>
      <vt:lpstr>LE pionnier  Vs  suiveur </vt:lpstr>
      <vt:lpstr>3- Modification d’une innovation de rupture </vt:lpstr>
      <vt:lpstr>4- Innovation incrémentale </vt:lpstr>
      <vt:lpstr>4- Innovation incrémentale </vt:lpstr>
      <vt:lpstr>Présentation PowerPoint</vt:lpstr>
      <vt:lpstr>5- Imitation d'une innovation incrémentale</vt:lpstr>
      <vt:lpstr>6- Modification d'une innovation incrémentale</vt:lpstr>
      <vt:lpstr>Présentation PowerPoint</vt:lpstr>
      <vt:lpstr>LE PROCESSUS D’INNOVATION </vt:lpstr>
      <vt:lpstr>Création de valeur </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ENTREPRENEURIAT</dc:title>
  <dc:creator>sol</dc:creator>
  <cp:lastModifiedBy>sol</cp:lastModifiedBy>
  <cp:revision>18</cp:revision>
  <dcterms:created xsi:type="dcterms:W3CDTF">2025-11-19T10:20:59Z</dcterms:created>
  <dcterms:modified xsi:type="dcterms:W3CDTF">2025-11-19T21:03:34Z</dcterms:modified>
</cp:coreProperties>
</file>